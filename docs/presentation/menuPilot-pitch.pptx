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عرض (5 دقائق)" id="{3b87b6df-5d88-fd13-34b7-ce071822e53d}">
          <p14:sldIdLst>
            <p14:sldId id="256"/>
            <p14:sldId id="257"/>
            <p14:sldId id="258"/>
            <p14:sldId id="259"/>
            <p14:sldId id="260"/>
            <p14:sldId id="261"/>
            <p14:sldId id="262"/>
            <p14:sldId id="263"/>
            <p14:sldId id="264"/>
            <p14:sldId id="265"/>
          </p14:sldIdLst>
        </p14:section>
        <p14:section name="شرائح احتياطية" id="{a24bb29f-5953-c181-92c8-936a604b3b8a}">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ثوانٍ — الفريق كله على المسرح، واحد بيحكي.
«السلام عليكم، إحنا فريق menuPilot.»
وانتقل فورًا للسؤال في الشريحة الجاية — لا تشرح المنتج هون، المشكلة لازم تيجي قبل الحل.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ثانية — اسأل وانتظر ثانيتين قبل ما تكمل. عينك على اللجنة، مش على الشاشة.
«خلّوني أسألكم: آخر مرة كنتوا في مطعم ورفعتوا إيدكم للنادل… كم دقيقة استنيتوا؟»
(وقفة)
«استطلاع على أكثر من ألف زبون لقى إن 42% منهم بيستنّوا حوالي 10 دقائق بس ليوصلهم المشروب… ومتوسط انتظار الفاتورة 10 دقائق كمان. والانتظار هذا أول حلقة بس.»
لو انسألتوا: الاستطلاع أمريكي (Union، 2023) — الأرقام المحلية من زياراتكم للمطاعم أقوى، جيبوها إذا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ثانية — هاي أهم شريحة: بدنا اللجنة تحس بالمعاناة، مش بس تعرف إنها موجودة.
«والانتظار مش آخر المشكلة. الزبون اللي بيستنى كثير: 22% بيقوموا وبيطلعوا من المكان، و38% بيقللوا البقشيش.
جوّا المطبخ: الطلب مكتوب بخط اليد على ورقة، أي تعديل بيوصل بالصوت، وما حدا — لا الزبون ولا صاحب المطعم — بيعرف الطلب وين وصل.
وفي غزة تحديدًا: في أكتوبر 2023 انقطعت الاتصالات بشكل كامل 36 ساعة، وأي نظام بيعتمد على النت بيوقف معها.
النتيجة؟ فوضى.»
💡 إذا زرتوا مطاعم أو سألتوا أصحابها، هون مكان الجملة الأقوى في العرض كله: «زرنا X مطاعم في غزة، و Y منهم قالوا…». الدليل من أرض الواقع أقوى من أي استطلاع.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كل بطاقة هون بتجاوب على بطاقة من شريحة المشكلة، بنفس الترتيب.
«فإحنا حوّلنا الفوضى لنظام.
الزبون بيمسح QR الطاولة وبيطلب من جواله — بدون تطبيق وبدون ما يستنى نادل — وبيتابع طلبه لحظة بلحظة.
الطلب بيوصل مباشرة لشاشة المطبخ، مرتّب حسب الوقت، وكل الفريق بيشوف حالته.
ولو انقطع النت، المطبخ والكاشير بكمّلوا شغلهم، وكل تغيير بيتزامن لحاله أول ما يرجع الاتصال.»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ثانية — الهدف: إثبات إننا أنجزنا فعلًا.
«وهذا مش كلام على ورق. هاي شاشة المطبخ الحقيقية، وهاي منيو الزبون على الجوال.
عنا 5 أدوار، كل واحد إله شاشته: الزبون، المطبخ، النادل، الكاشير، والمالك.
الخادم فيه أكثر من 110 نقطة API، ومحمي بأكثر من 170 اختبار آلي بيشتغلوا مع كل تعديل. والنظام كامل بلغتين.»
لو في وقت (وما في غالبًا): «وفي مطعم تجريبي حي بتقدروا تجربوه بدون تسجيل.» — وإذا بدكم رمز QR للموقع على الشريحة، ضيفوا الرابط المنشور.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كل رقم هون إله مصدر، واحفظوا المصدر غيب.
«طيب هل في سوق؟ حسب الإحصاء الفلسطيني ووزارة السياحة، 3,450 منشأة مطاعم ومقاهي في غزة دُمّرت. وكل مطعم بيرجع يفتح، بيرجع من الصفر — وهاي أنسب لحظة يبدأ بنظام بدل الورقة.
لو اشتركت كل هالمطاعم بالباقة الاحترافية، هذا سوق بحدود 1.2 مليون دولار بالسنة، بغزة وحدها.
وعالميًا، سوق برمجيات إدارة المطاعم بينمو حوالي 19% بالسنة لحد 2030.»
انتبهوا: 1.2 مليون هو السقف (كل المطاعم × الاحترافية)، مش توقّع مبيعات. لو انسألتوا عن هدفكم الواقعي، جهّزوا رقمكم (مثلًا أول 1% = 35 مطعمًا).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ثانية
«نموذجنا B2B: المطعم بيدفع اشتراك شهري ثابت، وما بناخد ولا قرش عمولة على أي طلب.
الأساسية بـ15 دولار، الاحترافية بـ29، وللمطابخ اللي بتشتغل توصيل بس 15.
وفي إضافات: التوصيل والطلب أونلاين بـ15، والهوية الكاملة بـ5. وأول 14 يوم مجانًا.
ليش المطعم رح يدفع؟ لأن 15 دولار بالشهر يعني 50 سنت باليوم — أقل من ثمن طلب واحد ضاع.»
السؤال الأهم مش «رح تستعمله؟» — هو «رح تدفع؟». إذا عندكم مطعم قال «بدفع»، احكوها هون.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«ما في منافسين» جملة قاتلة. البدائل موجودة، وإحنا دارسينها.
«أكيد في بدائل. أولها الورقة والنادل — مجانية وما بتحتاج نت، بس بطيئة.
في منيوهات QR للعرض بس: الزبون بيشوف المنيو وبعدين بينادي النادل.
في أنظمة كاشير زي Foodics وLoyverse — قوية، بس الطلب من الطاولة عندهم إضافة أو تكامل خارجي، والسعر مش دايمًا لمطعم صغير.
وتطبيقات التوصيل بتاخد 15 لـ30% عمولة من كل طلب.
ميزتنا إنا الوحيدين اللي بنجمع الثلاثة: من الطاولة للمطبخ مباشرة، بيكمل والنت مقطوع، وبسعر صغير بلا عمولة.»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ثانية — قدّم كل واحد بنظرة له، مش للشاشة.
«إحنا خمسة: أحمد قائد الفريق، علي وعمار على الخادم، وسجى ورنين على الواجهات.
كل سطر في النظام كتبناه بإيدينا — وكل واحد فينا جاهز يجاوب عن جزئه.»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ثوانٍ — ارجع لسؤال البداية، وخلّص بابتسامة.
«فالمرة الجاية اللي بترفعوا فيها إيدكم في مطعم… إن شاء الله ما رح تضطروا تستنوا. شكرًا إلكم، وبنتشرّف بأسئلتكم.»
بعدها: الأسئلة. اللي بيعرف الجواب هو اللي بيرد، وإذا ما حدا بيعرف: «سؤال مهم، منرجعلكم فيه» — ولا تخترعوا جواب.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ما بنعرض هاي الشرائح إلا إذا انسألنا سؤال إلها. افتحوها مباشرة من رقمها (اكتب الرقم + Enter في وضع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«شو التقنيات؟ كيف بتوصل التحديثات لحظيًا؟ كيف بتختبروا؟»
- التحديث اللحظي: بعد أي تغيير ناجح، الخادم بيبعث إشارة صغيرة بلا بيانات («الطلبات تغيّرت») عبر Laravel Reverb، وكل شاشة بتجيب البيانات من الـAPI بصلاحياتها. لو انقطع الاتصال اللحظي، الشاشات بترجع تتحدّث كل كم ثانية.
- الجودة: أكثر من 170 اختبار آلي، وسكربت smoke-test بيفحص الإنتاج بـ30 فحص بعد كل نشر.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«شو بصير لو انقطع النت؟» — وغالبًا رح ينسأل في غزة.
- كونوا صريحين: طلبات الزبائن الجديدة بتستنى رجوع الاتصال، لأن المطبخ ما بيقدر يستلم إشي ما وصل الخادم.
- بس اللي داخل المطعم بيكمل: المطبخ بيغيّر الحالات، والكاشير بيسجّل الدفعات، وكل إشي بيتزامن لحاله.
- مفتاح Idempotency: الخادم بيرجع نفس الجواب لنفس المفتاح بدل ما ينفّذ مرتين.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«كيف بتمنعوا الطلبات الوهمية/المزح؟ مين بيشوف شو؟ البيانات آمنة؟»
- الطلب من الطاولة محمي بمفتاح جلسة + تحقق إن الجوال داخل 200 متر من المطعم.
- رابط استعادة كلمة المرور بيوصل بالبريد بس، صالح 60 دقيقة.
- الزبون بيعطي اسمه ورقم جواله بس عند إرسال الطلب.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«كم السعر بالتفصيل؟ شو بصير لما تخلص التجربة؟»
- بعد انتهاء التجربة أو الاشتراك: 3 أيام مهلة، بعدها وضع مقيّد — المطعم بيقدر يقرأ بياناته وتقاريره ويصدّرها، بس ما بيفتح جلسات أو طلبات جديدة.
- الأسعار بالدولار وبتنضبط من إعدادات الخادم.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«كيف رح توصلوا لأول عملاء؟ عندكم خطة توسّع؟»
- القمع: ديمو بدون تسجيل ← تجربة 14 يوم ← اشتراك.
- عدّلوا «أول هدف» حسب خطتكم الحقيقية (مين أول 5 مطاعم رح تزوروها؟). لو ما في خطة مكتوبة: «منرجعلكم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«من وين هالرقم؟» — افتحوا هاي الشريحة وأشّروا على المصدر. الروابط الكاملة في docs/presentation/PREP.md.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menuPilot">    </p:cNvPr>
          <p:cNvPicPr>
            <a:picLocks noChangeAspect="1"/>
          </p:cNvPicPr>
          <p:nvPr/>
        </p:nvPicPr>
        <p:blipFill>
          <a:blip r:embed="rId1"/>
          <a:stretch>
            <a:fillRect/>
          </a:stretch>
        </p:blipFill>
        <p:spPr>
          <a:xfrm>
            <a:off x="548640" y="6400800"/>
            <a:ext cx="785813" cy="228600"/>
          </a:xfrm>
          <a:prstGeom prst="rect">
            <a:avLst/>
          </a:prstGeom>
        </p:spPr>
      </p:pic>
      <p:sp>
        <p:nvSpPr>
          <p:cNvPr id="3" name="Text 0"/>
          <p:cNvSpPr/>
          <p:nvPr>
            <p:ph idx="101" type="body" hasCustomPrompt="1"/>
          </p:nvPr>
        </p:nvSpPr>
        <p:spPr>
          <a:xfrm>
            <a:off x="548640" y="384048"/>
            <a:ext cx="11094415" cy="347472"/>
          </a:xfrm>
          <a:prstGeom prst="rect">
            <a:avLst/>
          </a:prstGeom>
          <a:noFill/>
          <a:ln/>
        </p:spPr>
        <p:txBody>
          <a:bodyPr wrap="square" rtlCol="0"/>
          <a:lstStyle>
            <a:lvl1pPr rtl="1" algn="r" indent="0" marL="0">
              <a:buNone/>
              <a:defRPr lang="en-US" sz="1600" b="1" dirty="0">
                <a:solidFill>
                  <a:schemeClr val="accent3"/>
                </a:solidFill>
              </a:defRPr>
            </a:lvl1pPr>
          </a:lstStyle>
          <a:p>
            <a:pPr algn="r" indent="0" marL="0">
              <a:buNone/>
            </a:pPr>
            <a:endParaRPr lang="en-US" sz="1600" dirty="0"/>
          </a:p>
        </p:txBody>
      </p:sp>
      <p:sp>
        <p:nvSpPr>
          <p:cNvPr id="4" name="Text 0"/>
          <p:cNvSpPr/>
          <p:nvPr>
            <p:ph idx="102" type="title" hasCustomPrompt="1"/>
          </p:nvPr>
        </p:nvSpPr>
        <p:spPr>
          <a:xfrm>
            <a:off x="548640" y="749808"/>
            <a:ext cx="11094415" cy="749808"/>
          </a:xfrm>
          <a:prstGeom prst="rect">
            <a:avLst/>
          </a:prstGeom>
          <a:noFill/>
          <a:ln/>
        </p:spPr>
        <p:txBody>
          <a:bodyPr wrap="square" rtlCol="0"/>
          <a:lstStyle>
            <a:lvl1pPr rtl="1" algn="r" indent="0" marL="0">
              <a:buNone/>
              <a:defRPr lang="en-US" sz="3600" dirty="0">
                <a:solidFill>
                  <a:schemeClr val="tx1"/>
                </a:solidFill>
              </a:defRPr>
            </a:lvl1pPr>
          </a:lstStyle>
          <a:p>
            <a:pPr algn="r" indent="0" marL="0">
              <a:buNone/>
            </a:pPr>
            <a:endParaRPr lang="en-US" sz="3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rtlCol="0"/>
          <a:lstStyle>
            <a:lvl1pPr rtl="1" algn="r" indent="0" marL="0">
              <a:buNone/>
              <a:defRPr lang="en-US" sz="2000" b="1" dirty="0">
                <a:solidFill>
                  <a:schemeClr val="accent1"/>
                </a:solidFill>
              </a:defRPr>
            </a:lvl1pPr>
          </a:lstStyle>
          <a:p>
            <a:pPr algn="r" indent="0" marL="0">
              <a:buNone/>
            </a:pPr>
            <a:endParaRPr lang="en-US" sz="2000" dirty="0"/>
          </a:p>
        </p:txBody>
      </p:sp>
      <p:sp>
        <p:nvSpPr>
          <p:cNvPr id="3" name="Text 0"/>
          <p:cNvSpPr/>
          <p:nvPr>
            <p:ph idx="101" type="title" hasCustomPrompt="1"/>
          </p:nvPr>
        </p:nvSpPr>
        <p:spPr>
          <a:xfrm>
            <a:off x="5486400" y="2240280"/>
            <a:ext cx="6156655" cy="2194560"/>
          </a:xfrm>
          <a:prstGeom prst="rect">
            <a:avLst/>
          </a:prstGeom>
          <a:noFill/>
          <a:ln/>
        </p:spPr>
        <p:txBody>
          <a:bodyPr wrap="square" rtlCol="0"/>
          <a:lstStyle>
            <a:lvl1pPr rtl="1" algn="r" indent="0" marL="0">
              <a:buNone/>
              <a:defRPr lang="en-US" sz="4600" dirty="0">
                <a:solidFill>
                  <a:schemeClr val="bg2"/>
                </a:solidFill>
              </a:defRPr>
            </a:lvl1pPr>
          </a:lstStyle>
          <a:p>
            <a:pPr algn="r" indent="0" marL="0">
              <a:buNone/>
            </a:pPr>
            <a:endParaRPr lang="en-US" sz="4600" dirty="0"/>
          </a:p>
        </p:txBody>
      </p:sp>
      <p:sp>
        <p:nvSpPr>
          <p:cNvPr id="4" name="Text 0"/>
          <p:cNvSpPr/>
          <p:nvPr>
            <p:ph idx="102" type="body" hasCustomPrompt="1"/>
          </p:nvPr>
        </p:nvSpPr>
        <p:spPr>
          <a:xfrm>
            <a:off x="5486400" y="4572000"/>
            <a:ext cx="6156655" cy="822960"/>
          </a:xfrm>
          <a:prstGeom prst="rect">
            <a:avLst/>
          </a:prstGeom>
          <a:noFill/>
          <a:ln/>
        </p:spPr>
        <p:txBody>
          <a:bodyPr wrap="square" rtlCol="0"/>
          <a:lstStyle>
            <a:lvl1pPr rtl="1" algn="r" indent="0" marL="0">
              <a:buNone/>
              <a:defRPr lang="en-US" sz="2000" dirty="0">
                <a:solidFill>
                  <a:schemeClr val="bg2"/>
                </a:solidFill>
              </a:defRPr>
            </a:lvl1pPr>
          </a:lstStyle>
          <a:p>
            <a:pPr algn="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0" y="2468880"/>
            <a:ext cx="6156655" cy="411480"/>
          </a:xfrm>
          <a:prstGeom prst="rect">
            <a:avLst/>
          </a:prstGeom>
          <a:noFill/>
          <a:ln/>
        </p:spPr>
        <p:txBody>
          <a:bodyPr wrap="square" rtlCol="0"/>
          <a:lstStyle>
            <a:lvl1pPr rtl="1" algn="r" indent="0" marL="0">
              <a:buNone/>
              <a:defRPr lang="en-US" sz="2000" b="1" dirty="0">
                <a:solidFill>
                  <a:schemeClr val="accent1"/>
                </a:solidFill>
              </a:defRPr>
            </a:lvl1pPr>
          </a:lstStyle>
          <a:p>
            <a:pPr algn="r" indent="0" marL="0">
              <a:buNone/>
            </a:pPr>
            <a:endParaRPr lang="en-US" sz="2000" dirty="0"/>
          </a:p>
        </p:txBody>
      </p:sp>
      <p:sp>
        <p:nvSpPr>
          <p:cNvPr id="3" name="Text 0"/>
          <p:cNvSpPr/>
          <p:nvPr>
            <p:ph idx="101" type="title" hasCustomPrompt="1"/>
          </p:nvPr>
        </p:nvSpPr>
        <p:spPr>
          <a:xfrm>
            <a:off x="5486400" y="2926080"/>
            <a:ext cx="6156655" cy="868680"/>
          </a:xfrm>
          <a:prstGeom prst="rect">
            <a:avLst/>
          </a:prstGeom>
          <a:noFill/>
          <a:ln/>
        </p:spPr>
        <p:txBody>
          <a:bodyPr wrap="square" rtlCol="0"/>
          <a:lstStyle>
            <a:lvl1pPr rtl="1" algn="r" indent="0" marL="0">
              <a:buNone/>
              <a:defRPr lang="en-US" sz="4600" dirty="0">
                <a:solidFill>
                  <a:schemeClr val="bg2"/>
                </a:solidFill>
              </a:defRPr>
            </a:lvl1pPr>
          </a:lstStyle>
          <a:p>
            <a:pPr algn="r" indent="0" marL="0">
              <a:buNone/>
            </a:pPr>
            <a:endParaRPr lang="en-US" sz="4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84048"/>
          </a:xfrm>
          <a:prstGeom prst="rect">
            <a:avLst/>
          </a:prstGeom>
          <a:noFill/>
          <a:ln/>
        </p:spPr>
        <p:txBody>
          <a:bodyPr wrap="square" rtlCol="0"/>
          <a:lstStyle>
            <a:lvl1pPr rtl="1" algn="r" indent="0" marL="0">
              <a:buNone/>
              <a:defRPr lang="en-US" sz="1800" b="1" dirty="0">
                <a:solidFill>
                  <a:schemeClr val="accent1"/>
                </a:solidFill>
              </a:defRPr>
            </a:lvl1pPr>
          </a:lstStyle>
          <a:p>
            <a:pPr algn="r" indent="0" marL="0">
              <a:buNone/>
            </a:pPr>
            <a:endParaRPr lang="en-US" sz="1800" dirty="0"/>
          </a:p>
        </p:txBody>
      </p:sp>
      <p:sp>
        <p:nvSpPr>
          <p:cNvPr id="3" name="Text 0"/>
          <p:cNvSpPr/>
          <p:nvPr>
            <p:ph idx="101" type="title" hasCustomPrompt="1"/>
          </p:nvPr>
        </p:nvSpPr>
        <p:spPr>
          <a:xfrm>
            <a:off x="548640" y="896112"/>
            <a:ext cx="11094415" cy="914400"/>
          </a:xfrm>
          <a:prstGeom prst="rect">
            <a:avLst/>
          </a:prstGeom>
          <a:noFill/>
          <a:ln/>
        </p:spPr>
        <p:txBody>
          <a:bodyPr wrap="square" rtlCol="0"/>
          <a:lstStyle>
            <a:lvl1pPr rtl="1" algn="r" indent="0" marL="0">
              <a:buNone/>
              <a:defRPr lang="en-US" sz="3800" dirty="0">
                <a:solidFill>
                  <a:schemeClr val="bg2"/>
                </a:solidFill>
              </a:defRPr>
            </a:lvl1pPr>
          </a:lstStyle>
          <a:p>
            <a:pPr algn="r"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slideLayout" Target="../slideLayouts/slideLayout2.xml"/><Relationship Id="rId2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2.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نظام تشغيل المطاعم</a:t>
            </a:r>
            <a:endParaRPr lang="ar-SA" sz="2000" dirty="0"/>
          </a:p>
        </p:txBody>
      </p:sp>
      <p:sp>
        <p:nvSpPr>
          <p:cNvPr id="3" name="Text 0"/>
          <p:cNvSpPr/>
          <p:nvPr>
            <p:ph idx="101" type="title" hasCustomPrompt="1"/>
          </p:nvPr>
        </p:nvSpPr>
        <p:spPr>
          <a:xfrm>
            <a:off x="5486400" y="2240280"/>
            <a:ext cx="6156655" cy="2194560"/>
          </a:xfrm>
          <a:prstGeom prst="rect">
            <a:avLst/>
          </a:prstGeom>
          <a:noFill/>
          <a:ln/>
        </p:spPr>
        <p:txBody>
          <a:bodyPr wrap="square" lIns="0" tIns="0" rIns="0" bIns="0" rtlCol="0" anchor="t"/>
          <a:lstStyle/>
          <a:p>
            <a:pPr rtl="1" algn="r" indent="0" marL="0">
              <a:buNone/>
            </a:pPr>
            <a:r>
              <a:rPr lang="ar-SA" altLang="en-US" sz="4600" dirty="0">
                <a:solidFill>
                  <a:schemeClr val="bg2"/>
                </a:solidFill>
              </a:rPr>
              <a:t>من الطاولة إلى المطبخ… بدون فوضى</a:t>
            </a:r>
            <a:endParaRPr lang="ar-SA" sz="4600" dirty="0"/>
          </a:p>
        </p:txBody>
      </p:sp>
      <p:sp>
        <p:nvSpPr>
          <p:cNvPr id="4" name="Text 0"/>
          <p:cNvSpPr/>
          <p:nvPr>
            <p:ph idx="102" type="body" hasCustomPrompt="1"/>
          </p:nvPr>
        </p:nvSpPr>
        <p:spPr>
          <a:xfrm>
            <a:off x="5486400" y="4572000"/>
            <a:ext cx="6156655" cy="82296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فريق menuPilot</a:t>
            </a:r>
            <a:endParaRPr lang="ar-SA" sz="2000" dirty="0"/>
          </a:p>
        </p:txBody>
      </p:sp>
      <p:pic>
        <p:nvPicPr>
          <p:cNvPr id="5" name="logo" descr="شعار menuPilot">    </p:cNvPr>
          <p:cNvPicPr>
            <a:picLocks noChangeAspect="1"/>
          </p:cNvPicPr>
          <p:nvPr/>
        </p:nvPicPr>
        <p:blipFill>
          <a:blip r:embed="rId1"/>
          <a:stretch>
            <a:fillRect/>
          </a:stretch>
        </p:blipFill>
        <p:spPr>
          <a:xfrm>
            <a:off x="914400" y="1600200"/>
            <a:ext cx="3931920" cy="32848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84048"/>
          </a:xfrm>
          <a:prstGeom prst="rect">
            <a:avLst/>
          </a:prstGeom>
          <a:noFill/>
          <a:ln/>
        </p:spPr>
        <p:txBody>
          <a:bodyPr wrap="square" lIns="0" tIns="0" rIns="0" bIns="0" rtlCol="0" anchor="ctr"/>
          <a:lstStyle/>
          <a:p>
            <a:pPr rtl="1" algn="r" indent="0" marL="0">
              <a:buNone/>
            </a:pPr>
            <a:r>
              <a:rPr lang="ar-SA" altLang="en-US" sz="1800" b="1" dirty="0">
                <a:solidFill>
                  <a:schemeClr val="accent1"/>
                </a:solidFill>
              </a:rPr>
              <a:t>سؤال سريع</a:t>
            </a:r>
            <a:endParaRPr lang="ar-SA" sz="1800" dirty="0"/>
          </a:p>
        </p:txBody>
      </p:sp>
      <p:sp>
        <p:nvSpPr>
          <p:cNvPr id="3" name="Text 0"/>
          <p:cNvSpPr/>
          <p:nvPr>
            <p:ph idx="101" type="title" hasCustomPrompt="1"/>
          </p:nvPr>
        </p:nvSpPr>
        <p:spPr>
          <a:xfrm>
            <a:off x="548640" y="896112"/>
            <a:ext cx="11094415" cy="914400"/>
          </a:xfrm>
          <a:prstGeom prst="rect">
            <a:avLst/>
          </a:prstGeom>
          <a:noFill/>
          <a:ln/>
        </p:spPr>
        <p:txBody>
          <a:bodyPr wrap="square" lIns="0" tIns="0" rIns="0" bIns="0" rtlCol="0" anchor="t"/>
          <a:lstStyle/>
          <a:p>
            <a:pPr rtl="1" algn="r" indent="0" marL="0">
              <a:buNone/>
            </a:pPr>
            <a:r>
              <a:rPr lang="ar-SA" altLang="en-US" sz="3800" dirty="0">
                <a:solidFill>
                  <a:schemeClr val="bg2"/>
                </a:solidFill>
              </a:rPr>
              <a:t>آخر مرة رفعت إيدك للنادل… كم دقيقة استنّيت؟</a:t>
            </a:r>
            <a:endParaRPr lang="ar-SA" sz="3800" dirty="0"/>
          </a:p>
        </p:txBody>
      </p:sp>
      <p:sp>
        <p:nvSpPr>
          <p:cNvPr id="4" name="wait-1"/>
          <p:cNvSpPr/>
          <p:nvPr/>
        </p:nvSpPr>
        <p:spPr>
          <a:xfrm>
            <a:off x="6324448" y="2240280"/>
            <a:ext cx="5318608" cy="2880360"/>
          </a:xfrm>
          <a:prstGeom prst="roundRect">
            <a:avLst>
              <a:gd name="adj" fmla="val 5079"/>
            </a:avLst>
          </a:prstGeom>
          <a:solidFill>
            <a:schemeClr val="bg2">
              <a:alpha val="7000"/>
            </a:schemeClr>
          </a:solidFill>
          <a:ln/>
        </p:spPr>
      </p:sp>
      <p:sp>
        <p:nvSpPr>
          <p:cNvPr id="5" name="tile-hourglass"/>
          <p:cNvSpPr/>
          <p:nvPr/>
        </p:nvSpPr>
        <p:spPr>
          <a:xfrm>
            <a:off x="10591495" y="2606040"/>
            <a:ext cx="640080" cy="640080"/>
          </a:xfrm>
          <a:prstGeom prst="roundRect">
            <a:avLst>
              <a:gd name="adj" fmla="val 26000"/>
            </a:avLst>
          </a:prstGeom>
          <a:solidFill>
            <a:schemeClr val="bg2">
              <a:alpha val="14000"/>
            </a:schemeClr>
          </a:solidFill>
          <a:ln/>
        </p:spPr>
      </p:sp>
      <p:pic>
        <p:nvPicPr>
          <p:cNvPr id="6" name="icon-hourglass" descr="preencoded.png">    </p:cNvPr>
          <p:cNvPicPr>
            <a:picLocks noChangeAspect="1"/>
          </p:cNvPicPr>
          <p:nvPr/>
        </p:nvPicPr>
        <p:blipFill>
          <a:blip r:embed="rId1"/>
          <a:stretch>
            <a:fillRect/>
          </a:stretch>
        </p:blipFill>
        <p:spPr>
          <a:xfrm>
            <a:off x="10745114" y="2759659"/>
            <a:ext cx="332842" cy="332842"/>
          </a:xfrm>
          <a:prstGeom prst="rect">
            <a:avLst/>
          </a:prstGeom>
        </p:spPr>
      </p:pic>
      <p:sp>
        <p:nvSpPr>
          <p:cNvPr id="7" name="wait-number-1"/>
          <p:cNvSpPr txBox="1"/>
          <p:nvPr/>
        </p:nvSpPr>
        <p:spPr>
          <a:xfrm>
            <a:off x="6735928" y="3200400"/>
            <a:ext cx="4495648" cy="1234440"/>
          </a:xfrm>
          <a:prstGeom prst="rect">
            <a:avLst/>
          </a:prstGeom>
          <a:noFill/>
          <a:ln/>
        </p:spPr>
        <p:txBody>
          <a:bodyPr wrap="square" lIns="0" tIns="0" rIns="0" bIns="0" rtlCol="0" anchor="ctr"/>
          <a:lstStyle/>
          <a:p>
            <a:pPr rtl="1" algn="r" indent="0" marL="0">
              <a:buNone/>
            </a:pPr>
            <a:r>
              <a:rPr lang="ar-SA" altLang="en-US" sz="11000" b="1" dirty="0">
                <a:solidFill>
                  <a:schemeClr val="accent1"/>
                </a:solidFill>
              </a:rPr>
              <a:t>10</a:t>
            </a:r>
            <a:r>
              <a:rPr lang="ar-SA" altLang="en-US" sz="3200" b="1" dirty="0">
                <a:solidFill>
                  <a:schemeClr val="bg2"/>
                </a:solidFill>
              </a:rPr>
              <a:t>  دقائق</a:t>
            </a:r>
            <a:endParaRPr lang="ar-SA" sz="1600" dirty="0"/>
          </a:p>
        </p:txBody>
      </p:sp>
      <p:sp>
        <p:nvSpPr>
          <p:cNvPr id="8" name="wait-label-1"/>
          <p:cNvSpPr txBox="1"/>
          <p:nvPr/>
        </p:nvSpPr>
        <p:spPr>
          <a:xfrm>
            <a:off x="6735928" y="4526280"/>
            <a:ext cx="4495648" cy="457200"/>
          </a:xfrm>
          <a:prstGeom prst="rect">
            <a:avLst/>
          </a:prstGeom>
          <a:noFill/>
          <a:ln/>
        </p:spPr>
        <p:txBody>
          <a:bodyPr wrap="square" lIns="0" tIns="0" rIns="0" bIns="0" rtlCol="0" anchor="t"/>
          <a:lstStyle/>
          <a:p>
            <a:pPr rtl="1" algn="r" indent="0" marL="0">
              <a:buNone/>
            </a:pPr>
            <a:r>
              <a:rPr lang="ar-SA" altLang="en-US" sz="2400" dirty="0">
                <a:solidFill>
                  <a:schemeClr val="bg2">
                    <a:alpha val="80000"/>
                  </a:schemeClr>
                </a:solidFill>
              </a:rPr>
              <a:t>حتى يوصل المشروب</a:t>
            </a:r>
            <a:endParaRPr lang="ar-SA" sz="2400" dirty="0"/>
          </a:p>
        </p:txBody>
      </p:sp>
      <p:sp>
        <p:nvSpPr>
          <p:cNvPr id="9" name="wait-2"/>
          <p:cNvSpPr/>
          <p:nvPr/>
        </p:nvSpPr>
        <p:spPr>
          <a:xfrm>
            <a:off x="548640" y="2240280"/>
            <a:ext cx="5318608" cy="2880360"/>
          </a:xfrm>
          <a:prstGeom prst="roundRect">
            <a:avLst>
              <a:gd name="adj" fmla="val 5079"/>
            </a:avLst>
          </a:prstGeom>
          <a:solidFill>
            <a:schemeClr val="bg2">
              <a:alpha val="7000"/>
            </a:schemeClr>
          </a:solidFill>
          <a:ln/>
        </p:spPr>
      </p:sp>
      <p:sp>
        <p:nvSpPr>
          <p:cNvPr id="10" name="tile-receipt"/>
          <p:cNvSpPr/>
          <p:nvPr/>
        </p:nvSpPr>
        <p:spPr>
          <a:xfrm>
            <a:off x="4815688" y="2606040"/>
            <a:ext cx="640080" cy="640080"/>
          </a:xfrm>
          <a:prstGeom prst="roundRect">
            <a:avLst>
              <a:gd name="adj" fmla="val 26000"/>
            </a:avLst>
          </a:prstGeom>
          <a:solidFill>
            <a:schemeClr val="bg2">
              <a:alpha val="14000"/>
            </a:schemeClr>
          </a:solidFill>
          <a:ln/>
        </p:spPr>
      </p:sp>
      <p:pic>
        <p:nvPicPr>
          <p:cNvPr id="11" name="icon-receipt" descr="preencoded.png">    </p:cNvPr>
          <p:cNvPicPr>
            <a:picLocks noChangeAspect="1"/>
          </p:cNvPicPr>
          <p:nvPr/>
        </p:nvPicPr>
        <p:blipFill>
          <a:blip r:embed="rId2"/>
          <a:stretch>
            <a:fillRect/>
          </a:stretch>
        </p:blipFill>
        <p:spPr>
          <a:xfrm>
            <a:off x="4969307" y="2759659"/>
            <a:ext cx="332842" cy="332842"/>
          </a:xfrm>
          <a:prstGeom prst="rect">
            <a:avLst/>
          </a:prstGeom>
        </p:spPr>
      </p:pic>
      <p:sp>
        <p:nvSpPr>
          <p:cNvPr id="12" name="wait-number-2"/>
          <p:cNvSpPr txBox="1"/>
          <p:nvPr/>
        </p:nvSpPr>
        <p:spPr>
          <a:xfrm>
            <a:off x="960120" y="3200400"/>
            <a:ext cx="4495648" cy="1234440"/>
          </a:xfrm>
          <a:prstGeom prst="rect">
            <a:avLst/>
          </a:prstGeom>
          <a:noFill/>
          <a:ln/>
        </p:spPr>
        <p:txBody>
          <a:bodyPr wrap="square" lIns="0" tIns="0" rIns="0" bIns="0" rtlCol="0" anchor="ctr"/>
          <a:lstStyle/>
          <a:p>
            <a:pPr rtl="1" algn="r" indent="0" marL="0">
              <a:buNone/>
            </a:pPr>
            <a:r>
              <a:rPr lang="ar-SA" altLang="en-US" sz="11000" b="1" dirty="0">
                <a:solidFill>
                  <a:schemeClr val="accent1"/>
                </a:solidFill>
              </a:rPr>
              <a:t>10</a:t>
            </a:r>
            <a:r>
              <a:rPr lang="ar-SA" altLang="en-US" sz="3200" b="1" dirty="0">
                <a:solidFill>
                  <a:schemeClr val="bg2"/>
                </a:solidFill>
              </a:rPr>
              <a:t>  دقائق</a:t>
            </a:r>
            <a:endParaRPr lang="ar-SA" sz="1600" dirty="0"/>
          </a:p>
        </p:txBody>
      </p:sp>
      <p:sp>
        <p:nvSpPr>
          <p:cNvPr id="13" name="wait-label-2"/>
          <p:cNvSpPr txBox="1"/>
          <p:nvPr/>
        </p:nvSpPr>
        <p:spPr>
          <a:xfrm>
            <a:off x="960120" y="4526280"/>
            <a:ext cx="4495648" cy="457200"/>
          </a:xfrm>
          <a:prstGeom prst="rect">
            <a:avLst/>
          </a:prstGeom>
          <a:noFill/>
          <a:ln/>
        </p:spPr>
        <p:txBody>
          <a:bodyPr wrap="square" lIns="0" tIns="0" rIns="0" bIns="0" rtlCol="0" anchor="t"/>
          <a:lstStyle/>
          <a:p>
            <a:pPr rtl="1" algn="r" indent="0" marL="0">
              <a:buNone/>
            </a:pPr>
            <a:r>
              <a:rPr lang="ar-SA" altLang="en-US" sz="2400" dirty="0">
                <a:solidFill>
                  <a:schemeClr val="bg2">
                    <a:alpha val="80000"/>
                  </a:schemeClr>
                </a:solidFill>
              </a:rPr>
              <a:t>حتى توصل الفاتورة</a:t>
            </a:r>
            <a:endParaRPr lang="ar-SA" sz="2400" dirty="0"/>
          </a:p>
        </p:txBody>
      </p:sp>
      <p:sp>
        <p:nvSpPr>
          <p:cNvPr id="14" name="bridge"/>
          <p:cNvSpPr/>
          <p:nvPr/>
        </p:nvSpPr>
        <p:spPr>
          <a:xfrm>
            <a:off x="548640" y="5504688"/>
            <a:ext cx="11094415" cy="566928"/>
          </a:xfrm>
          <a:prstGeom prst="roundRect">
            <a:avLst>
              <a:gd name="adj" fmla="val 25806"/>
            </a:avLst>
          </a:prstGeom>
          <a:solidFill>
            <a:schemeClr val="bg2">
              <a:alpha val="8000"/>
            </a:schemeClr>
          </a:solidFill>
          <a:ln/>
        </p:spPr>
      </p:sp>
      <p:pic>
        <p:nvPicPr>
          <p:cNvPr id="15" name="bridge-arrow" descr="preencoded.png">    </p:cNvPr>
          <p:cNvPicPr>
            <a:picLocks noChangeAspect="1"/>
          </p:cNvPicPr>
          <p:nvPr/>
        </p:nvPicPr>
        <p:blipFill>
          <a:blip r:embed="rId3"/>
          <a:stretch>
            <a:fillRect/>
          </a:stretch>
        </p:blipFill>
        <p:spPr>
          <a:xfrm>
            <a:off x="841248" y="5650992"/>
            <a:ext cx="274320" cy="274320"/>
          </a:xfrm>
          <a:prstGeom prst="rect">
            <a:avLst/>
          </a:prstGeom>
        </p:spPr>
      </p:pic>
      <p:sp>
        <p:nvSpPr>
          <p:cNvPr id="16"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bg2"/>
                </a:solidFill>
              </a:rPr>
              <a:t>والانتظار… أول حلقة بس في السلسلة</a:t>
            </a:r>
            <a:endParaRPr lang="ar-SA" sz="1900" dirty="0"/>
          </a:p>
        </p:txBody>
      </p:sp>
      <p:sp>
        <p:nvSpPr>
          <p:cNvPr id="17"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bg2">
                    <a:alpha val="65000"/>
                  </a:schemeClr>
                </a:solidFill>
              </a:rPr>
              <a:t>Union، استطلاع أكثر من 1,000 بالغ في أمريكا (2023): 42% ينتظرون نحو 10 دقائق للمشروب، ومتوسط انتظار الفاتورة 10 دقائق</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المشكلة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الطلب يضيع بين الطاولة والمطبخ والكاشير</a:t>
            </a:r>
            <a:endParaRPr lang="ar-SA" sz="3600" dirty="0"/>
          </a:p>
        </p:txBody>
      </p:sp>
      <p:sp>
        <p:nvSpPr>
          <p:cNvPr id="4" name="problem-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hourglass"/>
          <p:cNvSpPr/>
          <p:nvPr/>
        </p:nvSpPr>
        <p:spPr>
          <a:xfrm>
            <a:off x="10765231" y="2075688"/>
            <a:ext cx="585216" cy="585216"/>
          </a:xfrm>
          <a:prstGeom prst="roundRect">
            <a:avLst>
              <a:gd name="adj" fmla="val 26000"/>
            </a:avLst>
          </a:prstGeom>
          <a:solidFill>
            <a:schemeClr val="accent1">
              <a:alpha val="15000"/>
            </a:schemeClr>
          </a:solidFill>
          <a:ln/>
        </p:spPr>
      </p:sp>
      <p:pic>
        <p:nvPicPr>
          <p:cNvPr id="6" name="icon-hourglass"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problem-head-1"/>
          <p:cNvSpPr txBox="1"/>
          <p:nvPr/>
        </p:nvSpPr>
        <p:spPr>
          <a:xfrm>
            <a:off x="8450885"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الزبون ينتظر… ويمشي</a:t>
            </a:r>
            <a:endParaRPr lang="ar-SA" sz="2200" dirty="0"/>
          </a:p>
        </p:txBody>
      </p:sp>
      <p:sp>
        <p:nvSpPr>
          <p:cNvPr id="8" name="problem-stat-1"/>
          <p:cNvSpPr txBox="1"/>
          <p:nvPr/>
        </p:nvSpPr>
        <p:spPr>
          <a:xfrm>
            <a:off x="8450885" y="3319272"/>
            <a:ext cx="2899562" cy="868680"/>
          </a:xfrm>
          <a:prstGeom prst="rect">
            <a:avLst/>
          </a:prstGeom>
          <a:noFill/>
          <a:ln/>
        </p:spPr>
        <p:txBody>
          <a:bodyPr wrap="square" lIns="0" tIns="0" rIns="0" bIns="0" rtlCol="0" anchor="ctr"/>
          <a:lstStyle/>
          <a:p>
            <a:pPr algn="r" indent="0" marL="0">
              <a:buNone/>
            </a:pPr>
            <a:r>
              <a:rPr lang="en-US" sz="5400" b="1" dirty="0">
                <a:solidFill>
                  <a:schemeClr val="accent3"/>
                </a:solidFill>
              </a:rPr>
              <a:t>‎22%</a:t>
            </a:r>
            <a:endParaRPr lang="en-US" sz="5400" dirty="0"/>
          </a:p>
        </p:txBody>
      </p:sp>
      <p:sp>
        <p:nvSpPr>
          <p:cNvPr id="9" name="problem-label-1"/>
          <p:cNvSpPr txBox="1"/>
          <p:nvPr/>
        </p:nvSpPr>
        <p:spPr>
          <a:xfrm>
            <a:off x="8450885"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يغادرون المكان إذا طال الانتظار، و38% يقلّلون البقشيش</a:t>
            </a:r>
            <a:endParaRPr lang="ar-SA" sz="1600" dirty="0"/>
          </a:p>
        </p:txBody>
      </p:sp>
      <p:sp>
        <p:nvSpPr>
          <p:cNvPr id="10" name="problem-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1" name="tile-notebook-pen"/>
          <p:cNvSpPr/>
          <p:nvPr/>
        </p:nvSpPr>
        <p:spPr>
          <a:xfrm>
            <a:off x="6960413" y="2075688"/>
            <a:ext cx="585216" cy="585216"/>
          </a:xfrm>
          <a:prstGeom prst="roundRect">
            <a:avLst>
              <a:gd name="adj" fmla="val 26000"/>
            </a:avLst>
          </a:prstGeom>
          <a:solidFill>
            <a:schemeClr val="tx1">
              <a:alpha val="7000"/>
            </a:schemeClr>
          </a:solidFill>
          <a:ln/>
        </p:spPr>
      </p:sp>
      <p:pic>
        <p:nvPicPr>
          <p:cNvPr id="12" name="icon-notebook-pen"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3" name="problem-head-2"/>
          <p:cNvSpPr txBox="1"/>
          <p:nvPr/>
        </p:nvSpPr>
        <p:spPr>
          <a:xfrm>
            <a:off x="4646066"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المطبخ على ورقة</a:t>
            </a:r>
            <a:endParaRPr lang="ar-SA" sz="2200" dirty="0"/>
          </a:p>
        </p:txBody>
      </p:sp>
      <p:sp>
        <p:nvSpPr>
          <p:cNvPr id="14" name="problem-stat-2"/>
          <p:cNvSpPr txBox="1"/>
          <p:nvPr/>
        </p:nvSpPr>
        <p:spPr>
          <a:xfrm>
            <a:off x="4646066" y="3319272"/>
            <a:ext cx="2899562" cy="868680"/>
          </a:xfrm>
          <a:prstGeom prst="rect">
            <a:avLst/>
          </a:prstGeom>
          <a:noFill/>
          <a:ln/>
        </p:spPr>
        <p:txBody>
          <a:bodyPr wrap="square" lIns="0" tIns="0" rIns="0" bIns="0" rtlCol="0" anchor="ctr"/>
          <a:lstStyle/>
          <a:p>
            <a:pPr algn="r" indent="0" marL="0">
              <a:buNone/>
            </a:pPr>
            <a:r>
              <a:rPr lang="en-US" sz="5400" b="1" dirty="0">
                <a:solidFill>
                  <a:schemeClr val="accent3"/>
                </a:solidFill>
              </a:rPr>
              <a:t>‎0</a:t>
            </a:r>
            <a:endParaRPr lang="en-US" sz="5400" dirty="0"/>
          </a:p>
        </p:txBody>
      </p:sp>
      <p:sp>
        <p:nvSpPr>
          <p:cNvPr id="15" name="problem-label-2"/>
          <p:cNvSpPr txBox="1"/>
          <p:nvPr/>
        </p:nvSpPr>
        <p:spPr>
          <a:xfrm>
            <a:off x="4646066"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تتبّع للطلب: لا الزبون ولا المالك يعرف وين وصل</a:t>
            </a:r>
            <a:endParaRPr lang="ar-SA" sz="1600" dirty="0"/>
          </a:p>
        </p:txBody>
      </p:sp>
      <p:sp>
        <p:nvSpPr>
          <p:cNvPr id="16" name="problem-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wifi-off"/>
          <p:cNvSpPr/>
          <p:nvPr/>
        </p:nvSpPr>
        <p:spPr>
          <a:xfrm>
            <a:off x="3155594" y="2075688"/>
            <a:ext cx="585216" cy="585216"/>
          </a:xfrm>
          <a:prstGeom prst="roundRect">
            <a:avLst>
              <a:gd name="adj" fmla="val 26000"/>
            </a:avLst>
          </a:prstGeom>
          <a:solidFill>
            <a:schemeClr val="accent5">
              <a:alpha val="10000"/>
            </a:schemeClr>
          </a:solidFill>
          <a:ln/>
        </p:spPr>
      </p:sp>
      <p:pic>
        <p:nvPicPr>
          <p:cNvPr id="18" name="icon-wifi-off"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19" name="problem-head-3"/>
          <p:cNvSpPr txBox="1"/>
          <p:nvPr/>
        </p:nvSpPr>
        <p:spPr>
          <a:xfrm>
            <a:off x="841248"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الشغل يقف مع النت</a:t>
            </a:r>
            <a:endParaRPr lang="ar-SA" sz="2200" dirty="0"/>
          </a:p>
        </p:txBody>
      </p:sp>
      <p:sp>
        <p:nvSpPr>
          <p:cNvPr id="20" name="problem-stat-3"/>
          <p:cNvSpPr txBox="1"/>
          <p:nvPr/>
        </p:nvSpPr>
        <p:spPr>
          <a:xfrm>
            <a:off x="841248" y="3319272"/>
            <a:ext cx="2899562" cy="868680"/>
          </a:xfrm>
          <a:prstGeom prst="rect">
            <a:avLst/>
          </a:prstGeom>
          <a:noFill/>
          <a:ln/>
        </p:spPr>
        <p:txBody>
          <a:bodyPr wrap="square" lIns="0" tIns="0" rIns="0" bIns="0" rtlCol="0" anchor="ctr"/>
          <a:lstStyle/>
          <a:p>
            <a:pPr rtl="1" algn="r" indent="0" marL="0">
              <a:buNone/>
            </a:pPr>
            <a:r>
              <a:rPr lang="ar-SA" altLang="en-US" sz="5400" b="1" dirty="0">
                <a:solidFill>
                  <a:schemeClr val="accent3"/>
                </a:solidFill>
              </a:rPr>
              <a:t>36</a:t>
            </a:r>
            <a:r>
              <a:rPr lang="ar-SA" altLang="en-US" sz="3000" b="1" dirty="0">
                <a:solidFill>
                  <a:schemeClr val="accent3"/>
                </a:solidFill>
              </a:rPr>
              <a:t> ساعة</a:t>
            </a:r>
            <a:endParaRPr lang="ar-SA" sz="5400" dirty="0"/>
          </a:p>
        </p:txBody>
      </p:sp>
      <p:sp>
        <p:nvSpPr>
          <p:cNvPr id="21" name="problem-label-3"/>
          <p:cNvSpPr txBox="1"/>
          <p:nvPr/>
        </p:nvSpPr>
        <p:spPr>
          <a:xfrm>
            <a:off x="841248"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انقطاع كامل للاتصالات في غزة، أكتوبر 2023</a:t>
            </a:r>
            <a:endParaRPr lang="ar-SA" sz="1600" dirty="0"/>
          </a:p>
        </p:txBody>
      </p:sp>
      <p:sp>
        <p:nvSpPr>
          <p:cNvPr id="22"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3"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4"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النتيجة: فوضى… زبون ينتظر، مطبخ يخمّن، ومالك ما بيعرف شو صار</a:t>
            </a:r>
            <a:endParaRPr lang="ar-SA" sz="1900" dirty="0"/>
          </a:p>
        </p:txBody>
      </p:sp>
      <p:sp>
        <p:nvSpPr>
          <p:cNvPr id="25"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Union، استطلاع 1,000+ بالغ أمريكي (2023) · Access Now، «Palestine Unplugged» (2023)</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الحل</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الفوضى صارت نظام — كل طلب بيعرف طريقه</a:t>
            </a:r>
            <a:endParaRPr lang="ar-SA" sz="3600" dirty="0"/>
          </a:p>
        </p:txBody>
      </p:sp>
      <p:sp>
        <p:nvSpPr>
          <p:cNvPr id="4" name="solution-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qr-code"/>
          <p:cNvSpPr/>
          <p:nvPr/>
        </p:nvSpPr>
        <p:spPr>
          <a:xfrm>
            <a:off x="10765231" y="2075688"/>
            <a:ext cx="585216" cy="585216"/>
          </a:xfrm>
          <a:prstGeom prst="roundRect">
            <a:avLst>
              <a:gd name="adj" fmla="val 26000"/>
            </a:avLst>
          </a:prstGeom>
          <a:solidFill>
            <a:schemeClr val="accent2">
              <a:alpha val="12000"/>
            </a:schemeClr>
          </a:solidFill>
          <a:ln/>
        </p:spPr>
      </p:sp>
      <p:pic>
        <p:nvPicPr>
          <p:cNvPr id="6" name="icon-qr-code"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solution-tag-bg-1"/>
          <p:cNvSpPr/>
          <p:nvPr/>
        </p:nvSpPr>
        <p:spPr>
          <a:xfrm>
            <a:off x="8450885" y="2176272"/>
            <a:ext cx="1417320" cy="384048"/>
          </a:xfrm>
          <a:prstGeom prst="roundRect">
            <a:avLst>
              <a:gd name="adj" fmla="val 50000"/>
            </a:avLst>
          </a:prstGeom>
          <a:solidFill>
            <a:schemeClr val="tx1">
              <a:alpha val="7000"/>
            </a:schemeClr>
          </a:solidFill>
          <a:ln/>
        </p:spPr>
      </p:sp>
      <p:sp>
        <p:nvSpPr>
          <p:cNvPr id="8" name="solution-tag-1"/>
          <p:cNvSpPr txBox="1"/>
          <p:nvPr/>
        </p:nvSpPr>
        <p:spPr>
          <a:xfrm>
            <a:off x="8450885"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الانتظار</a:t>
            </a:r>
            <a:endParaRPr lang="ar-SA" sz="1400" dirty="0"/>
          </a:p>
        </p:txBody>
      </p:sp>
      <p:sp>
        <p:nvSpPr>
          <p:cNvPr id="9" name="solution-head-1"/>
          <p:cNvSpPr txBox="1"/>
          <p:nvPr/>
        </p:nvSpPr>
        <p:spPr>
          <a:xfrm>
            <a:off x="8450885"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الزبون يطلب من جواله</a:t>
            </a:r>
            <a:endParaRPr lang="ar-SA" sz="2200" dirty="0"/>
          </a:p>
        </p:txBody>
      </p:sp>
      <p:sp>
        <p:nvSpPr>
          <p:cNvPr id="10" name="solution-body-1"/>
          <p:cNvSpPr txBox="1"/>
          <p:nvPr/>
        </p:nvSpPr>
        <p:spPr>
          <a:xfrm>
            <a:off x="8450885"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يمسح QR الطاولة، يطلب ويتابع طلبه لحظة بلحظة — بلا نادل وبلا تطبيق</a:t>
            </a:r>
            <a:endParaRPr lang="ar-SA" sz="2000" dirty="0"/>
          </a:p>
        </p:txBody>
      </p:sp>
      <p:sp>
        <p:nvSpPr>
          <p:cNvPr id="11" name="solution-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tile-chef-hat"/>
          <p:cNvSpPr/>
          <p:nvPr/>
        </p:nvSpPr>
        <p:spPr>
          <a:xfrm>
            <a:off x="6960413" y="2075688"/>
            <a:ext cx="585216" cy="585216"/>
          </a:xfrm>
          <a:prstGeom prst="roundRect">
            <a:avLst>
              <a:gd name="adj" fmla="val 26000"/>
            </a:avLst>
          </a:prstGeom>
          <a:solidFill>
            <a:schemeClr val="accent2">
              <a:alpha val="12000"/>
            </a:schemeClr>
          </a:solidFill>
          <a:ln/>
        </p:spPr>
      </p:sp>
      <p:pic>
        <p:nvPicPr>
          <p:cNvPr id="13" name="icon-chef-hat"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4" name="solution-tag-bg-2"/>
          <p:cNvSpPr/>
          <p:nvPr/>
        </p:nvSpPr>
        <p:spPr>
          <a:xfrm>
            <a:off x="4646066" y="2176272"/>
            <a:ext cx="1417320" cy="384048"/>
          </a:xfrm>
          <a:prstGeom prst="roundRect">
            <a:avLst>
              <a:gd name="adj" fmla="val 50000"/>
            </a:avLst>
          </a:prstGeom>
          <a:solidFill>
            <a:schemeClr val="tx1">
              <a:alpha val="7000"/>
            </a:schemeClr>
          </a:solidFill>
          <a:ln/>
        </p:spPr>
      </p:sp>
      <p:sp>
        <p:nvSpPr>
          <p:cNvPr id="15" name="solution-tag-2"/>
          <p:cNvSpPr txBox="1"/>
          <p:nvPr/>
        </p:nvSpPr>
        <p:spPr>
          <a:xfrm>
            <a:off x="4646066"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الورقة</a:t>
            </a:r>
            <a:endParaRPr lang="ar-SA" sz="1400" dirty="0"/>
          </a:p>
        </p:txBody>
      </p:sp>
      <p:sp>
        <p:nvSpPr>
          <p:cNvPr id="16" name="solution-head-2"/>
          <p:cNvSpPr txBox="1"/>
          <p:nvPr/>
        </p:nvSpPr>
        <p:spPr>
          <a:xfrm>
            <a:off x="4646066"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المطبخ يستلم فورًا</a:t>
            </a:r>
            <a:endParaRPr lang="ar-SA" sz="2200" dirty="0"/>
          </a:p>
        </p:txBody>
      </p:sp>
      <p:sp>
        <p:nvSpPr>
          <p:cNvPr id="17" name="solution-body-2"/>
          <p:cNvSpPr txBox="1"/>
          <p:nvPr/>
        </p:nvSpPr>
        <p:spPr>
          <a:xfrm>
            <a:off x="4646066"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الطلب يظهر على شاشة المطبخ مرتّبًا حسب الوقت، والكل يشوف حالته</a:t>
            </a:r>
            <a:endParaRPr lang="ar-SA" sz="2000" dirty="0"/>
          </a:p>
        </p:txBody>
      </p:sp>
      <p:sp>
        <p:nvSpPr>
          <p:cNvPr id="18" name="solution-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9" name="tile-cloud-off"/>
          <p:cNvSpPr/>
          <p:nvPr/>
        </p:nvSpPr>
        <p:spPr>
          <a:xfrm>
            <a:off x="3155594" y="2075688"/>
            <a:ext cx="585216" cy="585216"/>
          </a:xfrm>
          <a:prstGeom prst="roundRect">
            <a:avLst>
              <a:gd name="adj" fmla="val 26000"/>
            </a:avLst>
          </a:prstGeom>
          <a:solidFill>
            <a:schemeClr val="accent2">
              <a:alpha val="12000"/>
            </a:schemeClr>
          </a:solidFill>
          <a:ln/>
        </p:spPr>
      </p:sp>
      <p:pic>
        <p:nvPicPr>
          <p:cNvPr id="20" name="icon-cloud-off"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21" name="solution-tag-bg-3"/>
          <p:cNvSpPr/>
          <p:nvPr/>
        </p:nvSpPr>
        <p:spPr>
          <a:xfrm>
            <a:off x="841248" y="2176272"/>
            <a:ext cx="1417320" cy="384048"/>
          </a:xfrm>
          <a:prstGeom prst="roundRect">
            <a:avLst>
              <a:gd name="adj" fmla="val 50000"/>
            </a:avLst>
          </a:prstGeom>
          <a:solidFill>
            <a:schemeClr val="tx1">
              <a:alpha val="7000"/>
            </a:schemeClr>
          </a:solidFill>
          <a:ln/>
        </p:spPr>
      </p:sp>
      <p:sp>
        <p:nvSpPr>
          <p:cNvPr id="22" name="solution-tag-3"/>
          <p:cNvSpPr txBox="1"/>
          <p:nvPr/>
        </p:nvSpPr>
        <p:spPr>
          <a:xfrm>
            <a:off x="841248"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التوقف</a:t>
            </a:r>
            <a:endParaRPr lang="ar-SA" sz="1400" dirty="0"/>
          </a:p>
        </p:txBody>
      </p:sp>
      <p:sp>
        <p:nvSpPr>
          <p:cNvPr id="23" name="solution-head-3"/>
          <p:cNvSpPr txBox="1"/>
          <p:nvPr/>
        </p:nvSpPr>
        <p:spPr>
          <a:xfrm>
            <a:off x="841248"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يكمل والنت مقطوع</a:t>
            </a:r>
            <a:endParaRPr lang="ar-SA" sz="2200" dirty="0"/>
          </a:p>
        </p:txBody>
      </p:sp>
      <p:sp>
        <p:nvSpPr>
          <p:cNvPr id="24" name="solution-body-3"/>
          <p:cNvSpPr txBox="1"/>
          <p:nvPr/>
        </p:nvSpPr>
        <p:spPr>
          <a:xfrm>
            <a:off x="841248"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المطبخ والكاشير بكمّلوا شغلهم، والتغييرات تتزامن لحالها لما يرجع النت</a:t>
            </a:r>
            <a:endParaRPr lang="ar-SA" sz="2000" dirty="0"/>
          </a:p>
        </p:txBody>
      </p:sp>
      <p:sp>
        <p:nvSpPr>
          <p:cNvPr id="25"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6"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7"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وهذا مش كلام على ورق…</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الإنجاز</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النظام شغّال اليوم — مش نموذج على ورق</a:t>
            </a:r>
            <a:endParaRPr lang="ar-SA" sz="3600" dirty="0"/>
          </a:p>
        </p:txBody>
      </p:sp>
      <p:sp>
        <p:nvSpPr>
          <p:cNvPr id="4" name="kitchen-frame"/>
          <p:cNvSpPr/>
          <p:nvPr/>
        </p:nvSpPr>
        <p:spPr>
          <a:xfrm>
            <a:off x="548640" y="1783080"/>
            <a:ext cx="5394960" cy="3371850"/>
          </a:xfrm>
          <a:prstGeom prst="roundRect">
            <a:avLst>
              <a:gd name="adj" fmla="val 32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pic>
        <p:nvPicPr>
          <p:cNvPr id="5" name="kitchen-screen" descr="شاشة المطبخ في menuPilot: تذاكر الطلبات مرتّبة حسب الوقت">    </p:cNvPr>
          <p:cNvPicPr>
            <a:picLocks noChangeAspect="1"/>
          </p:cNvPicPr>
          <p:nvPr/>
        </p:nvPicPr>
        <p:blipFill>
          <a:blip r:embed="rId1"/>
          <a:stretch>
            <a:fillRect/>
          </a:stretch>
        </p:blipFill>
        <p:spPr>
          <a:xfrm>
            <a:off x="548640" y="1783080"/>
            <a:ext cx="5394960" cy="3371850"/>
          </a:xfrm>
          <a:prstGeom prst="rect">
            <a:avLst/>
          </a:prstGeom>
        </p:spPr>
      </p:pic>
      <p:sp>
        <p:nvSpPr>
          <p:cNvPr id="6" name="phone-frame"/>
          <p:cNvSpPr/>
          <p:nvPr/>
        </p:nvSpPr>
        <p:spPr>
          <a:xfrm>
            <a:off x="5102352" y="2009394"/>
            <a:ext cx="1522368" cy="3145536"/>
          </a:xfrm>
          <a:prstGeom prst="roundRect">
            <a:avLst>
              <a:gd name="adj" fmla="val 13214"/>
            </a:avLst>
          </a:prstGeom>
          <a:solidFill>
            <a:schemeClr val="tx1"/>
          </a:solidFill>
          <a:ln/>
          <a:effectLst>
            <a:outerShdw sx="100000" sy="100000" kx="0" ky="0" algn="bl" rotWithShape="0" blurRad="177800" dist="50800" dir="5400000">
              <a:srgbClr val="172331">
                <a:alpha val="25000"/>
              </a:srgbClr>
            </a:outerShdw>
          </a:effectLst>
        </p:spPr>
      </p:sp>
      <p:pic>
        <p:nvPicPr>
          <p:cNvPr id="7" name="phone-menu" descr="منيو الزبون على الجوال بعد مسح رمز الطاولة">    </p:cNvPr>
          <p:cNvPicPr>
            <a:picLocks noChangeAspect="1"/>
          </p:cNvPicPr>
          <p:nvPr/>
        </p:nvPicPr>
        <p:blipFill>
          <a:blip r:embed="rId2"/>
          <a:stretch>
            <a:fillRect/>
          </a:stretch>
        </p:blipFill>
        <p:spPr>
          <a:xfrm>
            <a:off x="5166360" y="2073402"/>
            <a:ext cx="1394352" cy="3017520"/>
          </a:xfrm>
          <a:prstGeom prst="rect">
            <a:avLst/>
          </a:prstGeom>
        </p:spPr>
      </p:pic>
      <p:sp>
        <p:nvSpPr>
          <p:cNvPr id="8" name="progress-1"/>
          <p:cNvSpPr/>
          <p:nvPr/>
        </p:nvSpPr>
        <p:spPr>
          <a:xfrm>
            <a:off x="9433408" y="178308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9" name="Text 5"/>
          <p:cNvSpPr txBox="1"/>
          <p:nvPr/>
        </p:nvSpPr>
        <p:spPr>
          <a:xfrm>
            <a:off x="9689440" y="196596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‎5</a:t>
            </a:r>
            <a:endParaRPr lang="en-US" sz="4000" dirty="0"/>
          </a:p>
        </p:txBody>
      </p:sp>
      <p:sp>
        <p:nvSpPr>
          <p:cNvPr id="10" name="progress-label-1"/>
          <p:cNvSpPr txBox="1"/>
          <p:nvPr/>
        </p:nvSpPr>
        <p:spPr>
          <a:xfrm>
            <a:off x="9689440" y="262432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أدوار بشاشاتها، من الزبون للمالك</a:t>
            </a:r>
            <a:endParaRPr lang="ar-SA" sz="1500" dirty="0"/>
          </a:p>
        </p:txBody>
      </p:sp>
      <p:sp>
        <p:nvSpPr>
          <p:cNvPr id="11" name="progress-2"/>
          <p:cNvSpPr/>
          <p:nvPr/>
        </p:nvSpPr>
        <p:spPr>
          <a:xfrm>
            <a:off x="6995160" y="178308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Text 8"/>
          <p:cNvSpPr txBox="1"/>
          <p:nvPr/>
        </p:nvSpPr>
        <p:spPr>
          <a:xfrm>
            <a:off x="7251192" y="196596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‎+170</a:t>
            </a:r>
            <a:endParaRPr lang="en-US" sz="4000" dirty="0"/>
          </a:p>
        </p:txBody>
      </p:sp>
      <p:sp>
        <p:nvSpPr>
          <p:cNvPr id="13" name="progress-label-2"/>
          <p:cNvSpPr txBox="1"/>
          <p:nvPr/>
        </p:nvSpPr>
        <p:spPr>
          <a:xfrm>
            <a:off x="7251192" y="262432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اختبارًا آليًا تشتغل مع كل تعديل</a:t>
            </a:r>
            <a:endParaRPr lang="ar-SA" sz="1500" dirty="0"/>
          </a:p>
        </p:txBody>
      </p:sp>
      <p:sp>
        <p:nvSpPr>
          <p:cNvPr id="14" name="progress-3"/>
          <p:cNvSpPr/>
          <p:nvPr/>
        </p:nvSpPr>
        <p:spPr>
          <a:xfrm>
            <a:off x="9433408" y="356616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ext 11"/>
          <p:cNvSpPr txBox="1"/>
          <p:nvPr/>
        </p:nvSpPr>
        <p:spPr>
          <a:xfrm>
            <a:off x="9689440" y="374904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‎+110</a:t>
            </a:r>
            <a:endParaRPr lang="en-US" sz="4000" dirty="0"/>
          </a:p>
        </p:txBody>
      </p:sp>
      <p:sp>
        <p:nvSpPr>
          <p:cNvPr id="16" name="progress-label-3"/>
          <p:cNvSpPr txBox="1"/>
          <p:nvPr/>
        </p:nvSpPr>
        <p:spPr>
          <a:xfrm>
            <a:off x="9689440" y="440740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نقطة API في الخادم (Laravel)</a:t>
            </a:r>
            <a:endParaRPr lang="ar-SA" sz="1500" dirty="0"/>
          </a:p>
        </p:txBody>
      </p:sp>
      <p:sp>
        <p:nvSpPr>
          <p:cNvPr id="17" name="progress-4"/>
          <p:cNvSpPr/>
          <p:nvPr/>
        </p:nvSpPr>
        <p:spPr>
          <a:xfrm>
            <a:off x="6995160" y="356616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8" name="Text 14"/>
          <p:cNvSpPr txBox="1"/>
          <p:nvPr/>
        </p:nvSpPr>
        <p:spPr>
          <a:xfrm>
            <a:off x="7251192" y="374904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‎2</a:t>
            </a:r>
            <a:endParaRPr lang="en-US" sz="4000" dirty="0"/>
          </a:p>
        </p:txBody>
      </p:sp>
      <p:sp>
        <p:nvSpPr>
          <p:cNvPr id="19" name="progress-label-4"/>
          <p:cNvSpPr txBox="1"/>
          <p:nvPr/>
        </p:nvSpPr>
        <p:spPr>
          <a:xfrm>
            <a:off x="7251192" y="440740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لغتان كاملتان: عربي وإنجليزي</a:t>
            </a:r>
            <a:endParaRPr lang="ar-SA" sz="1500" dirty="0"/>
          </a:p>
        </p:txBody>
      </p:sp>
      <p:sp>
        <p:nvSpPr>
          <p:cNvPr id="20"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1" name="bridge-arrow" descr="preencoded.png">    </p:cNvPr>
          <p:cNvPicPr>
            <a:picLocks noChangeAspect="1"/>
          </p:cNvPicPr>
          <p:nvPr/>
        </p:nvPicPr>
        <p:blipFill>
          <a:blip r:embed="rId3"/>
          <a:stretch>
            <a:fillRect/>
          </a:stretch>
        </p:blipFill>
        <p:spPr>
          <a:xfrm>
            <a:off x="841248" y="5650992"/>
            <a:ext cx="274320" cy="274320"/>
          </a:xfrm>
          <a:prstGeom prst="rect">
            <a:avLst/>
          </a:prstGeom>
        </p:spPr>
      </p:pic>
      <p:sp>
        <p:nvSpPr>
          <p:cNvPr id="22"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طيب… هل في سوق يستاهل؟</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الفرصة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مطاعم غزة بتبدأ من جديد — وهاي أنسب لحظة لنظام</a:t>
            </a:r>
            <a:endParaRPr lang="ar-SA" sz="3600" dirty="0"/>
          </a:p>
        </p:txBody>
      </p:sp>
      <p:sp>
        <p:nvSpPr>
          <p:cNvPr id="4" name="market-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store"/>
          <p:cNvSpPr/>
          <p:nvPr/>
        </p:nvSpPr>
        <p:spPr>
          <a:xfrm>
            <a:off x="10765231" y="2075688"/>
            <a:ext cx="585216" cy="585216"/>
          </a:xfrm>
          <a:prstGeom prst="roundRect">
            <a:avLst>
              <a:gd name="adj" fmla="val 26000"/>
            </a:avLst>
          </a:prstGeom>
          <a:solidFill>
            <a:schemeClr val="accent1">
              <a:alpha val="15000"/>
            </a:schemeClr>
          </a:solidFill>
          <a:ln/>
        </p:spPr>
      </p:sp>
      <p:pic>
        <p:nvPicPr>
          <p:cNvPr id="6" name="icon-store"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market-stat-1"/>
          <p:cNvSpPr txBox="1"/>
          <p:nvPr/>
        </p:nvSpPr>
        <p:spPr>
          <a:xfrm>
            <a:off x="8450885" y="2834640"/>
            <a:ext cx="2899562" cy="1005840"/>
          </a:xfrm>
          <a:prstGeom prst="rect">
            <a:avLst/>
          </a:prstGeom>
          <a:noFill/>
          <a:ln/>
        </p:spPr>
        <p:txBody>
          <a:bodyPr wrap="square" lIns="0" tIns="0" rIns="0" bIns="0" rtlCol="0" anchor="ctr"/>
          <a:lstStyle/>
          <a:p>
            <a:pPr algn="r" indent="0" marL="0">
              <a:buNone/>
            </a:pPr>
            <a:r>
              <a:rPr lang="en-US" sz="6000" b="1" dirty="0">
                <a:solidFill>
                  <a:schemeClr val="accent3"/>
                </a:solidFill>
              </a:rPr>
              <a:t>‎3,450</a:t>
            </a:r>
            <a:endParaRPr lang="en-US" sz="6000" dirty="0"/>
          </a:p>
        </p:txBody>
      </p:sp>
      <p:sp>
        <p:nvSpPr>
          <p:cNvPr id="8" name="market-label-1"/>
          <p:cNvSpPr txBox="1"/>
          <p:nvPr/>
        </p:nvSpPr>
        <p:spPr>
          <a:xfrm>
            <a:off x="8450885"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منشأة مطاعم ومقاهٍ دُمّرت في غزة… وكل واحدة بتعيد البناء من الصفر</a:t>
            </a:r>
            <a:endParaRPr lang="ar-SA" sz="1700" dirty="0"/>
          </a:p>
        </p:txBody>
      </p:sp>
      <p:sp>
        <p:nvSpPr>
          <p:cNvPr id="9" name="market-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tile-badge-dollar-sign"/>
          <p:cNvSpPr/>
          <p:nvPr/>
        </p:nvSpPr>
        <p:spPr>
          <a:xfrm>
            <a:off x="6960413" y="2075688"/>
            <a:ext cx="585216" cy="585216"/>
          </a:xfrm>
          <a:prstGeom prst="roundRect">
            <a:avLst>
              <a:gd name="adj" fmla="val 26000"/>
            </a:avLst>
          </a:prstGeom>
          <a:solidFill>
            <a:schemeClr val="accent1">
              <a:alpha val="15000"/>
            </a:schemeClr>
          </a:solidFill>
          <a:ln/>
        </p:spPr>
      </p:sp>
      <p:pic>
        <p:nvPicPr>
          <p:cNvPr id="11" name="icon-badge-dollar-sign"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2" name="market-stat-2"/>
          <p:cNvSpPr txBox="1"/>
          <p:nvPr/>
        </p:nvSpPr>
        <p:spPr>
          <a:xfrm>
            <a:off x="4646066" y="2834640"/>
            <a:ext cx="2899562" cy="1005840"/>
          </a:xfrm>
          <a:prstGeom prst="rect">
            <a:avLst/>
          </a:prstGeom>
          <a:noFill/>
          <a:ln/>
        </p:spPr>
        <p:txBody>
          <a:bodyPr wrap="square" lIns="0" tIns="0" rIns="0" bIns="0" rtlCol="0" anchor="ctr"/>
          <a:lstStyle/>
          <a:p>
            <a:pPr rtl="1" algn="r" indent="0" marL="0">
              <a:buNone/>
            </a:pPr>
            <a:r>
              <a:rPr lang="ar-SA" altLang="en-US" sz="6000" b="1" dirty="0">
                <a:solidFill>
                  <a:schemeClr val="accent3"/>
                </a:solidFill>
              </a:rPr>
              <a:t>$1.2</a:t>
            </a:r>
            <a:r>
              <a:rPr lang="ar-SA" altLang="en-US" sz="3000" b="1" dirty="0">
                <a:solidFill>
                  <a:schemeClr val="accent3"/>
                </a:solidFill>
              </a:rPr>
              <a:t> مليون</a:t>
            </a:r>
            <a:endParaRPr lang="ar-SA" sz="6000" dirty="0"/>
          </a:p>
        </p:txBody>
      </p:sp>
      <p:sp>
        <p:nvSpPr>
          <p:cNvPr id="13" name="market-label-2"/>
          <p:cNvSpPr txBox="1"/>
          <p:nvPr/>
        </p:nvSpPr>
        <p:spPr>
          <a:xfrm>
            <a:off x="4646066"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إيراد سنوي ممكن في غزة وحدها: 3,450 مطعمًا × 29 دولارًا × 12 شهرًا</a:t>
            </a:r>
            <a:endParaRPr lang="ar-SA" sz="1700" dirty="0"/>
          </a:p>
        </p:txBody>
      </p:sp>
      <p:sp>
        <p:nvSpPr>
          <p:cNvPr id="14" name="market-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ile-trending-up"/>
          <p:cNvSpPr/>
          <p:nvPr/>
        </p:nvSpPr>
        <p:spPr>
          <a:xfrm>
            <a:off x="3155594" y="2075688"/>
            <a:ext cx="585216" cy="585216"/>
          </a:xfrm>
          <a:prstGeom prst="roundRect">
            <a:avLst>
              <a:gd name="adj" fmla="val 26000"/>
            </a:avLst>
          </a:prstGeom>
          <a:solidFill>
            <a:schemeClr val="accent1">
              <a:alpha val="15000"/>
            </a:schemeClr>
          </a:solidFill>
          <a:ln/>
        </p:spPr>
      </p:sp>
      <p:pic>
        <p:nvPicPr>
          <p:cNvPr id="16" name="icon-trending-up"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17" name="market-stat-3"/>
          <p:cNvSpPr txBox="1"/>
          <p:nvPr/>
        </p:nvSpPr>
        <p:spPr>
          <a:xfrm>
            <a:off x="841248" y="2834640"/>
            <a:ext cx="2899562" cy="1005840"/>
          </a:xfrm>
          <a:prstGeom prst="rect">
            <a:avLst/>
          </a:prstGeom>
          <a:noFill/>
          <a:ln/>
        </p:spPr>
        <p:txBody>
          <a:bodyPr wrap="square" lIns="0" tIns="0" rIns="0" bIns="0" rtlCol="0" anchor="ctr"/>
          <a:lstStyle/>
          <a:p>
            <a:pPr algn="r" indent="0" marL="0">
              <a:buNone/>
            </a:pPr>
            <a:r>
              <a:rPr lang="en-US" sz="6000" b="1" dirty="0">
                <a:solidFill>
                  <a:schemeClr val="accent3"/>
                </a:solidFill>
              </a:rPr>
              <a:t>‎19.4%</a:t>
            </a:r>
            <a:endParaRPr lang="en-US" sz="6000" dirty="0"/>
          </a:p>
        </p:txBody>
      </p:sp>
      <p:sp>
        <p:nvSpPr>
          <p:cNvPr id="18" name="market-label-3"/>
          <p:cNvSpPr txBox="1"/>
          <p:nvPr/>
        </p:nvSpPr>
        <p:spPr>
          <a:xfrm>
            <a:off x="841248"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نمو سنوي لسوق برمجيات إدارة المطاعم عالميًا حتى 2030</a:t>
            </a:r>
            <a:endParaRPr lang="ar-SA" sz="1700" dirty="0"/>
          </a:p>
        </p:txBody>
      </p:sp>
      <p:sp>
        <p:nvSpPr>
          <p:cNvPr id="19"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0"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1"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السوق موجود… طيب مين بيدفع، وليش؟</a:t>
            </a:r>
            <a:endParaRPr lang="ar-SA" sz="1900" dirty="0"/>
          </a:p>
        </p:txBody>
      </p:sp>
      <p:sp>
        <p:nvSpPr>
          <p:cNvPr id="22"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الإحصاء الفلسطيني ووزارة السياحة والآثار، بيان يوم السياحة العالمي (2024) · Technavio، سوق برمجيات إدارة المطاعم 2025–2030 · الحساب من أسعارنا</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نموذج الربح · B2B للمطاعم والمقاهي</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اشتراك ثابت للمطعم — بلا عمولة على أي طلب</a:t>
            </a:r>
            <a:endParaRPr lang="ar-SA" sz="3600" dirty="0"/>
          </a:p>
        </p:txBody>
      </p:sp>
      <p:sp>
        <p:nvSpPr>
          <p:cNvPr id="4" name="plan-1"/>
          <p:cNvSpPr/>
          <p:nvPr/>
        </p:nvSpPr>
        <p:spPr>
          <a:xfrm>
            <a:off x="8158277" y="1783080"/>
            <a:ext cx="3484778" cy="2423160"/>
          </a:xfrm>
          <a:prstGeom prst="roundRect">
            <a:avLst>
              <a:gd name="adj" fmla="val 6038"/>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plan-name-1"/>
          <p:cNvSpPr txBox="1"/>
          <p:nvPr/>
        </p:nvSpPr>
        <p:spPr>
          <a:xfrm>
            <a:off x="8469173"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الأساسية</a:t>
            </a:r>
            <a:endParaRPr lang="ar-SA" sz="2100" dirty="0"/>
          </a:p>
        </p:txBody>
      </p:sp>
      <p:sp>
        <p:nvSpPr>
          <p:cNvPr id="6" name="plan-price-1"/>
          <p:cNvSpPr txBox="1"/>
          <p:nvPr/>
        </p:nvSpPr>
        <p:spPr>
          <a:xfrm>
            <a:off x="8469173"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3"/>
                </a:solidFill>
              </a:rPr>
              <a:t>$15</a:t>
            </a:r>
            <a:r>
              <a:rPr lang="ar-SA" altLang="en-US" sz="1800" dirty="0">
                <a:solidFill>
                  <a:schemeClr val="accent4"/>
                </a:solidFill>
              </a:rPr>
              <a:t>  شهريًا</a:t>
            </a:r>
            <a:endParaRPr lang="ar-SA" sz="1600" dirty="0"/>
          </a:p>
        </p:txBody>
      </p:sp>
      <p:sp>
        <p:nvSpPr>
          <p:cNvPr id="7" name="plan-body-1"/>
          <p:cNvSpPr txBox="1"/>
          <p:nvPr/>
        </p:nvSpPr>
        <p:spPr>
          <a:xfrm>
            <a:off x="8469173"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tx2"/>
                </a:solidFill>
              </a:rPr>
              <a:t>منيو وطاولات ورموز QR، مطبخ، نادل، كاشير، وفريق</a:t>
            </a:r>
            <a:endParaRPr lang="ar-SA" sz="1600" dirty="0"/>
          </a:p>
        </p:txBody>
      </p:sp>
      <p:sp>
        <p:nvSpPr>
          <p:cNvPr id="8" name="plan-2"/>
          <p:cNvSpPr/>
          <p:nvPr/>
        </p:nvSpPr>
        <p:spPr>
          <a:xfrm>
            <a:off x="4353458" y="1783080"/>
            <a:ext cx="3484778" cy="2423160"/>
          </a:xfrm>
          <a:prstGeom prst="roundRect">
            <a:avLst>
              <a:gd name="adj" fmla="val 6038"/>
            </a:avLst>
          </a:prstGeom>
          <a:solidFill>
            <a:schemeClr val="tx2"/>
          </a:solidFill>
          <a:ln/>
          <a:effectLst>
            <a:outerShdw sx="100000" sy="100000" kx="0" ky="0" algn="bl" rotWithShape="0" blurRad="101600" dist="25400" dir="5400000">
              <a:srgbClr val="172331">
                <a:alpha val="8000"/>
              </a:srgbClr>
            </a:outerShdw>
          </a:effectLst>
        </p:spPr>
      </p:sp>
      <p:sp>
        <p:nvSpPr>
          <p:cNvPr id="9" name="plan-popular-bg"/>
          <p:cNvSpPr/>
          <p:nvPr/>
        </p:nvSpPr>
        <p:spPr>
          <a:xfrm>
            <a:off x="4664354" y="2093976"/>
            <a:ext cx="1600200" cy="365760"/>
          </a:xfrm>
          <a:prstGeom prst="roundRect">
            <a:avLst>
              <a:gd name="adj" fmla="val 50000"/>
            </a:avLst>
          </a:prstGeom>
          <a:solidFill>
            <a:schemeClr val="accent1"/>
          </a:solidFill>
          <a:ln/>
        </p:spPr>
      </p:sp>
      <p:sp>
        <p:nvSpPr>
          <p:cNvPr id="10" name="plan-popular"/>
          <p:cNvSpPr txBox="1"/>
          <p:nvPr/>
        </p:nvSpPr>
        <p:spPr>
          <a:xfrm>
            <a:off x="4664354" y="2093976"/>
            <a:ext cx="1600200" cy="365760"/>
          </a:xfrm>
          <a:prstGeom prst="rect">
            <a:avLst/>
          </a:prstGeom>
          <a:noFill/>
          <a:ln/>
        </p:spPr>
        <p:txBody>
          <a:bodyPr wrap="square" lIns="0" tIns="0" rIns="0" bIns="0" rtlCol="0" anchor="ctr"/>
          <a:lstStyle/>
          <a:p>
            <a:pPr rtl="1" algn="ctr" indent="0" marL="0">
              <a:buNone/>
            </a:pPr>
            <a:r>
              <a:rPr lang="ar-SA" altLang="en-US" sz="1300" b="1" dirty="0">
                <a:solidFill>
                  <a:schemeClr val="tx1"/>
                </a:solidFill>
              </a:rPr>
              <a:t>الأكثر اختيارًا</a:t>
            </a:r>
            <a:endParaRPr lang="ar-SA" sz="1300" dirty="0"/>
          </a:p>
        </p:txBody>
      </p:sp>
      <p:sp>
        <p:nvSpPr>
          <p:cNvPr id="11" name="plan-name-2"/>
          <p:cNvSpPr txBox="1"/>
          <p:nvPr/>
        </p:nvSpPr>
        <p:spPr>
          <a:xfrm>
            <a:off x="4664354"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bg2"/>
                </a:solidFill>
              </a:rPr>
              <a:t>الاحترافية</a:t>
            </a:r>
            <a:endParaRPr lang="ar-SA" sz="2100" dirty="0"/>
          </a:p>
        </p:txBody>
      </p:sp>
      <p:sp>
        <p:nvSpPr>
          <p:cNvPr id="12" name="plan-price-2"/>
          <p:cNvSpPr txBox="1"/>
          <p:nvPr/>
        </p:nvSpPr>
        <p:spPr>
          <a:xfrm>
            <a:off x="4664354"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1"/>
                </a:solidFill>
              </a:rPr>
              <a:t>$29</a:t>
            </a:r>
            <a:r>
              <a:rPr lang="ar-SA" altLang="en-US" sz="1800" dirty="0">
                <a:solidFill>
                  <a:schemeClr val="bg2"/>
                </a:solidFill>
              </a:rPr>
              <a:t>  شهريًا</a:t>
            </a:r>
            <a:endParaRPr lang="ar-SA" sz="1600" dirty="0"/>
          </a:p>
        </p:txBody>
      </p:sp>
      <p:sp>
        <p:nvSpPr>
          <p:cNvPr id="13" name="plan-body-2"/>
          <p:cNvSpPr txBox="1"/>
          <p:nvPr/>
        </p:nvSpPr>
        <p:spPr>
          <a:xfrm>
            <a:off x="4664354"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bg2">
                    <a:alpha val="90000"/>
                  </a:schemeClr>
                </a:solidFill>
              </a:rPr>
              <a:t>كل الأساسية + تقارير وهوية خاصة، وبلا حدود</a:t>
            </a:r>
            <a:endParaRPr lang="ar-SA" sz="1600" dirty="0"/>
          </a:p>
        </p:txBody>
      </p:sp>
      <p:sp>
        <p:nvSpPr>
          <p:cNvPr id="14" name="plan-3"/>
          <p:cNvSpPr/>
          <p:nvPr/>
        </p:nvSpPr>
        <p:spPr>
          <a:xfrm>
            <a:off x="548640" y="1783080"/>
            <a:ext cx="3484778" cy="2423160"/>
          </a:xfrm>
          <a:prstGeom prst="roundRect">
            <a:avLst>
              <a:gd name="adj" fmla="val 6038"/>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plan-name-3"/>
          <p:cNvSpPr txBox="1"/>
          <p:nvPr/>
        </p:nvSpPr>
        <p:spPr>
          <a:xfrm>
            <a:off x="859536"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التوصيل فقط</a:t>
            </a:r>
            <a:endParaRPr lang="ar-SA" sz="2100" dirty="0"/>
          </a:p>
        </p:txBody>
      </p:sp>
      <p:sp>
        <p:nvSpPr>
          <p:cNvPr id="16" name="plan-price-3"/>
          <p:cNvSpPr txBox="1"/>
          <p:nvPr/>
        </p:nvSpPr>
        <p:spPr>
          <a:xfrm>
            <a:off x="859536"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3"/>
                </a:solidFill>
              </a:rPr>
              <a:t>$15</a:t>
            </a:r>
            <a:r>
              <a:rPr lang="ar-SA" altLang="en-US" sz="1800" dirty="0">
                <a:solidFill>
                  <a:schemeClr val="accent4"/>
                </a:solidFill>
              </a:rPr>
              <a:t>  شهريًا</a:t>
            </a:r>
            <a:endParaRPr lang="ar-SA" sz="1600" dirty="0"/>
          </a:p>
        </p:txBody>
      </p:sp>
      <p:sp>
        <p:nvSpPr>
          <p:cNvPr id="17" name="plan-body-3"/>
          <p:cNvSpPr txBox="1"/>
          <p:nvPr/>
        </p:nvSpPr>
        <p:spPr>
          <a:xfrm>
            <a:off x="859536"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tx2"/>
                </a:solidFill>
              </a:rPr>
              <a:t>لمطعم بلا صالة: طلبات استلام وتوصيل</a:t>
            </a:r>
            <a:endParaRPr lang="ar-SA" sz="1600" dirty="0"/>
          </a:p>
        </p:txBody>
      </p:sp>
      <p:sp>
        <p:nvSpPr>
          <p:cNvPr id="18" name="addon-1"/>
          <p:cNvSpPr/>
          <p:nvPr/>
        </p:nvSpPr>
        <p:spPr>
          <a:xfrm>
            <a:off x="8158277" y="4526280"/>
            <a:ext cx="3484778" cy="658368"/>
          </a:xfrm>
          <a:prstGeom prst="roundRect">
            <a:avLst>
              <a:gd name="adj" fmla="val 19444"/>
            </a:avLst>
          </a:prstGeom>
          <a:solidFill>
            <a:schemeClr val="bg1"/>
          </a:solidFill>
          <a:ln w="9525">
            <a:solidFill>
              <a:schemeClr val="accent6"/>
            </a:solidFill>
            <a:prstDash val="solid"/>
          </a:ln>
        </p:spPr>
      </p:sp>
      <p:pic>
        <p:nvPicPr>
          <p:cNvPr id="19" name="addon-icon-1" descr="preencoded.png">    </p:cNvPr>
          <p:cNvPicPr>
            <a:picLocks noChangeAspect="1"/>
          </p:cNvPicPr>
          <p:nvPr/>
        </p:nvPicPr>
        <p:blipFill>
          <a:blip r:embed="rId1"/>
          <a:stretch>
            <a:fillRect/>
          </a:stretch>
        </p:blipFill>
        <p:spPr>
          <a:xfrm>
            <a:off x="11076127" y="4709160"/>
            <a:ext cx="292608" cy="292608"/>
          </a:xfrm>
          <a:prstGeom prst="rect">
            <a:avLst/>
          </a:prstGeom>
        </p:spPr>
      </p:pic>
      <p:sp>
        <p:nvSpPr>
          <p:cNvPr id="20" name="addon-label-1"/>
          <p:cNvSpPr txBox="1"/>
          <p:nvPr/>
        </p:nvSpPr>
        <p:spPr>
          <a:xfrm>
            <a:off x="8386877"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$15</a:t>
            </a:r>
            <a:r>
              <a:rPr lang="ar-SA" altLang="en-US" sz="1600" dirty="0">
                <a:solidFill>
                  <a:schemeClr val="tx2"/>
                </a:solidFill>
              </a:rPr>
              <a:t>  إضافة التوصيل أونلاين</a:t>
            </a:r>
            <a:endParaRPr lang="ar-SA" sz="1600" dirty="0"/>
          </a:p>
        </p:txBody>
      </p:sp>
      <p:sp>
        <p:nvSpPr>
          <p:cNvPr id="21" name="addon-2"/>
          <p:cNvSpPr/>
          <p:nvPr/>
        </p:nvSpPr>
        <p:spPr>
          <a:xfrm>
            <a:off x="4353458" y="4526280"/>
            <a:ext cx="3484778" cy="658368"/>
          </a:xfrm>
          <a:prstGeom prst="roundRect">
            <a:avLst>
              <a:gd name="adj" fmla="val 19444"/>
            </a:avLst>
          </a:prstGeom>
          <a:solidFill>
            <a:schemeClr val="bg1"/>
          </a:solidFill>
          <a:ln w="9525">
            <a:solidFill>
              <a:schemeClr val="accent6"/>
            </a:solidFill>
            <a:prstDash val="solid"/>
          </a:ln>
        </p:spPr>
      </p:sp>
      <p:pic>
        <p:nvPicPr>
          <p:cNvPr id="22" name="addon-icon-2" descr="preencoded.png">    </p:cNvPr>
          <p:cNvPicPr>
            <a:picLocks noChangeAspect="1"/>
          </p:cNvPicPr>
          <p:nvPr/>
        </p:nvPicPr>
        <p:blipFill>
          <a:blip r:embed="rId2"/>
          <a:stretch>
            <a:fillRect/>
          </a:stretch>
        </p:blipFill>
        <p:spPr>
          <a:xfrm>
            <a:off x="7271309" y="4709160"/>
            <a:ext cx="292608" cy="292608"/>
          </a:xfrm>
          <a:prstGeom prst="rect">
            <a:avLst/>
          </a:prstGeom>
        </p:spPr>
      </p:pic>
      <p:sp>
        <p:nvSpPr>
          <p:cNvPr id="23" name="addon-label-2"/>
          <p:cNvSpPr txBox="1"/>
          <p:nvPr/>
        </p:nvSpPr>
        <p:spPr>
          <a:xfrm>
            <a:off x="4582058"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$5</a:t>
            </a:r>
            <a:r>
              <a:rPr lang="ar-SA" altLang="en-US" sz="1600" dirty="0">
                <a:solidFill>
                  <a:schemeClr val="tx2"/>
                </a:solidFill>
              </a:rPr>
              <a:t>  إضافة الهوية الكاملة</a:t>
            </a:r>
            <a:endParaRPr lang="ar-SA" sz="1600" dirty="0"/>
          </a:p>
        </p:txBody>
      </p:sp>
      <p:sp>
        <p:nvSpPr>
          <p:cNvPr id="24" name="addon-3"/>
          <p:cNvSpPr/>
          <p:nvPr/>
        </p:nvSpPr>
        <p:spPr>
          <a:xfrm>
            <a:off x="548640" y="4526280"/>
            <a:ext cx="3484778" cy="658368"/>
          </a:xfrm>
          <a:prstGeom prst="roundRect">
            <a:avLst>
              <a:gd name="adj" fmla="val 19444"/>
            </a:avLst>
          </a:prstGeom>
          <a:solidFill>
            <a:schemeClr val="bg1"/>
          </a:solidFill>
          <a:ln w="9525">
            <a:solidFill>
              <a:schemeClr val="accent6"/>
            </a:solidFill>
            <a:prstDash val="solid"/>
          </a:ln>
        </p:spPr>
      </p:sp>
      <p:pic>
        <p:nvPicPr>
          <p:cNvPr id="25" name="addon-icon-3" descr="preencoded.png">    </p:cNvPr>
          <p:cNvPicPr>
            <a:picLocks noChangeAspect="1"/>
          </p:cNvPicPr>
          <p:nvPr/>
        </p:nvPicPr>
        <p:blipFill>
          <a:blip r:embed="rId3"/>
          <a:stretch>
            <a:fillRect/>
          </a:stretch>
        </p:blipFill>
        <p:spPr>
          <a:xfrm>
            <a:off x="3466490" y="4709160"/>
            <a:ext cx="292608" cy="292608"/>
          </a:xfrm>
          <a:prstGeom prst="rect">
            <a:avLst/>
          </a:prstGeom>
        </p:spPr>
      </p:pic>
      <p:sp>
        <p:nvSpPr>
          <p:cNvPr id="26" name="addon-label-3"/>
          <p:cNvSpPr txBox="1"/>
          <p:nvPr/>
        </p:nvSpPr>
        <p:spPr>
          <a:xfrm>
            <a:off x="777240"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14 يومًا</a:t>
            </a:r>
            <a:r>
              <a:rPr lang="ar-SA" altLang="en-US" sz="1600" dirty="0">
                <a:solidFill>
                  <a:schemeClr val="tx2"/>
                </a:solidFill>
              </a:rPr>
              <a:t> تجربة مجانية</a:t>
            </a:r>
            <a:endParaRPr lang="ar-SA" sz="1600" dirty="0"/>
          </a:p>
        </p:txBody>
      </p:sp>
      <p:sp>
        <p:nvSpPr>
          <p:cNvPr id="27"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8"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9"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ليش بيدفع؟ $15 بالشهر = 50 سنت باليوم… أقل من ثمن طلب واحد ضاع</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المنافسون</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في بدائل كثير… بس ولا واحد بيجمع الثلاثة</a:t>
            </a:r>
            <a:endParaRPr lang="ar-SA" sz="3600" dirty="0"/>
          </a:p>
        </p:txBody>
      </p:sp>
      <p:sp>
        <p:nvSpPr>
          <p:cNvPr id="4" name="compare-table"/>
          <p:cNvSpPr/>
          <p:nvPr/>
        </p:nvSpPr>
        <p:spPr>
          <a:xfrm>
            <a:off x="548640" y="1737360"/>
            <a:ext cx="11094415" cy="3694176"/>
          </a:xfrm>
          <a:prstGeom prst="roundRect">
            <a:avLst>
              <a:gd name="adj" fmla="val 3960"/>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compare-head-1"/>
          <p:cNvSpPr txBox="1"/>
          <p:nvPr/>
        </p:nvSpPr>
        <p:spPr>
          <a:xfrm>
            <a:off x="5079797"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من الطاولة للمطبخ مباشرة</a:t>
            </a:r>
            <a:endParaRPr lang="ar-SA" sz="1700" dirty="0"/>
          </a:p>
        </p:txBody>
      </p:sp>
      <p:sp>
        <p:nvSpPr>
          <p:cNvPr id="6" name="compare-head-2"/>
          <p:cNvSpPr txBox="1"/>
          <p:nvPr/>
        </p:nvSpPr>
        <p:spPr>
          <a:xfrm>
            <a:off x="2859938"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يكمل والنت مقطوع</a:t>
            </a:r>
            <a:endParaRPr lang="ar-SA" sz="1700" dirty="0"/>
          </a:p>
        </p:txBody>
      </p:sp>
      <p:sp>
        <p:nvSpPr>
          <p:cNvPr id="7" name="compare-head-3"/>
          <p:cNvSpPr txBox="1"/>
          <p:nvPr/>
        </p:nvSpPr>
        <p:spPr>
          <a:xfrm>
            <a:off x="640080"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سعر صغير وبلا عمولة</a:t>
            </a:r>
            <a:endParaRPr lang="ar-SA" sz="1700" dirty="0"/>
          </a:p>
        </p:txBody>
      </p:sp>
      <p:sp>
        <p:nvSpPr>
          <p:cNvPr id="8" name="compare-head-name"/>
          <p:cNvSpPr txBox="1"/>
          <p:nvPr/>
        </p:nvSpPr>
        <p:spPr>
          <a:xfrm>
            <a:off x="7482535" y="1810512"/>
            <a:ext cx="3886200" cy="658368"/>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البديل</a:t>
            </a:r>
            <a:endParaRPr lang="ar-SA" sz="1500" dirty="0"/>
          </a:p>
        </p:txBody>
      </p:sp>
      <p:sp>
        <p:nvSpPr>
          <p:cNvPr id="9" name="compare-rule-1"/>
          <p:cNvSpPr/>
          <p:nvPr/>
        </p:nvSpPr>
        <p:spPr>
          <a:xfrm>
            <a:off x="777240" y="2487168"/>
            <a:ext cx="10637215" cy="0"/>
          </a:xfrm>
          <a:prstGeom prst="line">
            <a:avLst/>
          </a:prstGeom>
          <a:noFill/>
          <a:ln w="9525">
            <a:solidFill>
              <a:schemeClr val="accent6"/>
            </a:solidFill>
            <a:prstDash val="solid"/>
          </a:ln>
        </p:spPr>
      </p:sp>
      <p:sp>
        <p:nvSpPr>
          <p:cNvPr id="10" name="compare-name-1"/>
          <p:cNvSpPr txBox="1"/>
          <p:nvPr/>
        </p:nvSpPr>
        <p:spPr>
          <a:xfrm>
            <a:off x="7482535" y="2487168"/>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الورقة والنادل</a:t>
            </a:r>
            <a:r>
              <a:rPr lang="ar-SA" altLang="en-US" sz="1300" dirty="0">
                <a:solidFill>
                  <a:schemeClr val="accent4"/>
                </a:solidFill>
              </a:rPr>
              <a:t>‏  ·  الحل الموجود اليوم</a:t>
            </a:r>
            <a:endParaRPr lang="ar-SA" sz="1700" dirty="0"/>
          </a:p>
        </p:txBody>
      </p:sp>
      <p:pic>
        <p:nvPicPr>
          <p:cNvPr id="11" name="compare-1-1" descr="لا">    </p:cNvPr>
          <p:cNvPicPr>
            <a:picLocks noChangeAspect="1"/>
          </p:cNvPicPr>
          <p:nvPr/>
        </p:nvPicPr>
        <p:blipFill>
          <a:blip r:embed="rId1"/>
          <a:stretch>
            <a:fillRect/>
          </a:stretch>
        </p:blipFill>
        <p:spPr>
          <a:xfrm>
            <a:off x="5933694" y="2606040"/>
            <a:ext cx="329184" cy="329184"/>
          </a:xfrm>
          <a:prstGeom prst="rect">
            <a:avLst/>
          </a:prstGeom>
        </p:spPr>
      </p:pic>
      <p:pic>
        <p:nvPicPr>
          <p:cNvPr id="12" name="compare-1-2" descr="نعم">    </p:cNvPr>
          <p:cNvPicPr>
            <a:picLocks noChangeAspect="1"/>
          </p:cNvPicPr>
          <p:nvPr/>
        </p:nvPicPr>
        <p:blipFill>
          <a:blip r:embed="rId2"/>
          <a:stretch>
            <a:fillRect/>
          </a:stretch>
        </p:blipFill>
        <p:spPr>
          <a:xfrm>
            <a:off x="3713836" y="2606040"/>
            <a:ext cx="329184" cy="329184"/>
          </a:xfrm>
          <a:prstGeom prst="rect">
            <a:avLst/>
          </a:prstGeom>
        </p:spPr>
      </p:pic>
      <p:pic>
        <p:nvPicPr>
          <p:cNvPr id="13" name="compare-1-3" descr="نعم">    </p:cNvPr>
          <p:cNvPicPr>
            <a:picLocks noChangeAspect="1"/>
          </p:cNvPicPr>
          <p:nvPr/>
        </p:nvPicPr>
        <p:blipFill>
          <a:blip r:embed="rId3"/>
          <a:stretch>
            <a:fillRect/>
          </a:stretch>
        </p:blipFill>
        <p:spPr>
          <a:xfrm>
            <a:off x="1493977" y="2606040"/>
            <a:ext cx="329184" cy="329184"/>
          </a:xfrm>
          <a:prstGeom prst="rect">
            <a:avLst/>
          </a:prstGeom>
        </p:spPr>
      </p:pic>
      <p:sp>
        <p:nvSpPr>
          <p:cNvPr id="14" name="compare-rule-2"/>
          <p:cNvSpPr/>
          <p:nvPr/>
        </p:nvSpPr>
        <p:spPr>
          <a:xfrm>
            <a:off x="777240" y="3054096"/>
            <a:ext cx="10637215" cy="0"/>
          </a:xfrm>
          <a:prstGeom prst="line">
            <a:avLst/>
          </a:prstGeom>
          <a:noFill/>
          <a:ln w="9525">
            <a:solidFill>
              <a:schemeClr val="accent6"/>
            </a:solidFill>
            <a:prstDash val="solid"/>
          </a:ln>
        </p:spPr>
      </p:sp>
      <p:sp>
        <p:nvSpPr>
          <p:cNvPr id="15" name="compare-name-2"/>
          <p:cNvSpPr txBox="1"/>
          <p:nvPr/>
        </p:nvSpPr>
        <p:spPr>
          <a:xfrm>
            <a:off x="7482535" y="3054096"/>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منيو QR للعرض فقط</a:t>
            </a:r>
            <a:r>
              <a:rPr lang="ar-SA" altLang="en-US" sz="1300" dirty="0">
                <a:solidFill>
                  <a:schemeClr val="accent4"/>
                </a:solidFill>
              </a:rPr>
              <a:t>‏  ·  رابط أو PDF</a:t>
            </a:r>
            <a:endParaRPr lang="ar-SA" sz="1700" dirty="0"/>
          </a:p>
        </p:txBody>
      </p:sp>
      <p:pic>
        <p:nvPicPr>
          <p:cNvPr id="16" name="compare-2-1" descr="لا">    </p:cNvPr>
          <p:cNvPicPr>
            <a:picLocks noChangeAspect="1"/>
          </p:cNvPicPr>
          <p:nvPr/>
        </p:nvPicPr>
        <p:blipFill>
          <a:blip r:embed="rId4"/>
          <a:stretch>
            <a:fillRect/>
          </a:stretch>
        </p:blipFill>
        <p:spPr>
          <a:xfrm>
            <a:off x="5933694" y="3172968"/>
            <a:ext cx="329184" cy="329184"/>
          </a:xfrm>
          <a:prstGeom prst="rect">
            <a:avLst/>
          </a:prstGeom>
        </p:spPr>
      </p:pic>
      <p:pic>
        <p:nvPicPr>
          <p:cNvPr id="17" name="compare-2-2" descr="لا ينطبق">    </p:cNvPr>
          <p:cNvPicPr>
            <a:picLocks noChangeAspect="1"/>
          </p:cNvPicPr>
          <p:nvPr/>
        </p:nvPicPr>
        <p:blipFill>
          <a:blip r:embed="rId5"/>
          <a:stretch>
            <a:fillRect/>
          </a:stretch>
        </p:blipFill>
        <p:spPr>
          <a:xfrm>
            <a:off x="3713836" y="3172968"/>
            <a:ext cx="329184" cy="329184"/>
          </a:xfrm>
          <a:prstGeom prst="rect">
            <a:avLst/>
          </a:prstGeom>
        </p:spPr>
      </p:pic>
      <p:pic>
        <p:nvPicPr>
          <p:cNvPr id="18" name="compare-2-3" descr="نعم">    </p:cNvPr>
          <p:cNvPicPr>
            <a:picLocks noChangeAspect="1"/>
          </p:cNvPicPr>
          <p:nvPr/>
        </p:nvPicPr>
        <p:blipFill>
          <a:blip r:embed="rId6"/>
          <a:stretch>
            <a:fillRect/>
          </a:stretch>
        </p:blipFill>
        <p:spPr>
          <a:xfrm>
            <a:off x="1493977" y="3172968"/>
            <a:ext cx="329184" cy="329184"/>
          </a:xfrm>
          <a:prstGeom prst="rect">
            <a:avLst/>
          </a:prstGeom>
        </p:spPr>
      </p:pic>
      <p:sp>
        <p:nvSpPr>
          <p:cNvPr id="19" name="compare-rule-3"/>
          <p:cNvSpPr/>
          <p:nvPr/>
        </p:nvSpPr>
        <p:spPr>
          <a:xfrm>
            <a:off x="777240" y="3621024"/>
            <a:ext cx="10637215" cy="0"/>
          </a:xfrm>
          <a:prstGeom prst="line">
            <a:avLst/>
          </a:prstGeom>
          <a:noFill/>
          <a:ln w="9525">
            <a:solidFill>
              <a:schemeClr val="accent6"/>
            </a:solidFill>
            <a:prstDash val="solid"/>
          </a:ln>
        </p:spPr>
      </p:sp>
      <p:sp>
        <p:nvSpPr>
          <p:cNvPr id="20" name="compare-name-3"/>
          <p:cNvSpPr txBox="1"/>
          <p:nvPr/>
        </p:nvSpPr>
        <p:spPr>
          <a:xfrm>
            <a:off x="7482535" y="3621024"/>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أنظمة الكاشير POS</a:t>
            </a:r>
            <a:r>
              <a:rPr lang="ar-SA" altLang="en-US" sz="1300" dirty="0">
                <a:solidFill>
                  <a:schemeClr val="accent4"/>
                </a:solidFill>
              </a:rPr>
              <a:t>‏  ·  Foodics · Loyverse</a:t>
            </a:r>
            <a:endParaRPr lang="ar-SA" sz="1700" dirty="0"/>
          </a:p>
        </p:txBody>
      </p:sp>
      <p:pic>
        <p:nvPicPr>
          <p:cNvPr id="21" name="compare-3-1" descr="جزئيًا">    </p:cNvPr>
          <p:cNvPicPr>
            <a:picLocks noChangeAspect="1"/>
          </p:cNvPicPr>
          <p:nvPr/>
        </p:nvPicPr>
        <p:blipFill>
          <a:blip r:embed="rId7"/>
          <a:stretch>
            <a:fillRect/>
          </a:stretch>
        </p:blipFill>
        <p:spPr>
          <a:xfrm>
            <a:off x="5933694" y="3739896"/>
            <a:ext cx="329184" cy="329184"/>
          </a:xfrm>
          <a:prstGeom prst="rect">
            <a:avLst/>
          </a:prstGeom>
        </p:spPr>
      </p:pic>
      <p:pic>
        <p:nvPicPr>
          <p:cNvPr id="22" name="compare-3-2" descr="نعم">    </p:cNvPr>
          <p:cNvPicPr>
            <a:picLocks noChangeAspect="1"/>
          </p:cNvPicPr>
          <p:nvPr/>
        </p:nvPicPr>
        <p:blipFill>
          <a:blip r:embed="rId8"/>
          <a:stretch>
            <a:fillRect/>
          </a:stretch>
        </p:blipFill>
        <p:spPr>
          <a:xfrm>
            <a:off x="3713836" y="3739896"/>
            <a:ext cx="329184" cy="329184"/>
          </a:xfrm>
          <a:prstGeom prst="rect">
            <a:avLst/>
          </a:prstGeom>
        </p:spPr>
      </p:pic>
      <p:pic>
        <p:nvPicPr>
          <p:cNvPr id="23" name="compare-3-3" descr="جزئيًا">    </p:cNvPr>
          <p:cNvPicPr>
            <a:picLocks noChangeAspect="1"/>
          </p:cNvPicPr>
          <p:nvPr/>
        </p:nvPicPr>
        <p:blipFill>
          <a:blip r:embed="rId9"/>
          <a:stretch>
            <a:fillRect/>
          </a:stretch>
        </p:blipFill>
        <p:spPr>
          <a:xfrm>
            <a:off x="1493977" y="3739896"/>
            <a:ext cx="329184" cy="329184"/>
          </a:xfrm>
          <a:prstGeom prst="rect">
            <a:avLst/>
          </a:prstGeom>
        </p:spPr>
      </p:pic>
      <p:sp>
        <p:nvSpPr>
          <p:cNvPr id="24" name="compare-rule-4"/>
          <p:cNvSpPr/>
          <p:nvPr/>
        </p:nvSpPr>
        <p:spPr>
          <a:xfrm>
            <a:off x="777240" y="4187952"/>
            <a:ext cx="10637215" cy="0"/>
          </a:xfrm>
          <a:prstGeom prst="line">
            <a:avLst/>
          </a:prstGeom>
          <a:noFill/>
          <a:ln w="9525">
            <a:solidFill>
              <a:schemeClr val="accent6"/>
            </a:solidFill>
            <a:prstDash val="solid"/>
          </a:ln>
        </p:spPr>
      </p:sp>
      <p:sp>
        <p:nvSpPr>
          <p:cNvPr id="25" name="compare-name-4"/>
          <p:cNvSpPr txBox="1"/>
          <p:nvPr/>
        </p:nvSpPr>
        <p:spPr>
          <a:xfrm>
            <a:off x="7482535" y="4187952"/>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تطبيقات التوصيل</a:t>
            </a:r>
            <a:r>
              <a:rPr lang="ar-SA" altLang="en-US" sz="1300" dirty="0">
                <a:solidFill>
                  <a:schemeClr val="accent4"/>
                </a:solidFill>
              </a:rPr>
              <a:t>‏  ·  طلبات Talabat</a:t>
            </a:r>
            <a:endParaRPr lang="ar-SA" sz="1700" dirty="0"/>
          </a:p>
        </p:txBody>
      </p:sp>
      <p:pic>
        <p:nvPicPr>
          <p:cNvPr id="26" name="compare-4-1" descr="لا">    </p:cNvPr>
          <p:cNvPicPr>
            <a:picLocks noChangeAspect="1"/>
          </p:cNvPicPr>
          <p:nvPr/>
        </p:nvPicPr>
        <p:blipFill>
          <a:blip r:embed="rId10"/>
          <a:stretch>
            <a:fillRect/>
          </a:stretch>
        </p:blipFill>
        <p:spPr>
          <a:xfrm>
            <a:off x="5933694" y="4306824"/>
            <a:ext cx="329184" cy="329184"/>
          </a:xfrm>
          <a:prstGeom prst="rect">
            <a:avLst/>
          </a:prstGeom>
        </p:spPr>
      </p:pic>
      <p:pic>
        <p:nvPicPr>
          <p:cNvPr id="27" name="compare-4-2" descr="لا">    </p:cNvPr>
          <p:cNvPicPr>
            <a:picLocks noChangeAspect="1"/>
          </p:cNvPicPr>
          <p:nvPr/>
        </p:nvPicPr>
        <p:blipFill>
          <a:blip r:embed="rId11"/>
          <a:stretch>
            <a:fillRect/>
          </a:stretch>
        </p:blipFill>
        <p:spPr>
          <a:xfrm>
            <a:off x="3713836" y="4306824"/>
            <a:ext cx="329184" cy="329184"/>
          </a:xfrm>
          <a:prstGeom prst="rect">
            <a:avLst/>
          </a:prstGeom>
        </p:spPr>
      </p:pic>
      <p:pic>
        <p:nvPicPr>
          <p:cNvPr id="28" name="compare-4-3" descr="لا">    </p:cNvPr>
          <p:cNvPicPr>
            <a:picLocks noChangeAspect="1"/>
          </p:cNvPicPr>
          <p:nvPr/>
        </p:nvPicPr>
        <p:blipFill>
          <a:blip r:embed="rId12"/>
          <a:stretch>
            <a:fillRect/>
          </a:stretch>
        </p:blipFill>
        <p:spPr>
          <a:xfrm>
            <a:off x="1493977" y="4306824"/>
            <a:ext cx="329184" cy="329184"/>
          </a:xfrm>
          <a:prstGeom prst="rect">
            <a:avLst/>
          </a:prstGeom>
        </p:spPr>
      </p:pic>
      <p:sp>
        <p:nvSpPr>
          <p:cNvPr id="29" name="compare-ours"/>
          <p:cNvSpPr/>
          <p:nvPr/>
        </p:nvSpPr>
        <p:spPr>
          <a:xfrm>
            <a:off x="640080" y="4791456"/>
            <a:ext cx="10911535" cy="493776"/>
          </a:xfrm>
          <a:prstGeom prst="roundRect">
            <a:avLst>
              <a:gd name="adj" fmla="val 25926"/>
            </a:avLst>
          </a:prstGeom>
          <a:solidFill>
            <a:schemeClr val="accent1">
              <a:alpha val="14000"/>
            </a:schemeClr>
          </a:solidFill>
          <a:ln/>
        </p:spPr>
      </p:sp>
      <p:sp>
        <p:nvSpPr>
          <p:cNvPr id="30" name="compare-name-5"/>
          <p:cNvSpPr txBox="1"/>
          <p:nvPr/>
        </p:nvSpPr>
        <p:spPr>
          <a:xfrm>
            <a:off x="7482535" y="4754880"/>
            <a:ext cx="3886200" cy="566928"/>
          </a:xfrm>
          <a:prstGeom prst="rect">
            <a:avLst/>
          </a:prstGeom>
          <a:noFill/>
          <a:ln/>
        </p:spPr>
        <p:txBody>
          <a:bodyPr wrap="square" lIns="0" tIns="0" rIns="0" bIns="0" rtlCol="0" anchor="ctr"/>
          <a:lstStyle/>
          <a:p>
            <a:pPr rtl="1" algn="r" indent="0" marL="0">
              <a:buNone/>
            </a:pPr>
            <a:r>
              <a:rPr lang="ar-SA" altLang="en-US" sz="2000" b="1" dirty="0">
                <a:solidFill>
                  <a:schemeClr val="accent3"/>
                </a:solidFill>
              </a:rPr>
              <a:t>menuPilot</a:t>
            </a:r>
            <a:endParaRPr lang="ar-SA" sz="1700" dirty="0"/>
          </a:p>
        </p:txBody>
      </p:sp>
      <p:pic>
        <p:nvPicPr>
          <p:cNvPr id="31" name="compare-5-1" descr="نعم">    </p:cNvPr>
          <p:cNvPicPr>
            <a:picLocks noChangeAspect="1"/>
          </p:cNvPicPr>
          <p:nvPr/>
        </p:nvPicPr>
        <p:blipFill>
          <a:blip r:embed="rId13"/>
          <a:stretch>
            <a:fillRect/>
          </a:stretch>
        </p:blipFill>
        <p:spPr>
          <a:xfrm>
            <a:off x="5933694" y="4873752"/>
            <a:ext cx="329184" cy="329184"/>
          </a:xfrm>
          <a:prstGeom prst="rect">
            <a:avLst/>
          </a:prstGeom>
        </p:spPr>
      </p:pic>
      <p:pic>
        <p:nvPicPr>
          <p:cNvPr id="32" name="compare-5-2" descr="نعم">    </p:cNvPr>
          <p:cNvPicPr>
            <a:picLocks noChangeAspect="1"/>
          </p:cNvPicPr>
          <p:nvPr/>
        </p:nvPicPr>
        <p:blipFill>
          <a:blip r:embed="rId14"/>
          <a:stretch>
            <a:fillRect/>
          </a:stretch>
        </p:blipFill>
        <p:spPr>
          <a:xfrm>
            <a:off x="3713836" y="4873752"/>
            <a:ext cx="329184" cy="329184"/>
          </a:xfrm>
          <a:prstGeom prst="rect">
            <a:avLst/>
          </a:prstGeom>
        </p:spPr>
      </p:pic>
      <p:pic>
        <p:nvPicPr>
          <p:cNvPr id="33" name="compare-5-3" descr="نعم">    </p:cNvPr>
          <p:cNvPicPr>
            <a:picLocks noChangeAspect="1"/>
          </p:cNvPicPr>
          <p:nvPr/>
        </p:nvPicPr>
        <p:blipFill>
          <a:blip r:embed="rId15"/>
          <a:stretch>
            <a:fillRect/>
          </a:stretch>
        </p:blipFill>
        <p:spPr>
          <a:xfrm>
            <a:off x="1493977" y="4873752"/>
            <a:ext cx="329184" cy="329184"/>
          </a:xfrm>
          <a:prstGeom prst="rect">
            <a:avLst/>
          </a:prstGeom>
        </p:spPr>
      </p:pic>
      <p:pic>
        <p:nvPicPr>
          <p:cNvPr id="34" name="legend-yes" descr="preencoded.png">    </p:cNvPr>
          <p:cNvPicPr>
            <a:picLocks noChangeAspect="1"/>
          </p:cNvPicPr>
          <p:nvPr/>
        </p:nvPicPr>
        <p:blipFill>
          <a:blip r:embed="rId16"/>
          <a:stretch>
            <a:fillRect/>
          </a:stretch>
        </p:blipFill>
        <p:spPr>
          <a:xfrm>
            <a:off x="11405311" y="5596128"/>
            <a:ext cx="237744" cy="237744"/>
          </a:xfrm>
          <a:prstGeom prst="rect">
            <a:avLst/>
          </a:prstGeom>
        </p:spPr>
      </p:pic>
      <p:sp>
        <p:nvSpPr>
          <p:cNvPr id="35" name="legend-label-yes"/>
          <p:cNvSpPr txBox="1"/>
          <p:nvPr/>
        </p:nvSpPr>
        <p:spPr>
          <a:xfrm>
            <a:off x="10966399" y="5541264"/>
            <a:ext cx="3474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نعم</a:t>
            </a:r>
            <a:endParaRPr lang="ar-SA" sz="1300" dirty="0"/>
          </a:p>
        </p:txBody>
      </p:sp>
      <p:pic>
        <p:nvPicPr>
          <p:cNvPr id="36" name="legend-part" descr="preencoded.png">    </p:cNvPr>
          <p:cNvPicPr>
            <a:picLocks noChangeAspect="1"/>
          </p:cNvPicPr>
          <p:nvPr/>
        </p:nvPicPr>
        <p:blipFill>
          <a:blip r:embed="rId17"/>
          <a:stretch>
            <a:fillRect/>
          </a:stretch>
        </p:blipFill>
        <p:spPr>
          <a:xfrm>
            <a:off x="10408615" y="5596128"/>
            <a:ext cx="237744" cy="237744"/>
          </a:xfrm>
          <a:prstGeom prst="rect">
            <a:avLst/>
          </a:prstGeom>
        </p:spPr>
      </p:pic>
      <p:sp>
        <p:nvSpPr>
          <p:cNvPr id="37" name="legend-label-part"/>
          <p:cNvSpPr txBox="1"/>
          <p:nvPr/>
        </p:nvSpPr>
        <p:spPr>
          <a:xfrm>
            <a:off x="8140903" y="5541264"/>
            <a:ext cx="21762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جزئيًا أو بإضافة خارجية</a:t>
            </a:r>
            <a:endParaRPr lang="ar-SA" sz="1300" dirty="0"/>
          </a:p>
        </p:txBody>
      </p:sp>
      <p:pic>
        <p:nvPicPr>
          <p:cNvPr id="38" name="legend-no" descr="preencoded.png">    </p:cNvPr>
          <p:cNvPicPr>
            <a:picLocks noChangeAspect="1"/>
          </p:cNvPicPr>
          <p:nvPr/>
        </p:nvPicPr>
        <p:blipFill>
          <a:blip r:embed="rId18"/>
          <a:stretch>
            <a:fillRect/>
          </a:stretch>
        </p:blipFill>
        <p:spPr>
          <a:xfrm>
            <a:off x="7583119" y="5596128"/>
            <a:ext cx="237744" cy="237744"/>
          </a:xfrm>
          <a:prstGeom prst="rect">
            <a:avLst/>
          </a:prstGeom>
        </p:spPr>
      </p:pic>
      <p:sp>
        <p:nvSpPr>
          <p:cNvPr id="39" name="legend-label-no"/>
          <p:cNvSpPr txBox="1"/>
          <p:nvPr/>
        </p:nvSpPr>
        <p:spPr>
          <a:xfrm>
            <a:off x="7235647" y="5541264"/>
            <a:ext cx="25603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لا</a:t>
            </a:r>
            <a:endParaRPr lang="ar-SA" sz="1300" dirty="0"/>
          </a:p>
        </p:txBody>
      </p:sp>
      <p:pic>
        <p:nvPicPr>
          <p:cNvPr id="40" name="legend-na" descr="preencoded.png">    </p:cNvPr>
          <p:cNvPicPr>
            <a:picLocks noChangeAspect="1"/>
          </p:cNvPicPr>
          <p:nvPr/>
        </p:nvPicPr>
        <p:blipFill>
          <a:blip r:embed="rId19"/>
          <a:stretch>
            <a:fillRect/>
          </a:stretch>
        </p:blipFill>
        <p:spPr>
          <a:xfrm>
            <a:off x="6677863" y="5596128"/>
            <a:ext cx="237744" cy="237744"/>
          </a:xfrm>
          <a:prstGeom prst="rect">
            <a:avLst/>
          </a:prstGeom>
        </p:spPr>
      </p:pic>
      <p:sp>
        <p:nvSpPr>
          <p:cNvPr id="41" name="legend-label-na"/>
          <p:cNvSpPr txBox="1"/>
          <p:nvPr/>
        </p:nvSpPr>
        <p:spPr>
          <a:xfrm>
            <a:off x="5781751" y="5541264"/>
            <a:ext cx="8046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لا ينطبق</a:t>
            </a:r>
            <a:endParaRPr lang="ar-SA" sz="1300" dirty="0"/>
          </a:p>
        </p:txBody>
      </p:sp>
      <p:sp>
        <p:nvSpPr>
          <p:cNvPr id="42"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Loyverse: الطلب عبر QR بتكاملات خارجية (MENU TIGER) · Foodics: باقات من ~199 درهمًا شهريًا (G2) · عمولة تطبيقات التوصيل 15–30% (أدلة القطاع)</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الفريق</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5 مطوّرين بنينا menuPilot من الخادم لشاشة الزبون</a:t>
            </a:r>
            <a:endParaRPr lang="ar-SA" sz="3600" dirty="0"/>
          </a:p>
        </p:txBody>
      </p:sp>
      <p:sp>
        <p:nvSpPr>
          <p:cNvPr id="4" name="member-1"/>
          <p:cNvSpPr/>
          <p:nvPr/>
        </p:nvSpPr>
        <p:spPr>
          <a:xfrm>
            <a:off x="9680204" y="1783080"/>
            <a:ext cx="1962851" cy="3291840"/>
          </a:xfrm>
          <a:prstGeom prst="roundRect">
            <a:avLst>
              <a:gd name="adj" fmla="val 7454"/>
            </a:avLst>
          </a:prstGeom>
          <a:solidFill>
            <a:schemeClr val="accent1">
              <a:alpha val="10000"/>
            </a:schemeClr>
          </a:solidFill>
          <a:ln w="9525">
            <a:solidFill>
              <a:schemeClr val="accent1"/>
            </a:solidFill>
            <a:prstDash val="solid"/>
          </a:ln>
          <a:effectLst>
            <a:outerShdw sx="100000" sy="100000" kx="0" ky="0" algn="bl" rotWithShape="0" blurRad="101600" dist="25400" dir="5400000">
              <a:srgbClr val="172331">
                <a:alpha val="8000"/>
              </a:srgbClr>
            </a:outerShdw>
          </a:effectLst>
        </p:spPr>
      </p:sp>
      <p:sp>
        <p:nvSpPr>
          <p:cNvPr id="5" name="member-avatar-1"/>
          <p:cNvSpPr/>
          <p:nvPr/>
        </p:nvSpPr>
        <p:spPr>
          <a:xfrm>
            <a:off x="10158710" y="2167128"/>
            <a:ext cx="1005840" cy="1005840"/>
          </a:xfrm>
          <a:prstGeom prst="ellipse">
            <a:avLst/>
          </a:prstGeom>
          <a:solidFill>
            <a:schemeClr val="accent1"/>
          </a:solidFill>
          <a:ln/>
        </p:spPr>
      </p:sp>
      <p:sp>
        <p:nvSpPr>
          <p:cNvPr id="6" name="member-initials-1"/>
          <p:cNvSpPr txBox="1"/>
          <p:nvPr/>
        </p:nvSpPr>
        <p:spPr>
          <a:xfrm>
            <a:off x="10158710"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tx1"/>
                </a:solidFill>
              </a:rPr>
              <a:t>أ ك</a:t>
            </a:r>
            <a:endParaRPr lang="ar-SA" sz="2200" dirty="0"/>
          </a:p>
        </p:txBody>
      </p:sp>
      <p:sp>
        <p:nvSpPr>
          <p:cNvPr id="7" name="member-name-1"/>
          <p:cNvSpPr txBox="1"/>
          <p:nvPr/>
        </p:nvSpPr>
        <p:spPr>
          <a:xfrm>
            <a:off x="9817364"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أحمد الكحلوت</a:t>
            </a:r>
            <a:endParaRPr lang="ar-SA" sz="1900" dirty="0"/>
          </a:p>
        </p:txBody>
      </p:sp>
      <p:sp>
        <p:nvSpPr>
          <p:cNvPr id="8" name="member-role-1"/>
          <p:cNvSpPr txBox="1"/>
          <p:nvPr/>
        </p:nvSpPr>
        <p:spPr>
          <a:xfrm>
            <a:off x="9817364"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صاحب المشروع · قائد الفريق</a:t>
            </a:r>
            <a:endParaRPr lang="ar-SA" sz="1500" dirty="0"/>
          </a:p>
        </p:txBody>
      </p:sp>
      <p:sp>
        <p:nvSpPr>
          <p:cNvPr id="9" name="member-2"/>
          <p:cNvSpPr/>
          <p:nvPr/>
        </p:nvSpPr>
        <p:spPr>
          <a:xfrm>
            <a:off x="7397313"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member-avatar-2"/>
          <p:cNvSpPr/>
          <p:nvPr/>
        </p:nvSpPr>
        <p:spPr>
          <a:xfrm>
            <a:off x="7875819" y="2167128"/>
            <a:ext cx="1005840" cy="1005840"/>
          </a:xfrm>
          <a:prstGeom prst="ellipse">
            <a:avLst/>
          </a:prstGeom>
          <a:solidFill>
            <a:schemeClr val="tx2"/>
          </a:solidFill>
          <a:ln/>
        </p:spPr>
      </p:sp>
      <p:sp>
        <p:nvSpPr>
          <p:cNvPr id="11" name="member-initials-2"/>
          <p:cNvSpPr txBox="1"/>
          <p:nvPr/>
        </p:nvSpPr>
        <p:spPr>
          <a:xfrm>
            <a:off x="7875819"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ع ع</a:t>
            </a:r>
            <a:endParaRPr lang="ar-SA" sz="2200" dirty="0"/>
          </a:p>
        </p:txBody>
      </p:sp>
      <p:sp>
        <p:nvSpPr>
          <p:cNvPr id="12" name="member-name-2"/>
          <p:cNvSpPr txBox="1"/>
          <p:nvPr/>
        </p:nvSpPr>
        <p:spPr>
          <a:xfrm>
            <a:off x="7534473"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علي عابد</a:t>
            </a:r>
            <a:endParaRPr lang="ar-SA" sz="1900" dirty="0"/>
          </a:p>
        </p:txBody>
      </p:sp>
      <p:sp>
        <p:nvSpPr>
          <p:cNvPr id="13" name="member-role-2"/>
          <p:cNvSpPr txBox="1"/>
          <p:nvPr/>
        </p:nvSpPr>
        <p:spPr>
          <a:xfrm>
            <a:off x="7534473"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 الخادم (Laravel)</a:t>
            </a:r>
            <a:endParaRPr lang="ar-SA" sz="1500" dirty="0"/>
          </a:p>
        </p:txBody>
      </p:sp>
      <p:sp>
        <p:nvSpPr>
          <p:cNvPr id="14" name="member-3"/>
          <p:cNvSpPr/>
          <p:nvPr/>
        </p:nvSpPr>
        <p:spPr>
          <a:xfrm>
            <a:off x="5114422"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member-avatar-3"/>
          <p:cNvSpPr/>
          <p:nvPr/>
        </p:nvSpPr>
        <p:spPr>
          <a:xfrm>
            <a:off x="5592928" y="2167128"/>
            <a:ext cx="1005840" cy="1005840"/>
          </a:xfrm>
          <a:prstGeom prst="ellipse">
            <a:avLst/>
          </a:prstGeom>
          <a:solidFill>
            <a:schemeClr val="tx2"/>
          </a:solidFill>
          <a:ln/>
        </p:spPr>
      </p:sp>
      <p:sp>
        <p:nvSpPr>
          <p:cNvPr id="16" name="member-initials-3"/>
          <p:cNvSpPr txBox="1"/>
          <p:nvPr/>
        </p:nvSpPr>
        <p:spPr>
          <a:xfrm>
            <a:off x="5592928"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ع ع</a:t>
            </a:r>
            <a:endParaRPr lang="ar-SA" sz="2200" dirty="0"/>
          </a:p>
        </p:txBody>
      </p:sp>
      <p:sp>
        <p:nvSpPr>
          <p:cNvPr id="17" name="member-name-3"/>
          <p:cNvSpPr txBox="1"/>
          <p:nvPr/>
        </p:nvSpPr>
        <p:spPr>
          <a:xfrm>
            <a:off x="5251582"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عمار يحيى عمر العرعير</a:t>
            </a:r>
            <a:endParaRPr lang="ar-SA" sz="1900" dirty="0"/>
          </a:p>
        </p:txBody>
      </p:sp>
      <p:sp>
        <p:nvSpPr>
          <p:cNvPr id="18" name="member-role-3"/>
          <p:cNvSpPr txBox="1"/>
          <p:nvPr/>
        </p:nvSpPr>
        <p:spPr>
          <a:xfrm>
            <a:off x="5251582"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شريك · مطوّر الخادم (Laravel)</a:t>
            </a:r>
            <a:endParaRPr lang="ar-SA" sz="1500" dirty="0"/>
          </a:p>
        </p:txBody>
      </p:sp>
      <p:sp>
        <p:nvSpPr>
          <p:cNvPr id="19" name="member-4"/>
          <p:cNvSpPr/>
          <p:nvPr/>
        </p:nvSpPr>
        <p:spPr>
          <a:xfrm>
            <a:off x="2831531"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0" name="member-avatar-4"/>
          <p:cNvSpPr/>
          <p:nvPr/>
        </p:nvSpPr>
        <p:spPr>
          <a:xfrm>
            <a:off x="3310037" y="2167128"/>
            <a:ext cx="1005840" cy="1005840"/>
          </a:xfrm>
          <a:prstGeom prst="ellipse">
            <a:avLst/>
          </a:prstGeom>
          <a:solidFill>
            <a:schemeClr val="tx2"/>
          </a:solidFill>
          <a:ln/>
        </p:spPr>
      </p:sp>
      <p:sp>
        <p:nvSpPr>
          <p:cNvPr id="21" name="member-initials-4"/>
          <p:cNvSpPr txBox="1"/>
          <p:nvPr/>
        </p:nvSpPr>
        <p:spPr>
          <a:xfrm>
            <a:off x="3310037"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س س</a:t>
            </a:r>
            <a:endParaRPr lang="ar-SA" sz="2200" dirty="0"/>
          </a:p>
        </p:txBody>
      </p:sp>
      <p:sp>
        <p:nvSpPr>
          <p:cNvPr id="22" name="member-name-4"/>
          <p:cNvSpPr txBox="1"/>
          <p:nvPr/>
        </p:nvSpPr>
        <p:spPr>
          <a:xfrm>
            <a:off x="2968691"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سجى سقالله</a:t>
            </a:r>
            <a:endParaRPr lang="ar-SA" sz="1900" dirty="0"/>
          </a:p>
        </p:txBody>
      </p:sp>
      <p:sp>
        <p:nvSpPr>
          <p:cNvPr id="23" name="member-role-4"/>
          <p:cNvSpPr txBox="1"/>
          <p:nvPr/>
        </p:nvSpPr>
        <p:spPr>
          <a:xfrm>
            <a:off x="2968691"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مطوّرة الواجهات (React)</a:t>
            </a:r>
            <a:endParaRPr lang="ar-SA" sz="1500" dirty="0"/>
          </a:p>
        </p:txBody>
      </p:sp>
      <p:sp>
        <p:nvSpPr>
          <p:cNvPr id="24" name="member-5"/>
          <p:cNvSpPr/>
          <p:nvPr/>
        </p:nvSpPr>
        <p:spPr>
          <a:xfrm>
            <a:off x="548640"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5" name="member-avatar-5"/>
          <p:cNvSpPr/>
          <p:nvPr/>
        </p:nvSpPr>
        <p:spPr>
          <a:xfrm>
            <a:off x="1027146" y="2167128"/>
            <a:ext cx="1005840" cy="1005840"/>
          </a:xfrm>
          <a:prstGeom prst="ellipse">
            <a:avLst/>
          </a:prstGeom>
          <a:solidFill>
            <a:schemeClr val="tx2"/>
          </a:solidFill>
          <a:ln/>
        </p:spPr>
      </p:sp>
      <p:sp>
        <p:nvSpPr>
          <p:cNvPr id="26" name="member-initials-5"/>
          <p:cNvSpPr txBox="1"/>
          <p:nvPr/>
        </p:nvSpPr>
        <p:spPr>
          <a:xfrm>
            <a:off x="1027146"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ر ر</a:t>
            </a:r>
            <a:endParaRPr lang="ar-SA" sz="2200" dirty="0"/>
          </a:p>
        </p:txBody>
      </p:sp>
      <p:sp>
        <p:nvSpPr>
          <p:cNvPr id="27" name="member-name-5"/>
          <p:cNvSpPr txBox="1"/>
          <p:nvPr/>
        </p:nvSpPr>
        <p:spPr>
          <a:xfrm>
            <a:off x="685800"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رنين ريان</a:t>
            </a:r>
            <a:endParaRPr lang="ar-SA" sz="1900" dirty="0"/>
          </a:p>
        </p:txBody>
      </p:sp>
      <p:sp>
        <p:nvSpPr>
          <p:cNvPr id="28" name="member-role-5"/>
          <p:cNvSpPr txBox="1"/>
          <p:nvPr/>
        </p:nvSpPr>
        <p:spPr>
          <a:xfrm>
            <a:off x="685800"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مطوّرة الواجهات (React)</a:t>
            </a:r>
            <a:endParaRPr lang="ar-SA" sz="1500" dirty="0"/>
          </a:p>
        </p:txBody>
      </p:sp>
      <p:sp>
        <p:nvSpPr>
          <p:cNvPr id="29"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30" name="bridge-arrow" descr="preencoded.png">    </p:cNvPr>
          <p:cNvPicPr>
            <a:picLocks noChangeAspect="1"/>
          </p:cNvPicPr>
          <p:nvPr/>
        </p:nvPicPr>
        <p:blipFill>
          <a:blip r:embed="rId1"/>
          <a:stretch>
            <a:fillRect/>
          </a:stretch>
        </p:blipFill>
        <p:spPr>
          <a:xfrm>
            <a:off x="841248" y="5650992"/>
            <a:ext cx="274320" cy="274320"/>
          </a:xfrm>
          <a:prstGeom prst="rect">
            <a:avLst/>
          </a:prstGeom>
        </p:spPr>
      </p:pic>
      <p:sp>
        <p:nvSpPr>
          <p:cNvPr id="31"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كل سطر في النظام كتبناه بإيدينا — وكل واحد فينا جاهز يجاوب عن جزئه</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شكرًا لكم</a:t>
            </a:r>
            <a:endParaRPr lang="ar-SA" sz="2000" dirty="0"/>
          </a:p>
        </p:txBody>
      </p:sp>
      <p:sp>
        <p:nvSpPr>
          <p:cNvPr id="3" name="Text 0"/>
          <p:cNvSpPr/>
          <p:nvPr>
            <p:ph idx="101" type="title" hasCustomPrompt="1"/>
          </p:nvPr>
        </p:nvSpPr>
        <p:spPr>
          <a:xfrm>
            <a:off x="5486400" y="2240280"/>
            <a:ext cx="6156655" cy="2194560"/>
          </a:xfrm>
          <a:prstGeom prst="rect">
            <a:avLst/>
          </a:prstGeom>
          <a:noFill/>
          <a:ln/>
        </p:spPr>
        <p:txBody>
          <a:bodyPr wrap="square" lIns="0" tIns="0" rIns="0" bIns="0" rtlCol="0" anchor="t"/>
          <a:lstStyle/>
          <a:p>
            <a:pPr rtl="1" algn="r" indent="0" marL="0">
              <a:buNone/>
            </a:pPr>
            <a:r>
              <a:rPr lang="ar-SA" altLang="en-US" sz="4600" dirty="0">
                <a:solidFill>
                  <a:schemeClr val="bg2"/>
                </a:solidFill>
              </a:rPr>
              <a:t>المرة الجاية اللي بترفع فيها إيدك في مطعم… ما رح تضطر تستنى</a:t>
            </a:r>
            <a:endParaRPr lang="ar-SA" sz="4600" dirty="0"/>
          </a:p>
        </p:txBody>
      </p:sp>
      <p:sp>
        <p:nvSpPr>
          <p:cNvPr id="4" name="Text 0"/>
          <p:cNvSpPr/>
          <p:nvPr>
            <p:ph idx="102" type="body" hasCustomPrompt="1"/>
          </p:nvPr>
        </p:nvSpPr>
        <p:spPr>
          <a:xfrm>
            <a:off x="5486400" y="4572000"/>
            <a:ext cx="6156655" cy="82296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فريق menuPilot · جاهزين لأسئلتكم</a:t>
            </a:r>
            <a:endParaRPr lang="ar-SA" sz="2000" dirty="0"/>
          </a:p>
        </p:txBody>
      </p:sp>
      <p:pic>
        <p:nvPicPr>
          <p:cNvPr id="5" name="mark" descr="علامة menuPilot">    </p:cNvPr>
          <p:cNvPicPr>
            <a:picLocks noChangeAspect="1"/>
          </p:cNvPicPr>
          <p:nvPr/>
        </p:nvPicPr>
        <p:blipFill>
          <a:blip r:embed="rId1"/>
          <a:stretch>
            <a:fillRect/>
          </a:stretch>
        </p:blipFill>
        <p:spPr>
          <a:xfrm>
            <a:off x="1051560" y="1463040"/>
            <a:ext cx="3657600" cy="3657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0" y="246888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ملحق</a:t>
            </a:r>
            <a:endParaRPr lang="ar-SA" sz="2000" dirty="0"/>
          </a:p>
        </p:txBody>
      </p:sp>
      <p:sp>
        <p:nvSpPr>
          <p:cNvPr id="3" name="Text 0"/>
          <p:cNvSpPr/>
          <p:nvPr>
            <p:ph idx="101" type="title" hasCustomPrompt="1"/>
          </p:nvPr>
        </p:nvSpPr>
        <p:spPr>
          <a:xfrm>
            <a:off x="5486400" y="2926080"/>
            <a:ext cx="6156655" cy="868680"/>
          </a:xfrm>
          <a:prstGeom prst="rect">
            <a:avLst/>
          </a:prstGeom>
          <a:noFill/>
          <a:ln/>
        </p:spPr>
        <p:txBody>
          <a:bodyPr wrap="square" lIns="0" tIns="0" rIns="0" bIns="0" rtlCol="0" anchor="t"/>
          <a:lstStyle/>
          <a:p>
            <a:pPr rtl="1" algn="r" indent="0" marL="0">
              <a:buNone/>
            </a:pPr>
            <a:r>
              <a:rPr lang="ar-SA" altLang="en-US" sz="4600" dirty="0">
                <a:solidFill>
                  <a:schemeClr val="bg2"/>
                </a:solidFill>
              </a:rPr>
              <a:t>شرائح احتياطية</a:t>
            </a:r>
            <a:endParaRPr lang="ar-SA" sz="4600" dirty="0"/>
          </a:p>
        </p:txBody>
      </p:sp>
      <p:sp>
        <p:nvSpPr>
          <p:cNvPr id="4" name="divider-note"/>
          <p:cNvSpPr txBox="1"/>
          <p:nvPr/>
        </p:nvSpPr>
        <p:spPr>
          <a:xfrm>
            <a:off x="5486400" y="3840480"/>
            <a:ext cx="6156655" cy="45720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للأسئلة فقط — مش جزء من الخمس دقائق</a:t>
            </a:r>
            <a:endParaRPr lang="ar-SA" sz="2000" dirty="0"/>
          </a:p>
        </p:txBody>
      </p:sp>
      <p:sp>
        <p:nvSpPr>
          <p:cNvPr id="5" name="tile-message-circle-question-mark"/>
          <p:cNvSpPr/>
          <p:nvPr/>
        </p:nvSpPr>
        <p:spPr>
          <a:xfrm>
            <a:off x="1920240" y="2377440"/>
            <a:ext cx="2103120" cy="2103120"/>
          </a:xfrm>
          <a:prstGeom prst="roundRect">
            <a:avLst>
              <a:gd name="adj" fmla="val 26000"/>
            </a:avLst>
          </a:prstGeom>
          <a:solidFill>
            <a:schemeClr val="bg2">
              <a:alpha val="14000"/>
            </a:schemeClr>
          </a:solidFill>
          <a:ln/>
        </p:spPr>
      </p:sp>
      <p:pic>
        <p:nvPicPr>
          <p:cNvPr id="6" name="icon-message-circle-question-mark" descr="preencoded.png">    </p:cNvPr>
          <p:cNvPicPr>
            <a:picLocks noChangeAspect="1"/>
          </p:cNvPicPr>
          <p:nvPr/>
        </p:nvPicPr>
        <p:blipFill>
          <a:blip r:embed="rId1"/>
          <a:stretch>
            <a:fillRect/>
          </a:stretch>
        </p:blipFill>
        <p:spPr>
          <a:xfrm>
            <a:off x="2424989" y="2882189"/>
            <a:ext cx="1093622" cy="10936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التقنية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بنية بسيطة: واجهة، خادم، وقاعدة بيانات</a:t>
            </a:r>
            <a:endParaRPr lang="ar-SA" sz="3600" dirty="0"/>
          </a:p>
        </p:txBody>
      </p:sp>
      <p:sp>
        <p:nvSpPr>
          <p:cNvPr id="4" name="arch-1"/>
          <p:cNvSpPr/>
          <p:nvPr/>
        </p:nvSpPr>
        <p:spPr>
          <a:xfrm>
            <a:off x="8371637"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monitor-smartphone"/>
          <p:cNvSpPr/>
          <p:nvPr/>
        </p:nvSpPr>
        <p:spPr>
          <a:xfrm>
            <a:off x="10820095" y="2057400"/>
            <a:ext cx="548640" cy="548640"/>
          </a:xfrm>
          <a:prstGeom prst="roundRect">
            <a:avLst>
              <a:gd name="adj" fmla="val 26000"/>
            </a:avLst>
          </a:prstGeom>
          <a:solidFill>
            <a:schemeClr val="tx1">
              <a:alpha val="7000"/>
            </a:schemeClr>
          </a:solidFill>
          <a:ln/>
        </p:spPr>
      </p:sp>
      <p:pic>
        <p:nvPicPr>
          <p:cNvPr id="6" name="icon-monitor-smartphone" descr="preencoded.png">    </p:cNvPr>
          <p:cNvPicPr>
            <a:picLocks noChangeAspect="1"/>
          </p:cNvPicPr>
          <p:nvPr/>
        </p:nvPicPr>
        <p:blipFill>
          <a:blip r:embed="rId1"/>
          <a:stretch>
            <a:fillRect/>
          </a:stretch>
        </p:blipFill>
        <p:spPr>
          <a:xfrm>
            <a:off x="10951769" y="2189074"/>
            <a:ext cx="285293" cy="285293"/>
          </a:xfrm>
          <a:prstGeom prst="rect">
            <a:avLst/>
          </a:prstGeom>
        </p:spPr>
      </p:pic>
      <p:sp>
        <p:nvSpPr>
          <p:cNvPr id="7" name="arch-head-1"/>
          <p:cNvSpPr txBox="1"/>
          <p:nvPr/>
        </p:nvSpPr>
        <p:spPr>
          <a:xfrm>
            <a:off x="8645957"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الواجهات — React PWA</a:t>
            </a:r>
            <a:endParaRPr lang="ar-SA" sz="1900" dirty="0"/>
          </a:p>
        </p:txBody>
      </p:sp>
      <p:sp>
        <p:nvSpPr>
          <p:cNvPr id="8" name="arch-lines-1"/>
          <p:cNvSpPr txBox="1"/>
          <p:nvPr/>
        </p:nvSpPr>
        <p:spPr>
          <a:xfrm>
            <a:off x="8645957"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5 شاشات لـ5 أدوار</a:t>
            </a:r>
            <a:endParaRPr lang="ar-SA" sz="1500" dirty="0"/>
          </a:p>
          <a:p>
            <a:pPr rtl="1" algn="r" marL="177800" indent="-177800">
              <a:spcAft>
                <a:spcPts val="600"/>
              </a:spcAft>
              <a:buSzPct val="100000"/>
              <a:buChar char="•"/>
            </a:pPr>
            <a:r>
              <a:rPr lang="ar-SA" altLang="en-US" sz="1500" dirty="0">
                <a:solidFill>
                  <a:schemeClr val="tx2"/>
                </a:solidFill>
              </a:rPr>
              <a:t>على أي جوال أو لابتوب، بلا تثبيت</a:t>
            </a:r>
            <a:endParaRPr lang="ar-SA" sz="1500" dirty="0"/>
          </a:p>
          <a:p>
            <a:pPr rtl="1" algn="r" marL="177800" indent="-177800">
              <a:spcAft>
                <a:spcPts val="600"/>
              </a:spcAft>
              <a:buSzPct val="100000"/>
              <a:buChar char="•"/>
            </a:pPr>
            <a:r>
              <a:rPr lang="ar-SA" altLang="en-US" sz="1500" dirty="0">
                <a:solidFill>
                  <a:schemeClr val="tx2"/>
                </a:solidFill>
              </a:rPr>
              <a:t>طابور محلي يحفظ التغييرات وقت الانقطاع</a:t>
            </a:r>
            <a:endParaRPr lang="ar-SA" sz="1500" dirty="0"/>
          </a:p>
        </p:txBody>
      </p:sp>
      <p:pic>
        <p:nvPicPr>
          <p:cNvPr id="9" name="arch-link-1" descr="preencoded.png">    </p:cNvPr>
          <p:cNvPicPr>
            <a:picLocks noChangeAspect="1"/>
          </p:cNvPicPr>
          <p:nvPr/>
        </p:nvPicPr>
        <p:blipFill>
          <a:blip r:embed="rId2"/>
          <a:stretch>
            <a:fillRect/>
          </a:stretch>
        </p:blipFill>
        <p:spPr>
          <a:xfrm>
            <a:off x="7887005" y="3154680"/>
            <a:ext cx="329184" cy="329184"/>
          </a:xfrm>
          <a:prstGeom prst="rect">
            <a:avLst/>
          </a:prstGeom>
        </p:spPr>
      </p:pic>
      <p:sp>
        <p:nvSpPr>
          <p:cNvPr id="10" name="arch-2"/>
          <p:cNvSpPr/>
          <p:nvPr/>
        </p:nvSpPr>
        <p:spPr>
          <a:xfrm>
            <a:off x="4460138"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1" name="tile-server"/>
          <p:cNvSpPr/>
          <p:nvPr/>
        </p:nvSpPr>
        <p:spPr>
          <a:xfrm>
            <a:off x="6908597" y="2057400"/>
            <a:ext cx="548640" cy="548640"/>
          </a:xfrm>
          <a:prstGeom prst="roundRect">
            <a:avLst>
              <a:gd name="adj" fmla="val 26000"/>
            </a:avLst>
          </a:prstGeom>
          <a:solidFill>
            <a:schemeClr val="tx1">
              <a:alpha val="7000"/>
            </a:schemeClr>
          </a:solidFill>
          <a:ln/>
        </p:spPr>
      </p:sp>
      <p:pic>
        <p:nvPicPr>
          <p:cNvPr id="12" name="icon-server" descr="preencoded.png">    </p:cNvPr>
          <p:cNvPicPr>
            <a:picLocks noChangeAspect="1"/>
          </p:cNvPicPr>
          <p:nvPr/>
        </p:nvPicPr>
        <p:blipFill>
          <a:blip r:embed="rId3"/>
          <a:stretch>
            <a:fillRect/>
          </a:stretch>
        </p:blipFill>
        <p:spPr>
          <a:xfrm>
            <a:off x="7040270" y="2189074"/>
            <a:ext cx="285293" cy="285293"/>
          </a:xfrm>
          <a:prstGeom prst="rect">
            <a:avLst/>
          </a:prstGeom>
        </p:spPr>
      </p:pic>
      <p:sp>
        <p:nvSpPr>
          <p:cNvPr id="13" name="arch-head-2"/>
          <p:cNvSpPr txBox="1"/>
          <p:nvPr/>
        </p:nvSpPr>
        <p:spPr>
          <a:xfrm>
            <a:off x="4734458"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الخادم — Laravel API</a:t>
            </a:r>
            <a:endParaRPr lang="ar-SA" sz="1900" dirty="0"/>
          </a:p>
        </p:txBody>
      </p:sp>
      <p:sp>
        <p:nvSpPr>
          <p:cNvPr id="14" name="arch-lines-2"/>
          <p:cNvSpPr txBox="1"/>
          <p:nvPr/>
        </p:nvSpPr>
        <p:spPr>
          <a:xfrm>
            <a:off x="4734458"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أكثر من 110 نقطة API</a:t>
            </a:r>
            <a:endParaRPr lang="ar-SA" sz="1500" dirty="0"/>
          </a:p>
          <a:p>
            <a:pPr rtl="1" algn="r" marL="177800" indent="-177800">
              <a:spcAft>
                <a:spcPts val="600"/>
              </a:spcAft>
              <a:buSzPct val="100000"/>
              <a:buChar char="•"/>
            </a:pPr>
            <a:r>
              <a:rPr lang="ar-SA" altLang="en-US" sz="1500" dirty="0">
                <a:solidFill>
                  <a:schemeClr val="tx2"/>
                </a:solidFill>
              </a:rPr>
              <a:t>الصلاحيات والاشتراكات في الخادم فقط</a:t>
            </a:r>
            <a:endParaRPr lang="ar-SA" sz="1500" dirty="0"/>
          </a:p>
          <a:p>
            <a:pPr rtl="1" algn="r" marL="177800" indent="-177800">
              <a:spcAft>
                <a:spcPts val="600"/>
              </a:spcAft>
              <a:buSzPct val="100000"/>
              <a:buChar char="•"/>
            </a:pPr>
            <a:r>
              <a:rPr lang="ar-SA" altLang="en-US" sz="1500" dirty="0">
                <a:solidFill>
                  <a:schemeClr val="tx2"/>
                </a:solidFill>
              </a:rPr>
              <a:t>إشارات لحظية عبر Laravel Reverb</a:t>
            </a:r>
            <a:endParaRPr lang="ar-SA" sz="1500" dirty="0"/>
          </a:p>
        </p:txBody>
      </p:sp>
      <p:pic>
        <p:nvPicPr>
          <p:cNvPr id="15" name="arch-link-2" descr="preencoded.png">    </p:cNvPr>
          <p:cNvPicPr>
            <a:picLocks noChangeAspect="1"/>
          </p:cNvPicPr>
          <p:nvPr/>
        </p:nvPicPr>
        <p:blipFill>
          <a:blip r:embed="rId4"/>
          <a:stretch>
            <a:fillRect/>
          </a:stretch>
        </p:blipFill>
        <p:spPr>
          <a:xfrm>
            <a:off x="3975506" y="3154680"/>
            <a:ext cx="329184" cy="329184"/>
          </a:xfrm>
          <a:prstGeom prst="rect">
            <a:avLst/>
          </a:prstGeom>
        </p:spPr>
      </p:pic>
      <p:sp>
        <p:nvSpPr>
          <p:cNvPr id="16" name="arch-3"/>
          <p:cNvSpPr/>
          <p:nvPr/>
        </p:nvSpPr>
        <p:spPr>
          <a:xfrm>
            <a:off x="548640"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database"/>
          <p:cNvSpPr/>
          <p:nvPr/>
        </p:nvSpPr>
        <p:spPr>
          <a:xfrm>
            <a:off x="2997098" y="2057400"/>
            <a:ext cx="548640" cy="548640"/>
          </a:xfrm>
          <a:prstGeom prst="roundRect">
            <a:avLst>
              <a:gd name="adj" fmla="val 26000"/>
            </a:avLst>
          </a:prstGeom>
          <a:solidFill>
            <a:schemeClr val="tx1">
              <a:alpha val="7000"/>
            </a:schemeClr>
          </a:solidFill>
          <a:ln/>
        </p:spPr>
      </p:sp>
      <p:pic>
        <p:nvPicPr>
          <p:cNvPr id="18" name="icon-database" descr="preencoded.png">    </p:cNvPr>
          <p:cNvPicPr>
            <a:picLocks noChangeAspect="1"/>
          </p:cNvPicPr>
          <p:nvPr/>
        </p:nvPicPr>
        <p:blipFill>
          <a:blip r:embed="rId5"/>
          <a:stretch>
            <a:fillRect/>
          </a:stretch>
        </p:blipFill>
        <p:spPr>
          <a:xfrm>
            <a:off x="3128772" y="2189074"/>
            <a:ext cx="285293" cy="285293"/>
          </a:xfrm>
          <a:prstGeom prst="rect">
            <a:avLst/>
          </a:prstGeom>
        </p:spPr>
      </p:pic>
      <p:sp>
        <p:nvSpPr>
          <p:cNvPr id="19" name="arch-head-3"/>
          <p:cNvSpPr txBox="1"/>
          <p:nvPr/>
        </p:nvSpPr>
        <p:spPr>
          <a:xfrm>
            <a:off x="822960"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قاعدة البيانات — MySQL</a:t>
            </a:r>
            <a:endParaRPr lang="ar-SA" sz="1900" dirty="0"/>
          </a:p>
        </p:txBody>
      </p:sp>
      <p:sp>
        <p:nvSpPr>
          <p:cNvPr id="20" name="arch-lines-3"/>
          <p:cNvSpPr txBox="1"/>
          <p:nvPr/>
        </p:nvSpPr>
        <p:spPr>
          <a:xfrm>
            <a:off x="822960"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بيانات كل مطعم معزولة</a:t>
            </a:r>
            <a:endParaRPr lang="ar-SA" sz="1500" dirty="0"/>
          </a:p>
          <a:p>
            <a:pPr rtl="1" algn="r" marL="177800" indent="-177800">
              <a:spcAft>
                <a:spcPts val="600"/>
              </a:spcAft>
              <a:buSzPct val="100000"/>
              <a:buChar char="•"/>
            </a:pPr>
            <a:r>
              <a:rPr lang="ar-SA" altLang="en-US" sz="1500" dirty="0">
                <a:solidFill>
                  <a:schemeClr val="tx2"/>
                </a:solidFill>
              </a:rPr>
              <a:t>الصور محفوظة في القاعدة</a:t>
            </a:r>
            <a:endParaRPr lang="ar-SA" sz="1500" dirty="0"/>
          </a:p>
          <a:p>
            <a:pPr rtl="1" algn="r" marL="177800" indent="-177800">
              <a:spcAft>
                <a:spcPts val="600"/>
              </a:spcAft>
              <a:buSzPct val="100000"/>
              <a:buChar char="•"/>
            </a:pPr>
            <a:r>
              <a:rPr lang="ar-SA" altLang="en-US" sz="1500" dirty="0">
                <a:solidFill>
                  <a:schemeClr val="tx2"/>
                </a:solidFill>
              </a:rPr>
              <a:t>كل تغيير مهم في سجل تدقيق</a:t>
            </a:r>
            <a:endParaRPr lang="ar-SA" sz="1500" dirty="0"/>
          </a:p>
        </p:txBody>
      </p:sp>
      <p:sp>
        <p:nvSpPr>
          <p:cNvPr id="21" name="arch-ops"/>
          <p:cNvSpPr/>
          <p:nvPr/>
        </p:nvSpPr>
        <p:spPr>
          <a:xfrm>
            <a:off x="548640" y="5120640"/>
            <a:ext cx="11094415" cy="685800"/>
          </a:xfrm>
          <a:prstGeom prst="roundRect">
            <a:avLst>
              <a:gd name="adj" fmla="val 18667"/>
            </a:avLst>
          </a:prstGeom>
          <a:solidFill>
            <a:schemeClr val="bg1"/>
          </a:solidFill>
          <a:ln w="9525">
            <a:solidFill>
              <a:schemeClr val="accent6"/>
            </a:solidFill>
            <a:prstDash val="solid"/>
          </a:ln>
        </p:spPr>
      </p:sp>
      <p:sp>
        <p:nvSpPr>
          <p:cNvPr id="22" name="arch-ops-text"/>
          <p:cNvSpPr txBox="1"/>
          <p:nvPr/>
        </p:nvSpPr>
        <p:spPr>
          <a:xfrm>
            <a:off x="868680" y="5120640"/>
            <a:ext cx="10454335" cy="685800"/>
          </a:xfrm>
          <a:prstGeom prst="rect">
            <a:avLst/>
          </a:prstGeom>
          <a:noFill/>
          <a:ln/>
        </p:spPr>
        <p:txBody>
          <a:bodyPr wrap="square" lIns="0" tIns="0" rIns="0" bIns="0" rtlCol="0" anchor="ctr"/>
          <a:lstStyle/>
          <a:p>
            <a:pPr rtl="1" algn="r" indent="0" marL="0">
              <a:buNone/>
            </a:pPr>
            <a:r>
              <a:rPr lang="ar-SA" altLang="en-US" sz="1600" dirty="0">
                <a:solidFill>
                  <a:schemeClr val="tx2"/>
                </a:solidFill>
              </a:rPr>
              <a:t>النشر: الواجهة على Vercel والخادم على Render · أكثر من 170 اختبارًا آليًا · فحص إنتاج من 30 نقطة بعد كل نشر (GO / NO-GO)</a:t>
            </a:r>
            <a:endParaRPr lang="ar-SA" sz="1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بدون إنترنت</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انقطاع النت ما بيوقف المطبخ ولا الكاشير</a:t>
            </a:r>
            <a:endParaRPr lang="ar-SA" sz="3600" dirty="0"/>
          </a:p>
        </p:txBody>
      </p:sp>
      <p:sp>
        <p:nvSpPr>
          <p:cNvPr id="4" name="offline-1"/>
          <p:cNvSpPr/>
          <p:nvPr/>
        </p:nvSpPr>
        <p:spPr>
          <a:xfrm>
            <a:off x="6255868" y="1783080"/>
            <a:ext cx="5387188" cy="3200400"/>
          </a:xfrm>
          <a:prstGeom prst="roundRect">
            <a:avLst>
              <a:gd name="adj" fmla="val 457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circle-check"/>
          <p:cNvSpPr/>
          <p:nvPr/>
        </p:nvSpPr>
        <p:spPr>
          <a:xfrm>
            <a:off x="10801807" y="2057400"/>
            <a:ext cx="548640" cy="548640"/>
          </a:xfrm>
          <a:prstGeom prst="roundRect">
            <a:avLst>
              <a:gd name="adj" fmla="val 26000"/>
            </a:avLst>
          </a:prstGeom>
          <a:solidFill>
            <a:schemeClr val="accent2">
              <a:alpha val="12000"/>
            </a:schemeClr>
          </a:solidFill>
          <a:ln/>
        </p:spPr>
      </p:sp>
      <p:pic>
        <p:nvPicPr>
          <p:cNvPr id="6" name="icon-circle-check" descr="preencoded.png">    </p:cNvPr>
          <p:cNvPicPr>
            <a:picLocks noChangeAspect="1"/>
          </p:cNvPicPr>
          <p:nvPr/>
        </p:nvPicPr>
        <p:blipFill>
          <a:blip r:embed="rId1"/>
          <a:stretch>
            <a:fillRect/>
          </a:stretch>
        </p:blipFill>
        <p:spPr>
          <a:xfrm>
            <a:off x="10933481" y="2189074"/>
            <a:ext cx="285293" cy="285293"/>
          </a:xfrm>
          <a:prstGeom prst="rect">
            <a:avLst/>
          </a:prstGeom>
        </p:spPr>
      </p:pic>
      <p:sp>
        <p:nvSpPr>
          <p:cNvPr id="7" name="offline-head-1"/>
          <p:cNvSpPr txBox="1"/>
          <p:nvPr/>
        </p:nvSpPr>
        <p:spPr>
          <a:xfrm>
            <a:off x="6548476" y="2057400"/>
            <a:ext cx="4198468" cy="54864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يكمل بدون إنترنت</a:t>
            </a:r>
            <a:endParaRPr lang="ar-SA" sz="2100" dirty="0"/>
          </a:p>
        </p:txBody>
      </p:sp>
      <p:pic>
        <p:nvPicPr>
          <p:cNvPr id="8" name="offline-mark-1-1" descr="preencoded.png">    </p:cNvPr>
          <p:cNvPicPr>
            <a:picLocks noChangeAspect="1"/>
          </p:cNvPicPr>
          <p:nvPr/>
        </p:nvPicPr>
        <p:blipFill>
          <a:blip r:embed="rId2"/>
          <a:stretch>
            <a:fillRect/>
          </a:stretch>
        </p:blipFill>
        <p:spPr>
          <a:xfrm>
            <a:off x="11076127" y="2926080"/>
            <a:ext cx="274320" cy="274320"/>
          </a:xfrm>
          <a:prstGeom prst="rect">
            <a:avLst/>
          </a:prstGeom>
        </p:spPr>
      </p:pic>
      <p:sp>
        <p:nvSpPr>
          <p:cNvPr id="9" name="offline-item-1-1"/>
          <p:cNvSpPr txBox="1"/>
          <p:nvPr/>
        </p:nvSpPr>
        <p:spPr>
          <a:xfrm>
            <a:off x="6548476" y="2834640"/>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التطبيق وكل الشاشات تفتح عادي</a:t>
            </a:r>
            <a:endParaRPr lang="ar-SA" sz="1700" dirty="0"/>
          </a:p>
        </p:txBody>
      </p:sp>
      <p:pic>
        <p:nvPicPr>
          <p:cNvPr id="10" name="offline-mark-1-2" descr="preencoded.png">    </p:cNvPr>
          <p:cNvPicPr>
            <a:picLocks noChangeAspect="1"/>
          </p:cNvPicPr>
          <p:nvPr/>
        </p:nvPicPr>
        <p:blipFill>
          <a:blip r:embed="rId3"/>
          <a:stretch>
            <a:fillRect/>
          </a:stretch>
        </p:blipFill>
        <p:spPr>
          <a:xfrm>
            <a:off x="11076127" y="3438144"/>
            <a:ext cx="274320" cy="274320"/>
          </a:xfrm>
          <a:prstGeom prst="rect">
            <a:avLst/>
          </a:prstGeom>
        </p:spPr>
      </p:pic>
      <p:sp>
        <p:nvSpPr>
          <p:cNvPr id="11" name="offline-item-1-2"/>
          <p:cNvSpPr txBox="1"/>
          <p:nvPr/>
        </p:nvSpPr>
        <p:spPr>
          <a:xfrm>
            <a:off x="6548476" y="3346704"/>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آخر نسخة من الطلبات والطاولات والفواتير</a:t>
            </a:r>
            <a:endParaRPr lang="ar-SA" sz="1700" dirty="0"/>
          </a:p>
        </p:txBody>
      </p:sp>
      <p:pic>
        <p:nvPicPr>
          <p:cNvPr id="12" name="offline-mark-1-3" descr="preencoded.png">    </p:cNvPr>
          <p:cNvPicPr>
            <a:picLocks noChangeAspect="1"/>
          </p:cNvPicPr>
          <p:nvPr/>
        </p:nvPicPr>
        <p:blipFill>
          <a:blip r:embed="rId4"/>
          <a:stretch>
            <a:fillRect/>
          </a:stretch>
        </p:blipFill>
        <p:spPr>
          <a:xfrm>
            <a:off x="11076127" y="3950208"/>
            <a:ext cx="274320" cy="274320"/>
          </a:xfrm>
          <a:prstGeom prst="rect">
            <a:avLst/>
          </a:prstGeom>
        </p:spPr>
      </p:pic>
      <p:sp>
        <p:nvSpPr>
          <p:cNvPr id="13" name="offline-item-1-3"/>
          <p:cNvSpPr txBox="1"/>
          <p:nvPr/>
        </p:nvSpPr>
        <p:spPr>
          <a:xfrm>
            <a:off x="6548476" y="3858768"/>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المطبخ يغيّر حالة الطلب</a:t>
            </a:r>
            <a:endParaRPr lang="ar-SA" sz="1700" dirty="0"/>
          </a:p>
        </p:txBody>
      </p:sp>
      <p:pic>
        <p:nvPicPr>
          <p:cNvPr id="14" name="offline-mark-1-4" descr="preencoded.png">    </p:cNvPr>
          <p:cNvPicPr>
            <a:picLocks noChangeAspect="1"/>
          </p:cNvPicPr>
          <p:nvPr/>
        </p:nvPicPr>
        <p:blipFill>
          <a:blip r:embed="rId5"/>
          <a:stretch>
            <a:fillRect/>
          </a:stretch>
        </p:blipFill>
        <p:spPr>
          <a:xfrm>
            <a:off x="11076127" y="4462272"/>
            <a:ext cx="274320" cy="274320"/>
          </a:xfrm>
          <a:prstGeom prst="rect">
            <a:avLst/>
          </a:prstGeom>
        </p:spPr>
      </p:pic>
      <p:sp>
        <p:nvSpPr>
          <p:cNvPr id="15" name="offline-item-1-4"/>
          <p:cNvSpPr txBox="1"/>
          <p:nvPr/>
        </p:nvSpPr>
        <p:spPr>
          <a:xfrm>
            <a:off x="6548476" y="4370832"/>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الكاشير يسجّل دفعة ويغلق جلسة</a:t>
            </a:r>
            <a:endParaRPr lang="ar-SA" sz="1700" dirty="0"/>
          </a:p>
        </p:txBody>
      </p:sp>
      <p:sp>
        <p:nvSpPr>
          <p:cNvPr id="16" name="offline-2"/>
          <p:cNvSpPr/>
          <p:nvPr/>
        </p:nvSpPr>
        <p:spPr>
          <a:xfrm>
            <a:off x="548640" y="1783080"/>
            <a:ext cx="5387188" cy="3200400"/>
          </a:xfrm>
          <a:prstGeom prst="roundRect">
            <a:avLst>
              <a:gd name="adj" fmla="val 457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hourglass"/>
          <p:cNvSpPr/>
          <p:nvPr/>
        </p:nvSpPr>
        <p:spPr>
          <a:xfrm>
            <a:off x="5094580" y="2057400"/>
            <a:ext cx="548640" cy="548640"/>
          </a:xfrm>
          <a:prstGeom prst="roundRect">
            <a:avLst>
              <a:gd name="adj" fmla="val 26000"/>
            </a:avLst>
          </a:prstGeom>
          <a:solidFill>
            <a:schemeClr val="accent1">
              <a:alpha val="15000"/>
            </a:schemeClr>
          </a:solidFill>
          <a:ln/>
        </p:spPr>
      </p:sp>
      <p:pic>
        <p:nvPicPr>
          <p:cNvPr id="18" name="icon-hourglass" descr="preencoded.png">    </p:cNvPr>
          <p:cNvPicPr>
            <a:picLocks noChangeAspect="1"/>
          </p:cNvPicPr>
          <p:nvPr/>
        </p:nvPicPr>
        <p:blipFill>
          <a:blip r:embed="rId6"/>
          <a:stretch>
            <a:fillRect/>
          </a:stretch>
        </p:blipFill>
        <p:spPr>
          <a:xfrm>
            <a:off x="5226253" y="2189074"/>
            <a:ext cx="285293" cy="285293"/>
          </a:xfrm>
          <a:prstGeom prst="rect">
            <a:avLst/>
          </a:prstGeom>
        </p:spPr>
      </p:pic>
      <p:sp>
        <p:nvSpPr>
          <p:cNvPr id="19" name="offline-head-2"/>
          <p:cNvSpPr txBox="1"/>
          <p:nvPr/>
        </p:nvSpPr>
        <p:spPr>
          <a:xfrm>
            <a:off x="841248" y="2057400"/>
            <a:ext cx="4198468" cy="54864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يستنى رجوع الاتصال</a:t>
            </a:r>
            <a:endParaRPr lang="ar-SA" sz="2100" dirty="0"/>
          </a:p>
        </p:txBody>
      </p:sp>
      <p:pic>
        <p:nvPicPr>
          <p:cNvPr id="20" name="offline-mark-2-1" descr="preencoded.png">    </p:cNvPr>
          <p:cNvPicPr>
            <a:picLocks noChangeAspect="1"/>
          </p:cNvPicPr>
          <p:nvPr/>
        </p:nvPicPr>
        <p:blipFill>
          <a:blip r:embed="rId7"/>
          <a:stretch>
            <a:fillRect/>
          </a:stretch>
        </p:blipFill>
        <p:spPr>
          <a:xfrm>
            <a:off x="5368900" y="2926080"/>
            <a:ext cx="274320" cy="274320"/>
          </a:xfrm>
          <a:prstGeom prst="rect">
            <a:avLst/>
          </a:prstGeom>
        </p:spPr>
      </p:pic>
      <p:sp>
        <p:nvSpPr>
          <p:cNvPr id="21" name="offline-item-2-1"/>
          <p:cNvSpPr txBox="1"/>
          <p:nvPr/>
        </p:nvSpPr>
        <p:spPr>
          <a:xfrm>
            <a:off x="841248" y="2834640"/>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طلبات جديدة من جوالات الزبائن</a:t>
            </a:r>
            <a:endParaRPr lang="ar-SA" sz="1700" dirty="0"/>
          </a:p>
        </p:txBody>
      </p:sp>
      <p:pic>
        <p:nvPicPr>
          <p:cNvPr id="22" name="offline-mark-2-2" descr="preencoded.png">    </p:cNvPr>
          <p:cNvPicPr>
            <a:picLocks noChangeAspect="1"/>
          </p:cNvPicPr>
          <p:nvPr/>
        </p:nvPicPr>
        <p:blipFill>
          <a:blip r:embed="rId8"/>
          <a:stretch>
            <a:fillRect/>
          </a:stretch>
        </p:blipFill>
        <p:spPr>
          <a:xfrm>
            <a:off x="5368900" y="3438144"/>
            <a:ext cx="274320" cy="274320"/>
          </a:xfrm>
          <a:prstGeom prst="rect">
            <a:avLst/>
          </a:prstGeom>
        </p:spPr>
      </p:pic>
      <p:sp>
        <p:nvSpPr>
          <p:cNvPr id="23" name="offline-item-2-2"/>
          <p:cNvSpPr txBox="1"/>
          <p:nvPr/>
        </p:nvSpPr>
        <p:spPr>
          <a:xfrm>
            <a:off x="841248" y="3346704"/>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تسجيل الدخول وتعديل المنيو</a:t>
            </a:r>
            <a:endParaRPr lang="ar-SA" sz="1700" dirty="0"/>
          </a:p>
        </p:txBody>
      </p:sp>
      <p:sp>
        <p:nvSpPr>
          <p:cNvPr id="24" name="offline-how"/>
          <p:cNvSpPr/>
          <p:nvPr/>
        </p:nvSpPr>
        <p:spPr>
          <a:xfrm>
            <a:off x="548640" y="5303520"/>
            <a:ext cx="11094415" cy="685800"/>
          </a:xfrm>
          <a:prstGeom prst="roundRect">
            <a:avLst>
              <a:gd name="adj" fmla="val 18667"/>
            </a:avLst>
          </a:prstGeom>
          <a:solidFill>
            <a:schemeClr val="bg1"/>
          </a:solidFill>
          <a:ln w="9525">
            <a:solidFill>
              <a:schemeClr val="accent6"/>
            </a:solidFill>
            <a:prstDash val="solid"/>
          </a:ln>
        </p:spPr>
      </p:sp>
      <p:sp>
        <p:nvSpPr>
          <p:cNvPr id="25" name="offline-how-text"/>
          <p:cNvSpPr txBox="1"/>
          <p:nvPr/>
        </p:nvSpPr>
        <p:spPr>
          <a:xfrm>
            <a:off x="868680" y="5303520"/>
            <a:ext cx="10454335" cy="685800"/>
          </a:xfrm>
          <a:prstGeom prst="rect">
            <a:avLst/>
          </a:prstGeom>
          <a:noFill/>
          <a:ln/>
        </p:spPr>
        <p:txBody>
          <a:bodyPr wrap="square" lIns="0" tIns="0" rIns="0" bIns="0" rtlCol="0" anchor="ctr"/>
          <a:lstStyle/>
          <a:p>
            <a:pPr rtl="1" algn="r" indent="0" marL="0">
              <a:buNone/>
            </a:pPr>
            <a:r>
              <a:rPr lang="ar-SA" altLang="en-US" sz="1600" dirty="0">
                <a:solidFill>
                  <a:schemeClr val="tx2"/>
                </a:solidFill>
              </a:rPr>
              <a:t>كل تغيير بيتحفظ بطابور على الجهاز مع مفتاح Idempotency — فالدفعة ما بتنحسب مرتين حتى لو انبعتت مرتين</a:t>
            </a:r>
            <a:endParaRPr lang="ar-SA" sz="1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الأمان</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كل مطعم معزول، وكل جلسة إلها مفتاح</a:t>
            </a:r>
            <a:endParaRPr lang="ar-SA" sz="3600" dirty="0"/>
          </a:p>
        </p:txBody>
      </p:sp>
      <p:sp>
        <p:nvSpPr>
          <p:cNvPr id="4" name="security-1"/>
          <p:cNvSpPr/>
          <p:nvPr/>
        </p:nvSpPr>
        <p:spPr>
          <a:xfrm>
            <a:off x="6255868" y="178308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lock"/>
          <p:cNvSpPr/>
          <p:nvPr/>
        </p:nvSpPr>
        <p:spPr>
          <a:xfrm>
            <a:off x="10765231" y="2075688"/>
            <a:ext cx="585216" cy="585216"/>
          </a:xfrm>
          <a:prstGeom prst="roundRect">
            <a:avLst>
              <a:gd name="adj" fmla="val 26000"/>
            </a:avLst>
          </a:prstGeom>
          <a:solidFill>
            <a:schemeClr val="tx1">
              <a:alpha val="7000"/>
            </a:schemeClr>
          </a:solidFill>
          <a:ln/>
        </p:spPr>
      </p:sp>
      <p:pic>
        <p:nvPicPr>
          <p:cNvPr id="6" name="icon-lock"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security-head-1"/>
          <p:cNvSpPr txBox="1"/>
          <p:nvPr/>
        </p:nvSpPr>
        <p:spPr>
          <a:xfrm>
            <a:off x="6548476" y="205740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مفتاح سري لكل جلسة زبون</a:t>
            </a:r>
            <a:endParaRPr lang="ar-SA" sz="2100" dirty="0"/>
          </a:p>
        </p:txBody>
      </p:sp>
      <p:sp>
        <p:nvSpPr>
          <p:cNvPr id="8" name="security-body-1"/>
          <p:cNvSpPr txBox="1"/>
          <p:nvPr/>
        </p:nvSpPr>
        <p:spPr>
          <a:xfrm>
            <a:off x="6548476" y="260604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رقم الجلسة وحده ما بيكفي للوصول إليها</a:t>
            </a:r>
            <a:endParaRPr lang="ar-SA" sz="1700" dirty="0"/>
          </a:p>
        </p:txBody>
      </p:sp>
      <p:sp>
        <p:nvSpPr>
          <p:cNvPr id="9" name="security-2"/>
          <p:cNvSpPr/>
          <p:nvPr/>
        </p:nvSpPr>
        <p:spPr>
          <a:xfrm>
            <a:off x="548640" y="178308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tile-map-pin"/>
          <p:cNvSpPr/>
          <p:nvPr/>
        </p:nvSpPr>
        <p:spPr>
          <a:xfrm>
            <a:off x="5058004" y="2075688"/>
            <a:ext cx="585216" cy="585216"/>
          </a:xfrm>
          <a:prstGeom prst="roundRect">
            <a:avLst>
              <a:gd name="adj" fmla="val 26000"/>
            </a:avLst>
          </a:prstGeom>
          <a:solidFill>
            <a:schemeClr val="tx1">
              <a:alpha val="7000"/>
            </a:schemeClr>
          </a:solidFill>
          <a:ln/>
        </p:spPr>
      </p:sp>
      <p:pic>
        <p:nvPicPr>
          <p:cNvPr id="11" name="icon-map-pin" descr="preencoded.png">    </p:cNvPr>
          <p:cNvPicPr>
            <a:picLocks noChangeAspect="1"/>
          </p:cNvPicPr>
          <p:nvPr/>
        </p:nvPicPr>
        <p:blipFill>
          <a:blip r:embed="rId2"/>
          <a:stretch>
            <a:fillRect/>
          </a:stretch>
        </p:blipFill>
        <p:spPr>
          <a:xfrm>
            <a:off x="5198455" y="2216140"/>
            <a:ext cx="304312" cy="304312"/>
          </a:xfrm>
          <a:prstGeom prst="rect">
            <a:avLst/>
          </a:prstGeom>
        </p:spPr>
      </p:pic>
      <p:sp>
        <p:nvSpPr>
          <p:cNvPr id="12" name="security-head-2"/>
          <p:cNvSpPr txBox="1"/>
          <p:nvPr/>
        </p:nvSpPr>
        <p:spPr>
          <a:xfrm>
            <a:off x="841248" y="205740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تحقق من الموقع</a:t>
            </a:r>
            <a:endParaRPr lang="ar-SA" sz="2100" dirty="0"/>
          </a:p>
        </p:txBody>
      </p:sp>
      <p:sp>
        <p:nvSpPr>
          <p:cNvPr id="13" name="security-body-2"/>
          <p:cNvSpPr txBox="1"/>
          <p:nvPr/>
        </p:nvSpPr>
        <p:spPr>
          <a:xfrm>
            <a:off x="841248" y="260604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الطلب من الطاولة بس من داخل 200 متر من المطعم — فما في طلبات وهمية</a:t>
            </a:r>
            <a:endParaRPr lang="ar-SA" sz="1700" dirty="0"/>
          </a:p>
        </p:txBody>
      </p:sp>
      <p:sp>
        <p:nvSpPr>
          <p:cNvPr id="14" name="security-3"/>
          <p:cNvSpPr/>
          <p:nvPr/>
        </p:nvSpPr>
        <p:spPr>
          <a:xfrm>
            <a:off x="6255868" y="379476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ile-shield-check"/>
          <p:cNvSpPr/>
          <p:nvPr/>
        </p:nvSpPr>
        <p:spPr>
          <a:xfrm>
            <a:off x="10765231" y="4087368"/>
            <a:ext cx="585216" cy="585216"/>
          </a:xfrm>
          <a:prstGeom prst="roundRect">
            <a:avLst>
              <a:gd name="adj" fmla="val 26000"/>
            </a:avLst>
          </a:prstGeom>
          <a:solidFill>
            <a:schemeClr val="tx1">
              <a:alpha val="7000"/>
            </a:schemeClr>
          </a:solidFill>
          <a:ln/>
        </p:spPr>
      </p:sp>
      <p:pic>
        <p:nvPicPr>
          <p:cNvPr id="16" name="icon-shield-check" descr="preencoded.png">    </p:cNvPr>
          <p:cNvPicPr>
            <a:picLocks noChangeAspect="1"/>
          </p:cNvPicPr>
          <p:nvPr/>
        </p:nvPicPr>
        <p:blipFill>
          <a:blip r:embed="rId3"/>
          <a:stretch>
            <a:fillRect/>
          </a:stretch>
        </p:blipFill>
        <p:spPr>
          <a:xfrm>
            <a:off x="10905683" y="4227820"/>
            <a:ext cx="304312" cy="304312"/>
          </a:xfrm>
          <a:prstGeom prst="rect">
            <a:avLst/>
          </a:prstGeom>
        </p:spPr>
      </p:pic>
      <p:sp>
        <p:nvSpPr>
          <p:cNvPr id="17" name="security-head-3"/>
          <p:cNvSpPr txBox="1"/>
          <p:nvPr/>
        </p:nvSpPr>
        <p:spPr>
          <a:xfrm>
            <a:off x="6548476" y="406908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صلاحيات لكل دور</a:t>
            </a:r>
            <a:endParaRPr lang="ar-SA" sz="2100" dirty="0"/>
          </a:p>
        </p:txBody>
      </p:sp>
      <p:sp>
        <p:nvSpPr>
          <p:cNvPr id="18" name="security-body-3"/>
          <p:cNvSpPr txBox="1"/>
          <p:nvPr/>
        </p:nvSpPr>
        <p:spPr>
          <a:xfrm>
            <a:off x="6548476" y="461772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كل موظف بيشوف ويعدّل اللي بيخص دوره فقط، والمالك بيتحكم</a:t>
            </a:r>
            <a:endParaRPr lang="ar-SA" sz="1700" dirty="0"/>
          </a:p>
        </p:txBody>
      </p:sp>
      <p:sp>
        <p:nvSpPr>
          <p:cNvPr id="19" name="security-4"/>
          <p:cNvSpPr/>
          <p:nvPr/>
        </p:nvSpPr>
        <p:spPr>
          <a:xfrm>
            <a:off x="548640" y="379476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0" name="tile-building-2"/>
          <p:cNvSpPr/>
          <p:nvPr/>
        </p:nvSpPr>
        <p:spPr>
          <a:xfrm>
            <a:off x="5058004" y="4087368"/>
            <a:ext cx="585216" cy="585216"/>
          </a:xfrm>
          <a:prstGeom prst="roundRect">
            <a:avLst>
              <a:gd name="adj" fmla="val 26000"/>
            </a:avLst>
          </a:prstGeom>
          <a:solidFill>
            <a:schemeClr val="tx1">
              <a:alpha val="7000"/>
            </a:schemeClr>
          </a:solidFill>
          <a:ln/>
        </p:spPr>
      </p:sp>
      <p:pic>
        <p:nvPicPr>
          <p:cNvPr id="21" name="icon-building-2" descr="preencoded.png">    </p:cNvPr>
          <p:cNvPicPr>
            <a:picLocks noChangeAspect="1"/>
          </p:cNvPicPr>
          <p:nvPr/>
        </p:nvPicPr>
        <p:blipFill>
          <a:blip r:embed="rId4"/>
          <a:stretch>
            <a:fillRect/>
          </a:stretch>
        </p:blipFill>
        <p:spPr>
          <a:xfrm>
            <a:off x="5198455" y="4227820"/>
            <a:ext cx="304312" cy="304312"/>
          </a:xfrm>
          <a:prstGeom prst="rect">
            <a:avLst/>
          </a:prstGeom>
        </p:spPr>
      </p:pic>
      <p:sp>
        <p:nvSpPr>
          <p:cNvPr id="22" name="security-head-4"/>
          <p:cNvSpPr txBox="1"/>
          <p:nvPr/>
        </p:nvSpPr>
        <p:spPr>
          <a:xfrm>
            <a:off x="841248" y="406908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عزل بين المطاعم</a:t>
            </a:r>
            <a:endParaRPr lang="ar-SA" sz="2100" dirty="0"/>
          </a:p>
        </p:txBody>
      </p:sp>
      <p:sp>
        <p:nvSpPr>
          <p:cNvPr id="23" name="security-body-4"/>
          <p:cNvSpPr txBox="1"/>
          <p:nvPr/>
        </p:nvSpPr>
        <p:spPr>
          <a:xfrm>
            <a:off x="841248" y="461772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بيانات كل مطعم معزولة، ومغطّاة باختبارات</a:t>
            </a:r>
            <a:endParaRPr lang="ar-SA" sz="17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الباقات</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الباقات والإضافات بالتفصيل</a:t>
            </a:r>
            <a:endParaRPr lang="ar-SA" sz="3600" dirty="0"/>
          </a:p>
        </p:txBody>
      </p:sp>
      <p:sp>
        <p:nvSpPr>
          <p:cNvPr id="4" name="plans-table"/>
          <p:cNvSpPr/>
          <p:nvPr/>
        </p:nvSpPr>
        <p:spPr>
          <a:xfrm>
            <a:off x="548640" y="1737360"/>
            <a:ext cx="11094415" cy="3712464"/>
          </a:xfrm>
          <a:prstGeom prst="roundRect">
            <a:avLst>
              <a:gd name="adj" fmla="val 394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plans-head-bg"/>
          <p:cNvSpPr/>
          <p:nvPr/>
        </p:nvSpPr>
        <p:spPr>
          <a:xfrm>
            <a:off x="621792" y="1810512"/>
            <a:ext cx="10948111" cy="530352"/>
          </a:xfrm>
          <a:prstGeom prst="roundRect">
            <a:avLst>
              <a:gd name="adj" fmla="val 20690"/>
            </a:avLst>
          </a:prstGeom>
          <a:solidFill>
            <a:schemeClr val="bg2"/>
          </a:solidFill>
          <a:ln/>
        </p:spPr>
      </p:sp>
      <p:sp>
        <p:nvSpPr>
          <p:cNvPr id="6" name="plans-head-1"/>
          <p:cNvSpPr txBox="1"/>
          <p:nvPr/>
        </p:nvSpPr>
        <p:spPr>
          <a:xfrm>
            <a:off x="9265615" y="1783080"/>
            <a:ext cx="224028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الباقة</a:t>
            </a:r>
            <a:endParaRPr lang="ar-SA" sz="1500" dirty="0"/>
          </a:p>
        </p:txBody>
      </p:sp>
      <p:sp>
        <p:nvSpPr>
          <p:cNvPr id="7" name="plans-head-2"/>
          <p:cNvSpPr txBox="1"/>
          <p:nvPr/>
        </p:nvSpPr>
        <p:spPr>
          <a:xfrm>
            <a:off x="784829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السعر شهريًا</a:t>
            </a:r>
            <a:endParaRPr lang="ar-SA" sz="1500" dirty="0"/>
          </a:p>
        </p:txBody>
      </p:sp>
      <p:sp>
        <p:nvSpPr>
          <p:cNvPr id="8" name="plans-head-3"/>
          <p:cNvSpPr txBox="1"/>
          <p:nvPr/>
        </p:nvSpPr>
        <p:spPr>
          <a:xfrm>
            <a:off x="643097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الطاولات</a:t>
            </a:r>
            <a:endParaRPr lang="ar-SA" sz="1500" dirty="0"/>
          </a:p>
        </p:txBody>
      </p:sp>
      <p:sp>
        <p:nvSpPr>
          <p:cNvPr id="9" name="plans-head-4"/>
          <p:cNvSpPr txBox="1"/>
          <p:nvPr/>
        </p:nvSpPr>
        <p:spPr>
          <a:xfrm>
            <a:off x="501365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الأصناف</a:t>
            </a:r>
            <a:endParaRPr lang="ar-SA" sz="1500" dirty="0"/>
          </a:p>
        </p:txBody>
      </p:sp>
      <p:sp>
        <p:nvSpPr>
          <p:cNvPr id="10" name="plans-head-5"/>
          <p:cNvSpPr txBox="1"/>
          <p:nvPr/>
        </p:nvSpPr>
        <p:spPr>
          <a:xfrm>
            <a:off x="685800" y="1783080"/>
            <a:ext cx="4053535"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أبرز ما فيها</a:t>
            </a:r>
            <a:endParaRPr lang="ar-SA" sz="1500" dirty="0"/>
          </a:p>
        </p:txBody>
      </p:sp>
      <p:sp>
        <p:nvSpPr>
          <p:cNvPr id="11" name="plans-1-1"/>
          <p:cNvSpPr txBox="1"/>
          <p:nvPr/>
        </p:nvSpPr>
        <p:spPr>
          <a:xfrm>
            <a:off x="9265615" y="2386584"/>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الأساسية</a:t>
            </a:r>
            <a:endParaRPr lang="ar-SA" sz="1700" dirty="0"/>
          </a:p>
        </p:txBody>
      </p:sp>
      <p:sp>
        <p:nvSpPr>
          <p:cNvPr id="12" name="plans-1-2"/>
          <p:cNvSpPr txBox="1"/>
          <p:nvPr/>
        </p:nvSpPr>
        <p:spPr>
          <a:xfrm>
            <a:off x="7848295" y="2386584"/>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13" name="plans-1-3"/>
          <p:cNvSpPr txBox="1"/>
          <p:nvPr/>
        </p:nvSpPr>
        <p:spPr>
          <a:xfrm>
            <a:off x="6430975" y="2386584"/>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10</a:t>
            </a:r>
            <a:endParaRPr lang="ar-SA" sz="1500" dirty="0"/>
          </a:p>
        </p:txBody>
      </p:sp>
      <p:sp>
        <p:nvSpPr>
          <p:cNvPr id="14" name="plans-1-4"/>
          <p:cNvSpPr txBox="1"/>
          <p:nvPr/>
        </p:nvSpPr>
        <p:spPr>
          <a:xfrm>
            <a:off x="5013655" y="2386584"/>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50</a:t>
            </a:r>
            <a:endParaRPr lang="ar-SA" sz="1500" dirty="0"/>
          </a:p>
        </p:txBody>
      </p:sp>
      <p:sp>
        <p:nvSpPr>
          <p:cNvPr id="15" name="plans-1-5"/>
          <p:cNvSpPr txBox="1"/>
          <p:nvPr/>
        </p:nvSpPr>
        <p:spPr>
          <a:xfrm>
            <a:off x="685800" y="2386584"/>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التشغيل كامل: منيو، QR، مطبخ، نادل، كاشير، فريق</a:t>
            </a:r>
            <a:endParaRPr lang="ar-SA" sz="1500" dirty="0"/>
          </a:p>
        </p:txBody>
      </p:sp>
      <p:sp>
        <p:nvSpPr>
          <p:cNvPr id="16" name="plans-rule-2"/>
          <p:cNvSpPr/>
          <p:nvPr/>
        </p:nvSpPr>
        <p:spPr>
          <a:xfrm>
            <a:off x="777240" y="2990088"/>
            <a:ext cx="10637215" cy="0"/>
          </a:xfrm>
          <a:prstGeom prst="line">
            <a:avLst/>
          </a:prstGeom>
          <a:noFill/>
          <a:ln w="9525">
            <a:solidFill>
              <a:schemeClr val="accent6"/>
            </a:solidFill>
            <a:prstDash val="solid"/>
          </a:ln>
        </p:spPr>
      </p:sp>
      <p:sp>
        <p:nvSpPr>
          <p:cNvPr id="17" name="plans-2-1"/>
          <p:cNvSpPr txBox="1"/>
          <p:nvPr/>
        </p:nvSpPr>
        <p:spPr>
          <a:xfrm>
            <a:off x="9265615" y="2990088"/>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الاحترافية</a:t>
            </a:r>
            <a:endParaRPr lang="ar-SA" sz="1700" dirty="0"/>
          </a:p>
        </p:txBody>
      </p:sp>
      <p:sp>
        <p:nvSpPr>
          <p:cNvPr id="18" name="plans-2-2"/>
          <p:cNvSpPr txBox="1"/>
          <p:nvPr/>
        </p:nvSpPr>
        <p:spPr>
          <a:xfrm>
            <a:off x="7848295" y="2990088"/>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‎$29</a:t>
            </a:r>
            <a:endParaRPr lang="en-US" sz="1800" dirty="0"/>
          </a:p>
        </p:txBody>
      </p:sp>
      <p:sp>
        <p:nvSpPr>
          <p:cNvPr id="19" name="plans-2-3"/>
          <p:cNvSpPr txBox="1"/>
          <p:nvPr/>
        </p:nvSpPr>
        <p:spPr>
          <a:xfrm>
            <a:off x="6430975" y="2990088"/>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بلا حدود</a:t>
            </a:r>
            <a:endParaRPr lang="ar-SA" sz="1500" dirty="0"/>
          </a:p>
        </p:txBody>
      </p:sp>
      <p:sp>
        <p:nvSpPr>
          <p:cNvPr id="20" name="plans-2-4"/>
          <p:cNvSpPr txBox="1"/>
          <p:nvPr/>
        </p:nvSpPr>
        <p:spPr>
          <a:xfrm>
            <a:off x="5013655" y="2990088"/>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بلا حدود</a:t>
            </a:r>
            <a:endParaRPr lang="ar-SA" sz="1500" dirty="0"/>
          </a:p>
        </p:txBody>
      </p:sp>
      <p:sp>
        <p:nvSpPr>
          <p:cNvPr id="21" name="plans-2-5"/>
          <p:cNvSpPr txBox="1"/>
          <p:nvPr/>
        </p:nvSpPr>
        <p:spPr>
          <a:xfrm>
            <a:off x="685800" y="2990088"/>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 تقارير، سجل الطلبات، تنبيهات ذكية، هوية المنيو</a:t>
            </a:r>
            <a:endParaRPr lang="ar-SA" sz="1500" dirty="0"/>
          </a:p>
        </p:txBody>
      </p:sp>
      <p:sp>
        <p:nvSpPr>
          <p:cNvPr id="22" name="plans-rule-3"/>
          <p:cNvSpPr/>
          <p:nvPr/>
        </p:nvSpPr>
        <p:spPr>
          <a:xfrm>
            <a:off x="777240" y="3593592"/>
            <a:ext cx="10637215" cy="0"/>
          </a:xfrm>
          <a:prstGeom prst="line">
            <a:avLst/>
          </a:prstGeom>
          <a:noFill/>
          <a:ln w="9525">
            <a:solidFill>
              <a:schemeClr val="accent6"/>
            </a:solidFill>
            <a:prstDash val="solid"/>
          </a:ln>
        </p:spPr>
      </p:sp>
      <p:sp>
        <p:nvSpPr>
          <p:cNvPr id="23" name="plans-3-1"/>
          <p:cNvSpPr txBox="1"/>
          <p:nvPr/>
        </p:nvSpPr>
        <p:spPr>
          <a:xfrm>
            <a:off x="9265615" y="3593592"/>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التوصيل فقط</a:t>
            </a:r>
            <a:endParaRPr lang="ar-SA" sz="1700" dirty="0"/>
          </a:p>
        </p:txBody>
      </p:sp>
      <p:sp>
        <p:nvSpPr>
          <p:cNvPr id="24" name="plans-3-2"/>
          <p:cNvSpPr txBox="1"/>
          <p:nvPr/>
        </p:nvSpPr>
        <p:spPr>
          <a:xfrm>
            <a:off x="7848295" y="3593592"/>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25" name="plans-3-3"/>
          <p:cNvSpPr txBox="1"/>
          <p:nvPr/>
        </p:nvSpPr>
        <p:spPr>
          <a:xfrm>
            <a:off x="6430975" y="3593592"/>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a:t>
            </a:r>
            <a:endParaRPr lang="ar-SA" sz="1500" dirty="0"/>
          </a:p>
        </p:txBody>
      </p:sp>
      <p:sp>
        <p:nvSpPr>
          <p:cNvPr id="26" name="plans-3-4"/>
          <p:cNvSpPr txBox="1"/>
          <p:nvPr/>
        </p:nvSpPr>
        <p:spPr>
          <a:xfrm>
            <a:off x="5013655" y="3593592"/>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50</a:t>
            </a:r>
            <a:endParaRPr lang="ar-SA" sz="1500" dirty="0"/>
          </a:p>
        </p:txBody>
      </p:sp>
      <p:sp>
        <p:nvSpPr>
          <p:cNvPr id="27" name="plans-3-5"/>
          <p:cNvSpPr txBox="1"/>
          <p:nvPr/>
        </p:nvSpPr>
        <p:spPr>
          <a:xfrm>
            <a:off x="685800" y="3593592"/>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طلب أونلاين (استلام وتوصيل) لمطعم بلا صالة</a:t>
            </a:r>
            <a:endParaRPr lang="ar-SA" sz="1500" dirty="0"/>
          </a:p>
        </p:txBody>
      </p:sp>
      <p:sp>
        <p:nvSpPr>
          <p:cNvPr id="28" name="plans-rule-4"/>
          <p:cNvSpPr/>
          <p:nvPr/>
        </p:nvSpPr>
        <p:spPr>
          <a:xfrm>
            <a:off x="777240" y="4197096"/>
            <a:ext cx="10637215" cy="0"/>
          </a:xfrm>
          <a:prstGeom prst="line">
            <a:avLst/>
          </a:prstGeom>
          <a:noFill/>
          <a:ln w="9525">
            <a:solidFill>
              <a:schemeClr val="accent6"/>
            </a:solidFill>
            <a:prstDash val="solid"/>
          </a:ln>
        </p:spPr>
      </p:sp>
      <p:sp>
        <p:nvSpPr>
          <p:cNvPr id="29" name="plans-4-1"/>
          <p:cNvSpPr txBox="1"/>
          <p:nvPr/>
        </p:nvSpPr>
        <p:spPr>
          <a:xfrm>
            <a:off x="9265615" y="4197096"/>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إضافة التوصيل</a:t>
            </a:r>
            <a:endParaRPr lang="ar-SA" sz="1700" dirty="0"/>
          </a:p>
        </p:txBody>
      </p:sp>
      <p:sp>
        <p:nvSpPr>
          <p:cNvPr id="30" name="plans-4-2"/>
          <p:cNvSpPr txBox="1"/>
          <p:nvPr/>
        </p:nvSpPr>
        <p:spPr>
          <a:xfrm>
            <a:off x="7848295" y="4197096"/>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31" name="plans-4-5"/>
          <p:cNvSpPr txBox="1"/>
          <p:nvPr/>
        </p:nvSpPr>
        <p:spPr>
          <a:xfrm>
            <a:off x="685800" y="4197096"/>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طلب أونلاين، مع الأساسية أو الاحترافية</a:t>
            </a:r>
            <a:endParaRPr lang="ar-SA" sz="1500" dirty="0"/>
          </a:p>
        </p:txBody>
      </p:sp>
      <p:sp>
        <p:nvSpPr>
          <p:cNvPr id="32" name="plans-rule-5"/>
          <p:cNvSpPr/>
          <p:nvPr/>
        </p:nvSpPr>
        <p:spPr>
          <a:xfrm>
            <a:off x="777240" y="4800600"/>
            <a:ext cx="10637215" cy="0"/>
          </a:xfrm>
          <a:prstGeom prst="line">
            <a:avLst/>
          </a:prstGeom>
          <a:noFill/>
          <a:ln w="9525">
            <a:solidFill>
              <a:schemeClr val="accent6"/>
            </a:solidFill>
            <a:prstDash val="solid"/>
          </a:ln>
        </p:spPr>
      </p:sp>
      <p:sp>
        <p:nvSpPr>
          <p:cNvPr id="33" name="plans-5-1"/>
          <p:cNvSpPr txBox="1"/>
          <p:nvPr/>
        </p:nvSpPr>
        <p:spPr>
          <a:xfrm>
            <a:off x="9265615" y="4800600"/>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إضافة الهوية الكاملة</a:t>
            </a:r>
            <a:endParaRPr lang="ar-SA" sz="1700" dirty="0"/>
          </a:p>
        </p:txBody>
      </p:sp>
      <p:sp>
        <p:nvSpPr>
          <p:cNvPr id="34" name="plans-5-2"/>
          <p:cNvSpPr txBox="1"/>
          <p:nvPr/>
        </p:nvSpPr>
        <p:spPr>
          <a:xfrm>
            <a:off x="7848295" y="4800600"/>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‎$5</a:t>
            </a:r>
            <a:endParaRPr lang="en-US" sz="1800" dirty="0"/>
          </a:p>
        </p:txBody>
      </p:sp>
      <p:sp>
        <p:nvSpPr>
          <p:cNvPr id="35" name="plans-5-5"/>
          <p:cNvSpPr txBox="1"/>
          <p:nvPr/>
        </p:nvSpPr>
        <p:spPr>
          <a:xfrm>
            <a:off x="685800" y="4800600"/>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مع الاحترافية: خط وألوان خاصة وإخفاء الشعار</a:t>
            </a:r>
            <a:endParaRPr lang="ar-SA" sz="1500" dirty="0"/>
          </a:p>
        </p:txBody>
      </p:sp>
      <p:sp>
        <p:nvSpPr>
          <p:cNvPr id="36" name="plans-note"/>
          <p:cNvSpPr txBox="1"/>
          <p:nvPr/>
        </p:nvSpPr>
        <p:spPr>
          <a:xfrm>
            <a:off x="548640" y="5577840"/>
            <a:ext cx="11094415" cy="548640"/>
          </a:xfrm>
          <a:prstGeom prst="rect">
            <a:avLst/>
          </a:prstGeom>
          <a:noFill/>
          <a:ln/>
        </p:spPr>
        <p:txBody>
          <a:bodyPr wrap="square" lIns="0" tIns="0" rIns="0" bIns="0" rtlCol="0" anchor="ctr"/>
          <a:lstStyle/>
          <a:p>
            <a:pPr rtl="1" algn="r" indent="0" marL="0">
              <a:buNone/>
            </a:pPr>
            <a:r>
              <a:rPr lang="ar-SA" altLang="en-US" sz="1500" dirty="0">
                <a:solidFill>
                  <a:schemeClr val="tx2"/>
                </a:solidFill>
              </a:rPr>
              <a:t>السنوي: ادفع 10 أشهر واحصل على 12 · تجربة مجانية 14 يومًا بلا صفحة دفع · بعدها مهلة 3 أيام، ثم وضع مقيّد تبقى فيه القراءة متاحة</a:t>
            </a:r>
            <a:endParaRPr lang="ar-SA" sz="15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خطة الوصول</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من التجربة للاشتراك في 3 خطوات</a:t>
            </a:r>
            <a:endParaRPr lang="ar-SA" sz="3600" dirty="0"/>
          </a:p>
        </p:txBody>
      </p:sp>
      <p:sp>
        <p:nvSpPr>
          <p:cNvPr id="4" name="step-1"/>
          <p:cNvSpPr/>
          <p:nvPr/>
        </p:nvSpPr>
        <p:spPr>
          <a:xfrm>
            <a:off x="8371637"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step-num-bg-1"/>
          <p:cNvSpPr/>
          <p:nvPr/>
        </p:nvSpPr>
        <p:spPr>
          <a:xfrm>
            <a:off x="10710367" y="2075688"/>
            <a:ext cx="640080" cy="640080"/>
          </a:xfrm>
          <a:prstGeom prst="ellipse">
            <a:avLst/>
          </a:prstGeom>
          <a:solidFill>
            <a:schemeClr val="accent1"/>
          </a:solidFill>
          <a:ln/>
        </p:spPr>
      </p:sp>
      <p:sp>
        <p:nvSpPr>
          <p:cNvPr id="6" name="step-num-1"/>
          <p:cNvSpPr txBox="1"/>
          <p:nvPr/>
        </p:nvSpPr>
        <p:spPr>
          <a:xfrm>
            <a:off x="10710367"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pic>
        <p:nvPicPr>
          <p:cNvPr id="7" name="step-icon-1" descr="preencoded.png">    </p:cNvPr>
          <p:cNvPicPr>
            <a:picLocks noChangeAspect="1"/>
          </p:cNvPicPr>
          <p:nvPr/>
        </p:nvPicPr>
        <p:blipFill>
          <a:blip r:embed="rId1"/>
          <a:stretch>
            <a:fillRect/>
          </a:stretch>
        </p:blipFill>
        <p:spPr>
          <a:xfrm>
            <a:off x="8664245" y="2194560"/>
            <a:ext cx="402336" cy="402336"/>
          </a:xfrm>
          <a:prstGeom prst="rect">
            <a:avLst/>
          </a:prstGeom>
        </p:spPr>
      </p:pic>
      <p:sp>
        <p:nvSpPr>
          <p:cNvPr id="8" name="step-head-1"/>
          <p:cNvSpPr txBox="1"/>
          <p:nvPr/>
        </p:nvSpPr>
        <p:spPr>
          <a:xfrm>
            <a:off x="8664245"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جرّبه بدون تسجيل</a:t>
            </a:r>
            <a:endParaRPr lang="ar-SA" sz="2100" dirty="0"/>
          </a:p>
        </p:txBody>
      </p:sp>
      <p:sp>
        <p:nvSpPr>
          <p:cNvPr id="9" name="step-body-1"/>
          <p:cNvSpPr txBox="1"/>
          <p:nvPr/>
        </p:nvSpPr>
        <p:spPr>
          <a:xfrm>
            <a:off x="8664245"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مطعم تجريبي حي لكل دور: مالك، مطبخ، كاشير، نادل، وزبون</a:t>
            </a:r>
            <a:endParaRPr lang="ar-SA" sz="1700" dirty="0"/>
          </a:p>
        </p:txBody>
      </p:sp>
      <p:pic>
        <p:nvPicPr>
          <p:cNvPr id="10" name="step-link-1" descr="preencoded.png">    </p:cNvPr>
          <p:cNvPicPr>
            <a:picLocks noChangeAspect="1"/>
          </p:cNvPicPr>
          <p:nvPr/>
        </p:nvPicPr>
        <p:blipFill>
          <a:blip r:embed="rId2"/>
          <a:stretch>
            <a:fillRect/>
          </a:stretch>
        </p:blipFill>
        <p:spPr>
          <a:xfrm>
            <a:off x="7887005" y="2990088"/>
            <a:ext cx="329184" cy="329184"/>
          </a:xfrm>
          <a:prstGeom prst="rect">
            <a:avLst/>
          </a:prstGeom>
        </p:spPr>
      </p:pic>
      <p:sp>
        <p:nvSpPr>
          <p:cNvPr id="11" name="step-2"/>
          <p:cNvSpPr/>
          <p:nvPr/>
        </p:nvSpPr>
        <p:spPr>
          <a:xfrm>
            <a:off x="4460138"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step-num-bg-2"/>
          <p:cNvSpPr/>
          <p:nvPr/>
        </p:nvSpPr>
        <p:spPr>
          <a:xfrm>
            <a:off x="6798869" y="2075688"/>
            <a:ext cx="640080" cy="640080"/>
          </a:xfrm>
          <a:prstGeom prst="ellipse">
            <a:avLst/>
          </a:prstGeom>
          <a:solidFill>
            <a:schemeClr val="accent1"/>
          </a:solidFill>
          <a:ln/>
        </p:spPr>
      </p:sp>
      <p:sp>
        <p:nvSpPr>
          <p:cNvPr id="13" name="step-num-2"/>
          <p:cNvSpPr txBox="1"/>
          <p:nvPr/>
        </p:nvSpPr>
        <p:spPr>
          <a:xfrm>
            <a:off x="6798869"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pic>
        <p:nvPicPr>
          <p:cNvPr id="14" name="step-icon-2" descr="preencoded.png">    </p:cNvPr>
          <p:cNvPicPr>
            <a:picLocks noChangeAspect="1"/>
          </p:cNvPicPr>
          <p:nvPr/>
        </p:nvPicPr>
        <p:blipFill>
          <a:blip r:embed="rId3"/>
          <a:stretch>
            <a:fillRect/>
          </a:stretch>
        </p:blipFill>
        <p:spPr>
          <a:xfrm>
            <a:off x="4752746" y="2194560"/>
            <a:ext cx="402336" cy="402336"/>
          </a:xfrm>
          <a:prstGeom prst="rect">
            <a:avLst/>
          </a:prstGeom>
        </p:spPr>
      </p:pic>
      <p:sp>
        <p:nvSpPr>
          <p:cNvPr id="15" name="step-head-2"/>
          <p:cNvSpPr txBox="1"/>
          <p:nvPr/>
        </p:nvSpPr>
        <p:spPr>
          <a:xfrm>
            <a:off x="4752746"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14 يومًا مجانًا</a:t>
            </a:r>
            <a:endParaRPr lang="ar-SA" sz="2100" dirty="0"/>
          </a:p>
        </p:txBody>
      </p:sp>
      <p:sp>
        <p:nvSpPr>
          <p:cNvPr id="16" name="step-body-2"/>
          <p:cNvSpPr txBox="1"/>
          <p:nvPr/>
        </p:nvSpPr>
        <p:spPr>
          <a:xfrm>
            <a:off x="4752746"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كل الميزات مفتوحة، وبلا صفحة دفع عند التسجيل</a:t>
            </a:r>
            <a:endParaRPr lang="ar-SA" sz="1700" dirty="0"/>
          </a:p>
        </p:txBody>
      </p:sp>
      <p:pic>
        <p:nvPicPr>
          <p:cNvPr id="17" name="step-link-2" descr="preencoded.png">    </p:cNvPr>
          <p:cNvPicPr>
            <a:picLocks noChangeAspect="1"/>
          </p:cNvPicPr>
          <p:nvPr/>
        </p:nvPicPr>
        <p:blipFill>
          <a:blip r:embed="rId4"/>
          <a:stretch>
            <a:fillRect/>
          </a:stretch>
        </p:blipFill>
        <p:spPr>
          <a:xfrm>
            <a:off x="3975506" y="2990088"/>
            <a:ext cx="329184" cy="329184"/>
          </a:xfrm>
          <a:prstGeom prst="rect">
            <a:avLst/>
          </a:prstGeom>
        </p:spPr>
      </p:pic>
      <p:sp>
        <p:nvSpPr>
          <p:cNvPr id="18" name="step-3"/>
          <p:cNvSpPr/>
          <p:nvPr/>
        </p:nvSpPr>
        <p:spPr>
          <a:xfrm>
            <a:off x="548640"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9" name="step-num-bg-3"/>
          <p:cNvSpPr/>
          <p:nvPr/>
        </p:nvSpPr>
        <p:spPr>
          <a:xfrm>
            <a:off x="2887370" y="2075688"/>
            <a:ext cx="640080" cy="640080"/>
          </a:xfrm>
          <a:prstGeom prst="ellipse">
            <a:avLst/>
          </a:prstGeom>
          <a:solidFill>
            <a:schemeClr val="accent1"/>
          </a:solidFill>
          <a:ln/>
        </p:spPr>
      </p:sp>
      <p:sp>
        <p:nvSpPr>
          <p:cNvPr id="20" name="step-num-3"/>
          <p:cNvSpPr txBox="1"/>
          <p:nvPr/>
        </p:nvSpPr>
        <p:spPr>
          <a:xfrm>
            <a:off x="2887370"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pic>
        <p:nvPicPr>
          <p:cNvPr id="21" name="step-icon-3" descr="preencoded.png">    </p:cNvPr>
          <p:cNvPicPr>
            <a:picLocks noChangeAspect="1"/>
          </p:cNvPicPr>
          <p:nvPr/>
        </p:nvPicPr>
        <p:blipFill>
          <a:blip r:embed="rId5"/>
          <a:stretch>
            <a:fillRect/>
          </a:stretch>
        </p:blipFill>
        <p:spPr>
          <a:xfrm>
            <a:off x="841248" y="2194560"/>
            <a:ext cx="402336" cy="402336"/>
          </a:xfrm>
          <a:prstGeom prst="rect">
            <a:avLst/>
          </a:prstGeom>
        </p:spPr>
      </p:pic>
      <p:sp>
        <p:nvSpPr>
          <p:cNvPr id="22" name="step-head-3"/>
          <p:cNvSpPr txBox="1"/>
          <p:nvPr/>
        </p:nvSpPr>
        <p:spPr>
          <a:xfrm>
            <a:off x="841248"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الاشتراك</a:t>
            </a:r>
            <a:endParaRPr lang="ar-SA" sz="2100" dirty="0"/>
          </a:p>
        </p:txBody>
      </p:sp>
      <p:sp>
        <p:nvSpPr>
          <p:cNvPr id="23" name="step-body-3"/>
          <p:cNvSpPr txBox="1"/>
          <p:nvPr/>
        </p:nvSpPr>
        <p:spPr>
          <a:xfrm>
            <a:off x="841248"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شهري أو سنوي — والسنوي 12 شهرًا بسعر 10</a:t>
            </a:r>
            <a:endParaRPr lang="ar-SA" sz="1700" dirty="0"/>
          </a:p>
        </p:txBody>
      </p:sp>
      <p:sp>
        <p:nvSpPr>
          <p:cNvPr id="24" name="bridge"/>
          <p:cNvSpPr/>
          <p:nvPr/>
        </p:nvSpPr>
        <p:spPr>
          <a:xfrm>
            <a:off x="548640" y="4937760"/>
            <a:ext cx="11094415" cy="566928"/>
          </a:xfrm>
          <a:prstGeom prst="roundRect">
            <a:avLst>
              <a:gd name="adj" fmla="val 25806"/>
            </a:avLst>
          </a:prstGeom>
          <a:solidFill>
            <a:schemeClr val="accent1">
              <a:alpha val="13000"/>
            </a:schemeClr>
          </a:solidFill>
          <a:ln/>
        </p:spPr>
      </p:sp>
      <p:pic>
        <p:nvPicPr>
          <p:cNvPr id="25" name="bridge-arrow" descr="preencoded.png">    </p:cNvPr>
          <p:cNvPicPr>
            <a:picLocks noChangeAspect="1"/>
          </p:cNvPicPr>
          <p:nvPr/>
        </p:nvPicPr>
        <p:blipFill>
          <a:blip r:embed="rId6"/>
          <a:stretch>
            <a:fillRect/>
          </a:stretch>
        </p:blipFill>
        <p:spPr>
          <a:xfrm>
            <a:off x="841248" y="5084064"/>
            <a:ext cx="274320" cy="274320"/>
          </a:xfrm>
          <a:prstGeom prst="rect">
            <a:avLst/>
          </a:prstGeom>
        </p:spPr>
      </p:pic>
      <p:sp>
        <p:nvSpPr>
          <p:cNvPr id="26" name="bridge-text"/>
          <p:cNvSpPr txBox="1"/>
          <p:nvPr/>
        </p:nvSpPr>
        <p:spPr>
          <a:xfrm>
            <a:off x="1371600" y="4937760"/>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أول هدف: المطاعم والمقاهي اللي بتعيد افتتاحها في غزة، والمطابخ اللي بتشتغل توصيل فقط</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المصادر</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مصدر كل رقم في العرض</a:t>
            </a:r>
            <a:endParaRPr lang="ar-SA" sz="3600" dirty="0"/>
          </a:p>
        </p:txBody>
      </p:sp>
      <p:sp>
        <p:nvSpPr>
          <p:cNvPr id="4" name="refs"/>
          <p:cNvSpPr/>
          <p:nvPr/>
        </p:nvSpPr>
        <p:spPr>
          <a:xfrm>
            <a:off x="548640" y="1737360"/>
            <a:ext cx="11094415" cy="4462272"/>
          </a:xfrm>
          <a:prstGeom prst="roundRect">
            <a:avLst>
              <a:gd name="adj" fmla="val 327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ref-num-1"/>
          <p:cNvSpPr txBox="1"/>
          <p:nvPr/>
        </p:nvSpPr>
        <p:spPr>
          <a:xfrm>
            <a:off x="11048695" y="1828800"/>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‎1</a:t>
            </a:r>
            <a:endParaRPr lang="en-US" sz="1600" dirty="0"/>
          </a:p>
        </p:txBody>
      </p:sp>
      <p:sp>
        <p:nvSpPr>
          <p:cNvPr id="6" name="ref-title-1"/>
          <p:cNvSpPr txBox="1"/>
          <p:nvPr/>
        </p:nvSpPr>
        <p:spPr>
          <a:xfrm>
            <a:off x="822960" y="1828800"/>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Union (2023) — استطلاع الطلب والدفع عبر الجوال، 1,000+ بالغ أمريكي</a:t>
            </a:r>
            <a:r>
              <a:rPr lang="ar-SA" altLang="en-US" sz="1400" dirty="0">
                <a:solidFill>
                  <a:schemeClr val="accent3"/>
                </a:solidFill>
              </a:rPr>
              <a:t>‏  —  10 دقائق انتظار · 22% يغادرون · 38% يقلّلون البقشيش</a:t>
            </a:r>
            <a:endParaRPr lang="ar-SA" sz="1400" dirty="0"/>
          </a:p>
        </p:txBody>
      </p:sp>
      <p:sp>
        <p:nvSpPr>
          <p:cNvPr id="7" name="ref-url-1"/>
          <p:cNvSpPr txBox="1"/>
          <p:nvPr/>
        </p:nvSpPr>
        <p:spPr>
          <a:xfrm>
            <a:off x="822960" y="2176272"/>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prnewswire.com — New Consumer Survey Signals Mobile Ordering and Payment in Bars and Restaurants is Here to Stay</a:t>
            </a:r>
            <a:endParaRPr lang="ar-SA" sz="1100" dirty="0"/>
          </a:p>
        </p:txBody>
      </p:sp>
      <p:sp>
        <p:nvSpPr>
          <p:cNvPr id="8" name="ref-rule-2"/>
          <p:cNvSpPr/>
          <p:nvPr/>
        </p:nvSpPr>
        <p:spPr>
          <a:xfrm>
            <a:off x="777240" y="2523744"/>
            <a:ext cx="10637215" cy="0"/>
          </a:xfrm>
          <a:prstGeom prst="line">
            <a:avLst/>
          </a:prstGeom>
          <a:noFill/>
          <a:ln w="9525">
            <a:solidFill>
              <a:schemeClr val="accent6"/>
            </a:solidFill>
            <a:prstDash val="solid"/>
          </a:ln>
        </p:spPr>
      </p:sp>
      <p:sp>
        <p:nvSpPr>
          <p:cNvPr id="9" name="ref-num-2"/>
          <p:cNvSpPr txBox="1"/>
          <p:nvPr/>
        </p:nvSpPr>
        <p:spPr>
          <a:xfrm>
            <a:off x="11048695" y="2542032"/>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0" name="ref-title-2"/>
          <p:cNvSpPr txBox="1"/>
          <p:nvPr/>
        </p:nvSpPr>
        <p:spPr>
          <a:xfrm>
            <a:off x="822960" y="2542032"/>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Access Now (2023) — Palestine Unplugged</a:t>
            </a:r>
            <a:r>
              <a:rPr lang="ar-SA" altLang="en-US" sz="1400" dirty="0">
                <a:solidFill>
                  <a:schemeClr val="accent3"/>
                </a:solidFill>
              </a:rPr>
              <a:t>‏  —  36 ساعة انقطاع كامل للاتصالات في غزة</a:t>
            </a:r>
            <a:endParaRPr lang="ar-SA" sz="1400" dirty="0"/>
          </a:p>
        </p:txBody>
      </p:sp>
      <p:sp>
        <p:nvSpPr>
          <p:cNvPr id="11" name="ref-url-2"/>
          <p:cNvSpPr txBox="1"/>
          <p:nvPr/>
        </p:nvSpPr>
        <p:spPr>
          <a:xfrm>
            <a:off x="822960" y="2889504"/>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accessnow.org/publication/palestine-unplugged</a:t>
            </a:r>
            <a:endParaRPr lang="ar-SA" sz="1100" dirty="0"/>
          </a:p>
        </p:txBody>
      </p:sp>
      <p:sp>
        <p:nvSpPr>
          <p:cNvPr id="12" name="ref-rule-3"/>
          <p:cNvSpPr/>
          <p:nvPr/>
        </p:nvSpPr>
        <p:spPr>
          <a:xfrm>
            <a:off x="777240" y="3236976"/>
            <a:ext cx="10637215" cy="0"/>
          </a:xfrm>
          <a:prstGeom prst="line">
            <a:avLst/>
          </a:prstGeom>
          <a:noFill/>
          <a:ln w="9525">
            <a:solidFill>
              <a:schemeClr val="accent6"/>
            </a:solidFill>
            <a:prstDash val="solid"/>
          </a:ln>
        </p:spPr>
      </p:sp>
      <p:sp>
        <p:nvSpPr>
          <p:cNvPr id="13" name="ref-num-3"/>
          <p:cNvSpPr txBox="1"/>
          <p:nvPr/>
        </p:nvSpPr>
        <p:spPr>
          <a:xfrm>
            <a:off x="11048695" y="3255264"/>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‎3</a:t>
            </a:r>
            <a:endParaRPr lang="en-US" sz="1600" dirty="0"/>
          </a:p>
        </p:txBody>
      </p:sp>
      <p:sp>
        <p:nvSpPr>
          <p:cNvPr id="14" name="ref-title-3"/>
          <p:cNvSpPr txBox="1"/>
          <p:nvPr/>
        </p:nvSpPr>
        <p:spPr>
          <a:xfrm>
            <a:off x="822960" y="3255264"/>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الإحصاء الفلسطيني ووزارة السياحة والآثار (2024) — بيان يوم السياحة العالمي</a:t>
            </a:r>
            <a:r>
              <a:rPr lang="ar-SA" altLang="en-US" sz="1400" dirty="0">
                <a:solidFill>
                  <a:schemeClr val="accent3"/>
                </a:solidFill>
              </a:rPr>
              <a:t>‏  —  3,450 منشأة مطاعم وتقديم مشروبات دُمّرت في غزة</a:t>
            </a:r>
            <a:endParaRPr lang="ar-SA" sz="1400" dirty="0"/>
          </a:p>
        </p:txBody>
      </p:sp>
      <p:sp>
        <p:nvSpPr>
          <p:cNvPr id="15" name="ref-url-3"/>
          <p:cNvSpPr txBox="1"/>
          <p:nvPr/>
        </p:nvSpPr>
        <p:spPr>
          <a:xfrm>
            <a:off x="822960" y="3602736"/>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pcbs.gov.ps — Press_Ar_WorldTourismDay2024A</a:t>
            </a:r>
            <a:endParaRPr lang="ar-SA" sz="1100" dirty="0"/>
          </a:p>
        </p:txBody>
      </p:sp>
      <p:sp>
        <p:nvSpPr>
          <p:cNvPr id="16" name="ref-rule-4"/>
          <p:cNvSpPr/>
          <p:nvPr/>
        </p:nvSpPr>
        <p:spPr>
          <a:xfrm>
            <a:off x="777240" y="3950208"/>
            <a:ext cx="10637215" cy="0"/>
          </a:xfrm>
          <a:prstGeom prst="line">
            <a:avLst/>
          </a:prstGeom>
          <a:noFill/>
          <a:ln w="9525">
            <a:solidFill>
              <a:schemeClr val="accent6"/>
            </a:solidFill>
            <a:prstDash val="solid"/>
          </a:ln>
        </p:spPr>
      </p:sp>
      <p:sp>
        <p:nvSpPr>
          <p:cNvPr id="17" name="ref-num-4"/>
          <p:cNvSpPr txBox="1"/>
          <p:nvPr/>
        </p:nvSpPr>
        <p:spPr>
          <a:xfrm>
            <a:off x="11048695" y="3968496"/>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8" name="ref-title-4"/>
          <p:cNvSpPr txBox="1"/>
          <p:nvPr/>
        </p:nvSpPr>
        <p:spPr>
          <a:xfrm>
            <a:off x="822960" y="3968496"/>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Technavio — Restaurant Management Software Market 2025–2030</a:t>
            </a:r>
            <a:r>
              <a:rPr lang="ar-SA" altLang="en-US" sz="1400" dirty="0">
                <a:solidFill>
                  <a:schemeClr val="accent3"/>
                </a:solidFill>
              </a:rPr>
              <a:t>‏  —  نمو 19.4% سنويًا</a:t>
            </a:r>
            <a:endParaRPr lang="ar-SA" sz="1400" dirty="0"/>
          </a:p>
        </p:txBody>
      </p:sp>
      <p:sp>
        <p:nvSpPr>
          <p:cNvPr id="19" name="ref-url-4"/>
          <p:cNvSpPr txBox="1"/>
          <p:nvPr/>
        </p:nvSpPr>
        <p:spPr>
          <a:xfrm>
            <a:off x="822960" y="4315968"/>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technavio.com/report/restaurant-management-software-market-industry-analysis</a:t>
            </a:r>
            <a:endParaRPr lang="ar-SA" sz="1100" dirty="0"/>
          </a:p>
        </p:txBody>
      </p:sp>
      <p:sp>
        <p:nvSpPr>
          <p:cNvPr id="20" name="ref-rule-5"/>
          <p:cNvSpPr/>
          <p:nvPr/>
        </p:nvSpPr>
        <p:spPr>
          <a:xfrm>
            <a:off x="777240" y="4663440"/>
            <a:ext cx="10637215" cy="0"/>
          </a:xfrm>
          <a:prstGeom prst="line">
            <a:avLst/>
          </a:prstGeom>
          <a:noFill/>
          <a:ln w="9525">
            <a:solidFill>
              <a:schemeClr val="accent6"/>
            </a:solidFill>
            <a:prstDash val="solid"/>
          </a:ln>
        </p:spPr>
      </p:sp>
      <p:sp>
        <p:nvSpPr>
          <p:cNvPr id="21" name="ref-num-5"/>
          <p:cNvSpPr txBox="1"/>
          <p:nvPr/>
        </p:nvSpPr>
        <p:spPr>
          <a:xfrm>
            <a:off x="11048695" y="4681728"/>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‎5</a:t>
            </a:r>
            <a:endParaRPr lang="en-US" sz="1600" dirty="0"/>
          </a:p>
        </p:txBody>
      </p:sp>
      <p:sp>
        <p:nvSpPr>
          <p:cNvPr id="22" name="ref-title-5"/>
          <p:cNvSpPr txBox="1"/>
          <p:nvPr/>
        </p:nvSpPr>
        <p:spPr>
          <a:xfrm>
            <a:off x="822960" y="4681728"/>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صفحات المنافسين: MENU TIGER · G2 · Menuviel</a:t>
            </a:r>
            <a:r>
              <a:rPr lang="ar-SA" altLang="en-US" sz="1400" dirty="0">
                <a:solidFill>
                  <a:schemeClr val="accent3"/>
                </a:solidFill>
              </a:rPr>
              <a:t>‏  —  الطلب عبر QR بتكاملات · ~199 درهمًا شهريًا · عمولة 15–30%</a:t>
            </a:r>
            <a:endParaRPr lang="ar-SA" sz="1400" dirty="0"/>
          </a:p>
        </p:txBody>
      </p:sp>
      <p:sp>
        <p:nvSpPr>
          <p:cNvPr id="23" name="ref-url-5"/>
          <p:cNvSpPr txBox="1"/>
          <p:nvPr/>
        </p:nvSpPr>
        <p:spPr>
          <a:xfrm>
            <a:off x="822960" y="5029200"/>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menutiger.com/blog/loyverse-integration · g2.com/products/foodics/pricing · blog.menuviel.com</a:t>
            </a:r>
            <a:endParaRPr lang="ar-SA" sz="1100" dirty="0"/>
          </a:p>
        </p:txBody>
      </p:sp>
      <p:sp>
        <p:nvSpPr>
          <p:cNvPr id="24" name="ref-rule-6"/>
          <p:cNvSpPr/>
          <p:nvPr/>
        </p:nvSpPr>
        <p:spPr>
          <a:xfrm>
            <a:off x="777240" y="5376672"/>
            <a:ext cx="10637215" cy="0"/>
          </a:xfrm>
          <a:prstGeom prst="line">
            <a:avLst/>
          </a:prstGeom>
          <a:noFill/>
          <a:ln w="9525">
            <a:solidFill>
              <a:schemeClr val="accent6"/>
            </a:solidFill>
            <a:prstDash val="solid"/>
          </a:ln>
        </p:spPr>
      </p:sp>
      <p:sp>
        <p:nvSpPr>
          <p:cNvPr id="25" name="ref-num-6"/>
          <p:cNvSpPr txBox="1"/>
          <p:nvPr/>
        </p:nvSpPr>
        <p:spPr>
          <a:xfrm>
            <a:off x="11048695" y="5394960"/>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‎6</a:t>
            </a:r>
            <a:endParaRPr lang="en-US" sz="1600" dirty="0"/>
          </a:p>
        </p:txBody>
      </p:sp>
      <p:sp>
        <p:nvSpPr>
          <p:cNvPr id="26" name="ref-title-6"/>
          <p:cNvSpPr txBox="1"/>
          <p:nvPr/>
        </p:nvSpPr>
        <p:spPr>
          <a:xfrm>
            <a:off x="822960" y="5394960"/>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مستودع menuPilot</a:t>
            </a:r>
            <a:r>
              <a:rPr lang="ar-SA" altLang="en-US" sz="1400" dirty="0">
                <a:solidFill>
                  <a:schemeClr val="accent3"/>
                </a:solidFill>
              </a:rPr>
              <a:t>‏  —  أكثر من 170 اختبارًا · أكثر من 110 نقطة API · الأسعار</a:t>
            </a:r>
            <a:endParaRPr lang="ar-SA" sz="1400" dirty="0"/>
          </a:p>
        </p:txBody>
      </p:sp>
      <p:sp>
        <p:nvSpPr>
          <p:cNvPr id="27" name="ref-url-6"/>
          <p:cNvSpPr txBox="1"/>
          <p:nvPr/>
        </p:nvSpPr>
        <p:spPr>
          <a:xfrm>
            <a:off x="822960" y="5742432"/>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backend/tests · backend/routes/api.php · config/subscriptions</a:t>
            </a:r>
            <a:endParaRPr lang="ar-SA" sz="11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nuPilot">
  <a:themeElements>
    <a:clrScheme name="menuPilot">
      <a:dk1>
        <a:srgbClr val="172331"/>
      </a:dk1>
      <a:lt1>
        <a:srgbClr val="FFFDF9"/>
      </a:lt1>
      <a:dk2>
        <a:srgbClr val="1F2D3D"/>
      </a:dk2>
      <a:lt2>
        <a:srgbClr val="F4EFE6"/>
      </a:lt2>
      <a:accent1>
        <a:srgbClr val="E67E22"/>
      </a:accent1>
      <a:accent2>
        <a:srgbClr val="1C714B"/>
      </a:accent2>
      <a:accent3>
        <a:srgbClr val="A15818"/>
      </a:accent3>
      <a:accent4>
        <a:srgbClr val="5A6574"/>
      </a:accent4>
      <a:accent5>
        <a:srgbClr val="B94736"/>
      </a:accent5>
      <a:accent6>
        <a:srgbClr val="E3DCCF"/>
      </a:accent6>
      <a:hlink>
        <a:srgbClr val="33648C"/>
      </a:hlink>
      <a:folHlink>
        <a:srgbClr val="5A6574"/>
      </a:folHlink>
    </a:clrScheme>
    <a:fontScheme name="menuPilot">
      <a:majorFont>
        <a:latin typeface="Tajawal ExtraBold"/>
        <a:ea typeface=""/>
        <a:cs typeface="Tajawal ExtraBold"/>
        <a:font script="Jpan" typeface="游ゴシック Light"/>
        <a:font script="Hang" typeface="맑은 고딕"/>
        <a:font script="Hans" typeface="等线 Light"/>
        <a:font script="Hant" typeface="新細明體"/>
        <a:font script="Arab" typeface="Tajawal ExtraBold"/>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jawal"/>
        <a:ea typeface=""/>
        <a:cs typeface="Tajawal"/>
        <a:font script="Jpan" typeface="游ゴシック"/>
        <a:font script="Hang" typeface="맑은 고딕"/>
        <a:font script="Hans" typeface="等线"/>
        <a:font script="Hant" typeface="新細明體"/>
        <a:font script="Arab" typeface="Tajaw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menuPilot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menuPilot — عرض المشروع</dc:title>
  <dc:subject>عرض لجنة التحكيم</dc:subject>
  <dc:creator>فريق menuPilot</dc:creator>
  <cp:lastModifiedBy>فريق menuPilot</cp:lastModifiedBy>
  <cp:revision>1</cp:revision>
  <dcterms:created xsi:type="dcterms:W3CDTF">2026-10-06T11:53:15Z</dcterms:created>
  <dcterms:modified xsi:type="dcterms:W3CDTF">2026-10-06T11:53:15Z</dcterms:modified>
</cp:coreProperties>
</file>