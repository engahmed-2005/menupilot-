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Lst>
  <p:notesMasterIdLst>
    <p:notesMasterId r:id="rId19"/>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العرض (5 دقائق)" id="{c522ca72-8c82-5fd2-6e1d-42f832ef5fe6}">
          <p14:sldIdLst>
            <p14:sldId id="256"/>
            <p14:sldId id="257"/>
            <p14:sldId id="258"/>
            <p14:sldId id="259"/>
            <p14:sldId id="260"/>
            <p14:sldId id="261"/>
            <p14:sldId id="262"/>
            <p14:sldId id="263"/>
            <p14:sldId id="264"/>
            <p14:sldId id="265"/>
          </p14:sldIdLst>
        </p14:section>
        <p14:section name="شرائح احتياطية" id="{c16b58cd-e37c-e2a4-8fac-8122b1c1a9b5}">
          <p14:sldIdLst>
            <p14:sldId id="266"/>
            <p14:sldId id="267"/>
            <p14:sldId id="268"/>
            <p14:sldId id="269"/>
            <p14:sldId id="270"/>
            <p14:sldId id="271"/>
            <p14:sldId id="272"/>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notesMaster" Target="notesMasters/notesMaster1.xml"/><Relationship Id="rId20" Type="http://schemas.openxmlformats.org/officeDocument/2006/relationships/presProps" Target="presProps.xml"/><Relationship Id="rId21" Type="http://schemas.openxmlformats.org/officeDocument/2006/relationships/viewProps" Target="viewProps.xml"/><Relationship Id="rId22" Type="http://schemas.openxmlformats.org/officeDocument/2006/relationships/theme" Target="theme/theme1.xml"/><Relationship Id="rId23"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5 ثوانٍ — الفريق كله على المسرح، واحد بيحكي.
«السلام عليكم، إحنا فريق menuPilot.»
وانتقل فورًا للسؤال في الشريحة الجاية — لا تشرح المنتج هون، المشكلة لازم تيجي قبل الحل.</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25 ثانية — اسأل وانتظر ثانيتين قبل ما تكمل. عينك على اللجنة، مش على الشاشة.
«خلّوني أسألكم: آخر مرة كنتوا في مطعم ورفعتوا إيدكم للنادل… كم دقيقة استنيتوا؟»
(وقفة)
«استطلاع على أكثر من ألف زبون لقى إن 42% منهم بيستنّوا حوالي 10 دقائق بس ليوصلهم المشروب… ومتوسط انتظار الفاتورة 10 دقائق كمان. والانتظار هذا أول حلقة بس.»
لو انسألتوا: الاستطلاع أمريكي (Union، 2023) — الأرقام المحلية من زياراتكم للمطاعم أقوى، جيبوها إذا عندكم.</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40 ثانية — هاي أهم شريحة: بدنا اللجنة تحس بالمعاناة، مش بس تعرف إنها موجودة.
«والانتظار مش آخر المشكلة. الزبون اللي بيستنى كثير: 22% بيقوموا وبيطلعوا من المكان، و38% بيقللوا البقشيش.
جوّا المطبخ: الطلب مكتوب بخط اليد على ورقة، أي تعديل بيوصل بالصوت، وما حدا — لا الزبون ولا صاحب المطعم — بيعرف الطلب وين وصل.
وفي غزة تحديدًا: في أكتوبر 2023 انقطعت الاتصالات بشكل كامل 36 ساعة، وأي نظام بيعتمد على النت بيوقف معها.
النتيجة؟ فوضى.»
💡 إذا زرتوا مطاعم أو سألتوا أصحابها، هون مكان الجملة الأقوى في العرض كله: «زرنا X مطاعم في غزة، و Y منهم قالوا…». الدليل من أرض الواقع أقوى من أي استطلاع.</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35 ثانية — كل بطاقة هون بتجاوب على بطاقة من شريحة المشكلة، بنفس الترتيب.
«فإحنا حوّلنا الفوضى لنظام.
الزبون بيمسح QR الطاولة وبيطلب من جواله — بدون تطبيق وبدون ما يستنى نادل — وبيتابع طلبه لحظة بلحظة.
الطلب بيوصل مباشرة لشاشة المطبخ، مرتّب حسب الوقت، وكل الفريق بيشوف حالته.
ولو انقطع النت، المطبخ والكاشير بكمّلوا شغلهم، وكل تغيير بيتزامن لحاله أول ما يرجع الاتصال.»</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45 ثانية — الهدف: إثبات إننا أنجزنا فعلًا.
«وهذا مش كلام على ورق. هاي شاشة المطبخ الحقيقية، وهاي منيو الزبون على الجوال.
عنا 5 أدوار، كل واحد إله شاشته: الزبون، المطبخ، النادل، الكاشير، والمالك.
الخادم فيه أكثر من 110 نقطة API، ومحمي بأكثر من 170 اختبار آلي بيشتغلوا مع كل تعديل. والنظام كامل بلغتين.»
لو في وقت (وما في غالبًا): «وفي مطعم تجريبي حي بتقدروا تجربوه بدون تسجيل.» — وإذا بدكم رمز QR للموقع على الشريحة، ضيفوا الرابط المنشور.</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35 ثانية — كل رقم هون إله مصدر، واحفظوا المصدر غيب.
«طيب هل في سوق؟ حسب الإحصاء الفلسطيني ووزارة السياحة، 3,450 منشأة مطاعم ومقاهي في غزة دُمّرت. وكل مطعم بيرجع يفتح، بيرجع من الصفر — وهاي أنسب لحظة يبدأ بنظام بدل الورقة.
لو اشتركت كل هالمطاعم بالباقة الاحترافية، هذا سوق بحدود 1.2 مليون دولار بالسنة، بغزة وحدها.
وعالميًا، سوق برمجيات إدارة المطاعم بينمو حوالي 19% بالسنة لحد 2030.»
انتبهوا: 1.2 مليون هو السقف (كل المطاعم × الاحترافية)، مش توقّع مبيعات. لو انسألتوا عن هدفكم الواقعي، جهّزوا رقمكم (مثلًا أول 1% = 35 مطعمًا).</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30 ثانية
«نموذجنا B2B: المطعم بيدفع اشتراك شهري ثابت، وما بناخد ولا قرش عمولة على أي طلب.
الأساسية بـ15 دولار، الاحترافية بـ29، وللمطابخ اللي بتشتغل توصيل بس 15.
وفي إضافات: التوصيل والطلب أونلاين بـ15، والهوية الكاملة بـ5. وأول 14 يوم مجانًا.
ليش المطعم رح يدفع؟ لأن 15 دولار بالشهر يعني 50 سنت باليوم — أقل من ثمن طلب واحد ضاع.»
السؤال الأهم مش «رح تستعمله؟» — هو «رح تدفع؟». إذا عندكم مطعم قال «بدفع»، احكوها هون.</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35 ثانية — «ما في منافسين» جملة قاتلة. البدائل موجودة، وإحنا دارسينها.
«أكيد في بدائل. أولها الورقة والنادل — مجانية وما بتحتاج نت، بس بطيئة.
في منيوهات QR للعرض بس: الزبون بيشوف المنيو وبعدين بينادي النادل.
في أنظمة كاشير زي Foodics وLoyverse — قوية، بس الطلب من الطاولة عندهم إضافة أو تكامل خارجي، والسعر مش دايمًا لمطعم صغير.
وتطبيقات التوصيل بتاخد 15 لـ30% عمولة من كل طلب.
ميزتنا إنا الوحيدين اللي بنجمع الثلاثة: من الطاولة للمطبخ مباشرة، بيكمل والنت مقطوع، وبسعر صغير بلا عمولة.»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20 ثانية — قدّم كل واحد بنظرة له، مش للشاشة.
«إحنا خمسة: أحمد قائد الفريق، علي وعمار على الخادم، وسجى ورنين على الواجهات.
كل سطر في النظام كتبناه بإيدينا — وكل واحد فينا جاهز يجاوب عن جزئه.»</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10 ثوانٍ — ارجع لسؤال البداية، وخلّص بابتسامة.
«فالمرة الجاية اللي بترفعوا فيها إيدكم في مطعم… إن شاء الله ما رح تضطروا تستنوا. شكرًا إلكم، وبنتشرّف بأسئلتكم.»
بعدها: الأسئلة. اللي بيعرف الجواب هو اللي بيرد، وإذا ما حدا بيعرف: «سؤال مهم، منرجعلكم فيه» — ولا تخترعوا جواب.</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ما بنعرض هاي الشرائح إلا إذا انسألنا سؤال إلها. افتحوها مباشرة من رقمها (اكتب الرقم + Enter في وضع العرض).</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متى: «شو التقنيات؟ كيف بتوصل التحديثات لحظيًا؟ كيف بتختبروا؟»
- التحديث اللحظي: بعد أي تغيير ناجح، الخادم بيبعث إشارة صغيرة بلا بيانات («الطلبات تغيّرت») عبر Laravel Reverb، وكل شاشة بتجيب البيانات من الـAPI بصلاحياتها. لو انقطع الاتصال اللحظي، الشاشات بترجع تتحدّث كل كم ثانية.
- الجودة: أكثر من 170 اختبار آلي، وسكربت smoke-test بيفحص الإنتاج بـ30 فحص بعد كل نشر.</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متى: «شو بصير لو انقطع النت؟» — وغالبًا رح ينسأل في غزة.
- كونوا صريحين: طلبات الزبائن الجديدة بتستنى رجوع الاتصال، لأن المطبخ ما بيقدر يستلم إشي ما وصل الخادم.
- بس اللي داخل المطعم بيكمل: المطبخ بيغيّر الحالات، والكاشير بيسجّل الدفعات، وكل إشي بيتزامن لحاله.
- مفتاح Idempotency: الخادم بيرجع نفس الجواب لنفس المفتاح بدل ما ينفّذ مرتين.</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متى: «كيف بتمنعوا الطلبات الوهمية/المزح؟ مين بيشوف شو؟ البيانات آمنة؟»
- الطلب من الطاولة محمي بمفتاح جلسة + تحقق إن الجوال داخل 200 متر من المطعم.
- رابط استعادة كلمة المرور بيوصل بالبريد بس، صالح 60 دقيقة.
- الزبون بيعطي اسمه ورقم جواله بس عند إرسال الطلب.</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متى: «كم السعر بالتفصيل؟ شو بصير لما تخلص التجربة؟»
- بعد انتهاء التجربة أو الاشتراك: 3 أيام مهلة، بعدها وضع مقيّد — المطعم بيقدر يقرأ بياناته وتقاريره ويصدّرها، بس ما بيفتح جلسات أو طلبات جديدة.
- الأسعار بالدولار وبتنضبط من إعدادات الخادم.</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متى: «كيف رح توصلوا لأول عملاء؟ عندكم خطة توسّع؟»
- القمع: ديمو بدون تسجيل ← تجربة 14 يوم ← اشتراك.
- عدّلوا «أول هدف» حسب خطتكم الحقيقية (مين أول 5 مطاعم رح تزوروها؟). لو ما في خطة مكتوبة: «منرجعلكم فيها».</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متى: «من وين هالرقم؟» — افتحوا هاي الشريحة وأشّروا على المصدر. الروابط الكاملة في docs/presentation/PREP.md.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image-1002-1.png"/><Relationship Id="rId2"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2"/>
        </a:solidFill>
      </p:bgPr>
    </p:bg>
    <p:spTree>
      <p:nvGrpSpPr>
        <p:cNvPr id="1" name=""/>
        <p:cNvGrpSpPr/>
        <p:nvPr/>
      </p:nvGrpSpPr>
      <p:grpSpPr>
        <a:xfrm>
          <a:off x="0" y="0"/>
          <a:ext cx="0" cy="0"/>
          <a:chOff x="0" y="0"/>
          <a:chExt cx="0" cy="0"/>
        </a:xfrm>
      </p:grpSpPr>
      <p:pic>
        <p:nvPicPr>
          <p:cNvPr id="2" name="Image 0" descr="menuPilot">    </p:cNvPr>
          <p:cNvPicPr>
            <a:picLocks noChangeAspect="1"/>
          </p:cNvPicPr>
          <p:nvPr/>
        </p:nvPicPr>
        <p:blipFill>
          <a:blip r:embed="rId1"/>
          <a:stretch>
            <a:fillRect/>
          </a:stretch>
        </p:blipFill>
        <p:spPr>
          <a:xfrm>
            <a:off x="548640" y="6400800"/>
            <a:ext cx="785813" cy="228600"/>
          </a:xfrm>
          <a:prstGeom prst="rect">
            <a:avLst/>
          </a:prstGeom>
        </p:spPr>
      </p:pic>
      <p:sp>
        <p:nvSpPr>
          <p:cNvPr id="3" name="Text 0"/>
          <p:cNvSpPr/>
          <p:nvPr>
            <p:ph idx="101" type="body" hasCustomPrompt="1"/>
          </p:nvPr>
        </p:nvSpPr>
        <p:spPr>
          <a:xfrm>
            <a:off x="548640" y="384048"/>
            <a:ext cx="11094415" cy="347472"/>
          </a:xfrm>
          <a:prstGeom prst="rect">
            <a:avLst/>
          </a:prstGeom>
          <a:noFill/>
          <a:ln/>
        </p:spPr>
        <p:txBody>
          <a:bodyPr wrap="square" rtlCol="0"/>
          <a:lstStyle>
            <a:lvl1pPr rtl="1" algn="r" indent="0" marL="0">
              <a:buNone/>
              <a:defRPr lang="en-US" sz="1600" b="1" dirty="0">
                <a:solidFill>
                  <a:schemeClr val="accent3"/>
                </a:solidFill>
              </a:defRPr>
            </a:lvl1pPr>
          </a:lstStyle>
          <a:p>
            <a:pPr algn="r" indent="0" marL="0">
              <a:buNone/>
            </a:pPr>
            <a:endParaRPr lang="en-US" sz="1600" dirty="0"/>
          </a:p>
        </p:txBody>
      </p:sp>
      <p:sp>
        <p:nvSpPr>
          <p:cNvPr id="4" name="Text 0"/>
          <p:cNvSpPr/>
          <p:nvPr>
            <p:ph idx="102" type="title" hasCustomPrompt="1"/>
          </p:nvPr>
        </p:nvSpPr>
        <p:spPr>
          <a:xfrm>
            <a:off x="548640" y="749808"/>
            <a:ext cx="11094415" cy="749808"/>
          </a:xfrm>
          <a:prstGeom prst="rect">
            <a:avLst/>
          </a:prstGeom>
          <a:noFill/>
          <a:ln/>
        </p:spPr>
        <p:txBody>
          <a:bodyPr wrap="square" rtlCol="0"/>
          <a:lstStyle>
            <a:lvl1pPr rtl="1" algn="r" indent="0" marL="0">
              <a:buNone/>
              <a:defRPr lang="en-US" sz="3600" dirty="0">
                <a:solidFill>
                  <a:schemeClr val="tx1"/>
                </a:solidFill>
              </a:defRPr>
            </a:lvl1pPr>
          </a:lstStyle>
          <a:p>
            <a:pPr algn="r" indent="0" marL="0">
              <a:buNone/>
            </a:pPr>
            <a:endParaRPr lang="en-US" sz="3600" dirty="0"/>
          </a:p>
        </p:txBody>
      </p:sp>
      <p:sp>
        <p:nvSpPr>
          <p:cNvPr id="25" name="Slide Number Placeholder 0"/>
          <p:cNvSpPr>
            <a:spLocks noGrp="1"/>
          </p:cNvSpPr>
          <p:nvPr>
            <p:ph type="sldNum" sz="quarter" idx="4294967295"/>
          </p:nvPr>
        </p:nvSpPr>
        <p:spPr>
          <a:xfrm>
            <a:off x="11183112" y="6391656"/>
            <a:ext cx="457200" cy="237744"/>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4"/>
                </a:solidFill>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VER">
    <p:bg>
      <p:bgPr>
        <a:solidFill>
          <a:schemeClr val="tx2"/>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5486400" y="1737360"/>
            <a:ext cx="6156655" cy="411480"/>
          </a:xfrm>
          <a:prstGeom prst="rect">
            <a:avLst/>
          </a:prstGeom>
          <a:noFill/>
          <a:ln/>
        </p:spPr>
        <p:txBody>
          <a:bodyPr wrap="square" rtlCol="0"/>
          <a:lstStyle>
            <a:lvl1pPr rtl="1" algn="r" indent="0" marL="0">
              <a:buNone/>
              <a:defRPr lang="en-US" sz="2000" b="1" dirty="0">
                <a:solidFill>
                  <a:schemeClr val="accent1"/>
                </a:solidFill>
              </a:defRPr>
            </a:lvl1pPr>
          </a:lstStyle>
          <a:p>
            <a:pPr algn="r" indent="0" marL="0">
              <a:buNone/>
            </a:pPr>
            <a:endParaRPr lang="en-US" sz="2000" dirty="0"/>
          </a:p>
        </p:txBody>
      </p:sp>
      <p:sp>
        <p:nvSpPr>
          <p:cNvPr id="3" name="Text 0"/>
          <p:cNvSpPr/>
          <p:nvPr>
            <p:ph idx="101" type="title" hasCustomPrompt="1"/>
          </p:nvPr>
        </p:nvSpPr>
        <p:spPr>
          <a:xfrm>
            <a:off x="5486400" y="2240280"/>
            <a:ext cx="6156655" cy="2194560"/>
          </a:xfrm>
          <a:prstGeom prst="rect">
            <a:avLst/>
          </a:prstGeom>
          <a:noFill/>
          <a:ln/>
        </p:spPr>
        <p:txBody>
          <a:bodyPr wrap="square" rtlCol="0"/>
          <a:lstStyle>
            <a:lvl1pPr rtl="1" algn="r" indent="0" marL="0">
              <a:buNone/>
              <a:defRPr lang="en-US" sz="4600" dirty="0">
                <a:solidFill>
                  <a:schemeClr val="bg2"/>
                </a:solidFill>
              </a:defRPr>
            </a:lvl1pPr>
          </a:lstStyle>
          <a:p>
            <a:pPr algn="r" indent="0" marL="0">
              <a:buNone/>
            </a:pPr>
            <a:endParaRPr lang="en-US" sz="4600" dirty="0"/>
          </a:p>
        </p:txBody>
      </p:sp>
      <p:sp>
        <p:nvSpPr>
          <p:cNvPr id="4" name="Text 0"/>
          <p:cNvSpPr/>
          <p:nvPr>
            <p:ph idx="102" type="body" hasCustomPrompt="1"/>
          </p:nvPr>
        </p:nvSpPr>
        <p:spPr>
          <a:xfrm>
            <a:off x="5486400" y="4572000"/>
            <a:ext cx="6156655" cy="822960"/>
          </a:xfrm>
          <a:prstGeom prst="rect">
            <a:avLst/>
          </a:prstGeom>
          <a:noFill/>
          <a:ln/>
        </p:spPr>
        <p:txBody>
          <a:bodyPr wrap="square" rtlCol="0"/>
          <a:lstStyle>
            <a:lvl1pPr rtl="1" algn="r" indent="0" marL="0">
              <a:buNone/>
              <a:defRPr lang="en-US" sz="2000" dirty="0">
                <a:solidFill>
                  <a:schemeClr val="bg2"/>
                </a:solidFill>
              </a:defRPr>
            </a:lvl1pPr>
          </a:lstStyle>
          <a:p>
            <a:pPr algn="r" indent="0" marL="0">
              <a:buNone/>
            </a:pPr>
            <a:endParaRPr lang="en-US" sz="2000"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TATEMENT">
    <p:bg>
      <p:bgPr>
        <a:solidFill>
          <a:schemeClr val="tx2"/>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548640" y="457200"/>
            <a:ext cx="11094415" cy="384048"/>
          </a:xfrm>
          <a:prstGeom prst="rect">
            <a:avLst/>
          </a:prstGeom>
          <a:noFill/>
          <a:ln/>
        </p:spPr>
        <p:txBody>
          <a:bodyPr wrap="square" rtlCol="0"/>
          <a:lstStyle>
            <a:lvl1pPr rtl="1" algn="r" indent="0" marL="0">
              <a:buNone/>
              <a:defRPr lang="en-US" sz="1800" b="1" dirty="0">
                <a:solidFill>
                  <a:schemeClr val="accent1"/>
                </a:solidFill>
              </a:defRPr>
            </a:lvl1pPr>
          </a:lstStyle>
          <a:p>
            <a:pPr algn="r" indent="0" marL="0">
              <a:buNone/>
            </a:pPr>
            <a:endParaRPr lang="en-US" sz="1800" dirty="0"/>
          </a:p>
        </p:txBody>
      </p:sp>
      <p:sp>
        <p:nvSpPr>
          <p:cNvPr id="3" name="Text 0"/>
          <p:cNvSpPr/>
          <p:nvPr>
            <p:ph idx="101" type="title" hasCustomPrompt="1"/>
          </p:nvPr>
        </p:nvSpPr>
        <p:spPr>
          <a:xfrm>
            <a:off x="548640" y="896112"/>
            <a:ext cx="11094415" cy="914400"/>
          </a:xfrm>
          <a:prstGeom prst="rect">
            <a:avLst/>
          </a:prstGeom>
          <a:noFill/>
          <a:ln/>
        </p:spPr>
        <p:txBody>
          <a:bodyPr wrap="square" rtlCol="0"/>
          <a:lstStyle>
            <a:lvl1pPr rtl="1" algn="r" indent="0" marL="0">
              <a:buNone/>
              <a:defRPr lang="en-US" sz="3800" dirty="0">
                <a:solidFill>
                  <a:schemeClr val="bg2"/>
                </a:solidFill>
              </a:defRPr>
            </a:lvl1pPr>
          </a:lstStyle>
          <a:p>
            <a:pPr algn="r" indent="0" marL="0">
              <a:buNone/>
            </a:pPr>
            <a:endParaRPr lang="en-US" sz="38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83112" y="6391656"/>
            <a:ext cx="457200" cy="237744"/>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4"/>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3.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slideLayout" Target="../slideLayouts/slideLayout4.xml"/><Relationship Id="rId5"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slideLayout" Target="../slideLayouts/slideLayout2.xml"/><Relationship Id="rId6"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slideLayout" Target="../slideLayouts/slideLayout2.xml"/><Relationship Id="rId6"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slideLayout" Target="../slideLayouts/slideLayout2.xml"/><Relationship Id="rId5"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slideLayout" Target="../slideLayouts/slideLayout2.xml"/><Relationship Id="rId6"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slideLayout" Target="../slideLayouts/slideLayout2.xml"/><Relationship Id="rId6"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image" Target="../media/image-8-5.png"/><Relationship Id="rId6" Type="http://schemas.openxmlformats.org/officeDocument/2006/relationships/image" Target="../media/image-8-6.png"/><Relationship Id="rId7" Type="http://schemas.openxmlformats.org/officeDocument/2006/relationships/image" Target="../media/image-8-7.png"/><Relationship Id="rId8" Type="http://schemas.openxmlformats.org/officeDocument/2006/relationships/image" Target="../media/image-8-8.png"/><Relationship Id="rId9" Type="http://schemas.openxmlformats.org/officeDocument/2006/relationships/image" Target="../media/image-8-9.png"/><Relationship Id="rId10" Type="http://schemas.openxmlformats.org/officeDocument/2006/relationships/image" Target="../media/image-8-10.png"/><Relationship Id="rId11" Type="http://schemas.openxmlformats.org/officeDocument/2006/relationships/image" Target="../media/image-8-11.png"/><Relationship Id="rId12" Type="http://schemas.openxmlformats.org/officeDocument/2006/relationships/image" Target="../media/image-8-12.png"/><Relationship Id="rId13" Type="http://schemas.openxmlformats.org/officeDocument/2006/relationships/image" Target="../media/image-8-13.png"/><Relationship Id="rId14" Type="http://schemas.openxmlformats.org/officeDocument/2006/relationships/image" Target="../media/image-8-14.png"/><Relationship Id="rId15" Type="http://schemas.openxmlformats.org/officeDocument/2006/relationships/image" Target="../media/image-8-15.png"/><Relationship Id="rId16" Type="http://schemas.openxmlformats.org/officeDocument/2006/relationships/image" Target="../media/image-8-16.png"/><Relationship Id="rId17" Type="http://schemas.openxmlformats.org/officeDocument/2006/relationships/image" Target="../media/image-8-17.png"/><Relationship Id="rId18" Type="http://schemas.openxmlformats.org/officeDocument/2006/relationships/image" Target="../media/image-8-18.png"/><Relationship Id="rId19" Type="http://schemas.openxmlformats.org/officeDocument/2006/relationships/image" Target="../media/image-8-19.png"/><Relationship Id="rId20" Type="http://schemas.openxmlformats.org/officeDocument/2006/relationships/slideLayout" Target="../slideLayouts/slideLayout2.xml"/><Relationship Id="rId21"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3.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3.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image" Target="../media/image-12-4.png"/><Relationship Id="rId5" Type="http://schemas.openxmlformats.org/officeDocument/2006/relationships/image" Target="../media/image-12-5.png"/><Relationship Id="rId6" Type="http://schemas.openxmlformats.org/officeDocument/2006/relationships/slideLayout" Target="../slideLayouts/slideLayout2.xml"/><Relationship Id="rId7"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image" Target="../media/image-13-4.png"/><Relationship Id="rId5" Type="http://schemas.openxmlformats.org/officeDocument/2006/relationships/image" Target="../media/image-13-5.png"/><Relationship Id="rId6" Type="http://schemas.openxmlformats.org/officeDocument/2006/relationships/image" Target="../media/image-13-6.png"/><Relationship Id="rId7" Type="http://schemas.openxmlformats.org/officeDocument/2006/relationships/image" Target="../media/image-13-7.png"/><Relationship Id="rId8" Type="http://schemas.openxmlformats.org/officeDocument/2006/relationships/image" Target="../media/image-13-8.png"/><Relationship Id="rId9" Type="http://schemas.openxmlformats.org/officeDocument/2006/relationships/slideLayout" Target="../slideLayouts/slideLayout2.xml"/><Relationship Id="rId10"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image" Target="../media/image-14-3.png"/><Relationship Id="rId4" Type="http://schemas.openxmlformats.org/officeDocument/2006/relationships/image" Target="../media/image-14-4.png"/><Relationship Id="rId5" Type="http://schemas.openxmlformats.org/officeDocument/2006/relationships/slideLayout" Target="../slideLayouts/slideLayout2.xml"/><Relationship Id="rId6"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2.png"/><Relationship Id="rId3" Type="http://schemas.openxmlformats.org/officeDocument/2006/relationships/image" Target="../media/image-16-3.png"/><Relationship Id="rId4" Type="http://schemas.openxmlformats.org/officeDocument/2006/relationships/image" Target="../media/image-16-4.png"/><Relationship Id="rId5" Type="http://schemas.openxmlformats.org/officeDocument/2006/relationships/image" Target="../media/image-16-5.png"/><Relationship Id="rId6" Type="http://schemas.openxmlformats.org/officeDocument/2006/relationships/image" Target="../media/image-16-6.png"/><Relationship Id="rId7" Type="http://schemas.openxmlformats.org/officeDocument/2006/relationships/slideLayout" Target="../slideLayouts/slideLayout2.xml"/><Relationship Id="rId8"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body" hasCustomPrompt="1"/>
          </p:nvPr>
        </p:nvSpPr>
        <p:spPr>
          <a:xfrm>
            <a:off x="5486400" y="1737360"/>
            <a:ext cx="6156655" cy="411480"/>
          </a:xfrm>
          <a:prstGeom prst="rect">
            <a:avLst/>
          </a:prstGeom>
          <a:noFill/>
          <a:ln/>
        </p:spPr>
        <p:txBody>
          <a:bodyPr wrap="square" lIns="0" tIns="0" rIns="0" bIns="0" rtlCol="0" anchor="ctr"/>
          <a:lstStyle/>
          <a:p>
            <a:pPr rtl="1" algn="r" indent="0" marL="0">
              <a:buNone/>
            </a:pPr>
            <a:r>
              <a:rPr lang="ar-SA" altLang="en-US" sz="2000" b="1" dirty="0">
                <a:solidFill>
                  <a:schemeClr val="accent1"/>
                </a:solidFill>
              </a:rPr>
              <a:t>نظام تشغيل المطاعم</a:t>
            </a:r>
            <a:endParaRPr lang="ar-SA" sz="2000" dirty="0"/>
          </a:p>
        </p:txBody>
      </p:sp>
      <p:sp>
        <p:nvSpPr>
          <p:cNvPr id="3" name="Text 0"/>
          <p:cNvSpPr/>
          <p:nvPr>
            <p:ph idx="101" type="title" hasCustomPrompt="1"/>
          </p:nvPr>
        </p:nvSpPr>
        <p:spPr>
          <a:xfrm>
            <a:off x="5486400" y="2240280"/>
            <a:ext cx="6156655" cy="2194560"/>
          </a:xfrm>
          <a:prstGeom prst="rect">
            <a:avLst/>
          </a:prstGeom>
          <a:noFill/>
          <a:ln/>
        </p:spPr>
        <p:txBody>
          <a:bodyPr wrap="square" lIns="0" tIns="0" rIns="0" bIns="0" rtlCol="0" anchor="t"/>
          <a:lstStyle/>
          <a:p>
            <a:pPr rtl="1" algn="r" indent="0" marL="0">
              <a:buNone/>
            </a:pPr>
            <a:r>
              <a:rPr lang="ar-SA" altLang="en-US" sz="4600" dirty="0">
                <a:solidFill>
                  <a:schemeClr val="bg2"/>
                </a:solidFill>
              </a:rPr>
              <a:t>من الطاولة إلى المطبخ… بدون فوضى</a:t>
            </a:r>
            <a:endParaRPr lang="ar-SA" sz="4600" dirty="0"/>
          </a:p>
        </p:txBody>
      </p:sp>
      <p:sp>
        <p:nvSpPr>
          <p:cNvPr id="4" name="Text 0"/>
          <p:cNvSpPr/>
          <p:nvPr>
            <p:ph idx="102" type="body" hasCustomPrompt="1"/>
          </p:nvPr>
        </p:nvSpPr>
        <p:spPr>
          <a:xfrm>
            <a:off x="5486400" y="4572000"/>
            <a:ext cx="6156655" cy="822960"/>
          </a:xfrm>
          <a:prstGeom prst="rect">
            <a:avLst/>
          </a:prstGeom>
          <a:noFill/>
          <a:ln/>
        </p:spPr>
        <p:txBody>
          <a:bodyPr wrap="square" lIns="0" tIns="0" rIns="0" bIns="0" rtlCol="0" anchor="t"/>
          <a:lstStyle/>
          <a:p>
            <a:pPr rtl="1" algn="r" indent="0" marL="0">
              <a:buNone/>
            </a:pPr>
            <a:r>
              <a:rPr lang="ar-SA" altLang="en-US" sz="2000" dirty="0">
                <a:solidFill>
                  <a:schemeClr val="bg2">
                    <a:alpha val="75000"/>
                  </a:schemeClr>
                </a:solidFill>
              </a:rPr>
              <a:t>فريق menuPilot</a:t>
            </a:r>
            <a:endParaRPr lang="ar-SA" sz="2000" dirty="0"/>
          </a:p>
        </p:txBody>
      </p:sp>
      <p:pic>
        <p:nvPicPr>
          <p:cNvPr id="5" name="logo" descr="شعار menuPilot">    </p:cNvPr>
          <p:cNvPicPr>
            <a:picLocks noChangeAspect="1"/>
          </p:cNvPicPr>
          <p:nvPr/>
        </p:nvPicPr>
        <p:blipFill>
          <a:blip r:embed="rId1"/>
          <a:stretch>
            <a:fillRect/>
          </a:stretch>
        </p:blipFill>
        <p:spPr>
          <a:xfrm>
            <a:off x="914400" y="1600200"/>
            <a:ext cx="3931920" cy="3284812"/>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body" hasCustomPrompt="1"/>
          </p:nvPr>
        </p:nvSpPr>
        <p:spPr>
          <a:xfrm>
            <a:off x="548640" y="457200"/>
            <a:ext cx="11094415" cy="384048"/>
          </a:xfrm>
          <a:prstGeom prst="rect">
            <a:avLst/>
          </a:prstGeom>
          <a:noFill/>
          <a:ln/>
        </p:spPr>
        <p:txBody>
          <a:bodyPr wrap="square" lIns="0" tIns="0" rIns="0" bIns="0" rtlCol="0" anchor="ctr"/>
          <a:lstStyle/>
          <a:p>
            <a:pPr rtl="1" algn="r" indent="0" marL="0">
              <a:buNone/>
            </a:pPr>
            <a:r>
              <a:rPr lang="ar-SA" altLang="en-US" sz="1800" b="1" dirty="0">
                <a:solidFill>
                  <a:schemeClr val="accent1"/>
                </a:solidFill>
              </a:rPr>
              <a:t>سؤال سريع</a:t>
            </a:r>
            <a:endParaRPr lang="ar-SA" sz="1800" dirty="0"/>
          </a:p>
        </p:txBody>
      </p:sp>
      <p:sp>
        <p:nvSpPr>
          <p:cNvPr id="3" name="Text 0"/>
          <p:cNvSpPr/>
          <p:nvPr>
            <p:ph idx="101" type="title" hasCustomPrompt="1"/>
          </p:nvPr>
        </p:nvSpPr>
        <p:spPr>
          <a:xfrm>
            <a:off x="548640" y="896112"/>
            <a:ext cx="11094415" cy="914400"/>
          </a:xfrm>
          <a:prstGeom prst="rect">
            <a:avLst/>
          </a:prstGeom>
          <a:noFill/>
          <a:ln/>
        </p:spPr>
        <p:txBody>
          <a:bodyPr wrap="square" lIns="0" tIns="0" rIns="0" bIns="0" rtlCol="0" anchor="t"/>
          <a:lstStyle/>
          <a:p>
            <a:pPr rtl="1" algn="r" indent="0" marL="0">
              <a:buNone/>
            </a:pPr>
            <a:r>
              <a:rPr lang="ar-SA" altLang="en-US" sz="3800" dirty="0">
                <a:solidFill>
                  <a:schemeClr val="bg2"/>
                </a:solidFill>
              </a:rPr>
              <a:t>آخر مرة رفعت إيدك للنادل… كم دقيقة استنّيت؟</a:t>
            </a:r>
            <a:endParaRPr lang="ar-SA" sz="3800" dirty="0"/>
          </a:p>
        </p:txBody>
      </p:sp>
      <p:sp>
        <p:nvSpPr>
          <p:cNvPr id="4" name="wait-1"/>
          <p:cNvSpPr/>
          <p:nvPr/>
        </p:nvSpPr>
        <p:spPr>
          <a:xfrm>
            <a:off x="6324448" y="2240280"/>
            <a:ext cx="5318608" cy="2880360"/>
          </a:xfrm>
          <a:prstGeom prst="roundRect">
            <a:avLst>
              <a:gd name="adj" fmla="val 5079"/>
            </a:avLst>
          </a:prstGeom>
          <a:solidFill>
            <a:schemeClr val="bg2">
              <a:alpha val="7000"/>
            </a:schemeClr>
          </a:solidFill>
          <a:ln/>
        </p:spPr>
      </p:sp>
      <p:sp>
        <p:nvSpPr>
          <p:cNvPr id="5" name="tile-hourglass"/>
          <p:cNvSpPr/>
          <p:nvPr/>
        </p:nvSpPr>
        <p:spPr>
          <a:xfrm>
            <a:off x="10591495" y="2606040"/>
            <a:ext cx="640080" cy="640080"/>
          </a:xfrm>
          <a:prstGeom prst="roundRect">
            <a:avLst>
              <a:gd name="adj" fmla="val 26000"/>
            </a:avLst>
          </a:prstGeom>
          <a:solidFill>
            <a:schemeClr val="bg2">
              <a:alpha val="14000"/>
            </a:schemeClr>
          </a:solidFill>
          <a:ln/>
        </p:spPr>
      </p:sp>
      <p:pic>
        <p:nvPicPr>
          <p:cNvPr id="6" name="icon-hourglass" descr="preencoded.png">    </p:cNvPr>
          <p:cNvPicPr>
            <a:picLocks noChangeAspect="1"/>
          </p:cNvPicPr>
          <p:nvPr/>
        </p:nvPicPr>
        <p:blipFill>
          <a:blip r:embed="rId1"/>
          <a:stretch>
            <a:fillRect/>
          </a:stretch>
        </p:blipFill>
        <p:spPr>
          <a:xfrm>
            <a:off x="10745114" y="2759659"/>
            <a:ext cx="332842" cy="332842"/>
          </a:xfrm>
          <a:prstGeom prst="rect">
            <a:avLst/>
          </a:prstGeom>
        </p:spPr>
      </p:pic>
      <p:sp>
        <p:nvSpPr>
          <p:cNvPr id="7" name="wait-number-1"/>
          <p:cNvSpPr txBox="1"/>
          <p:nvPr/>
        </p:nvSpPr>
        <p:spPr>
          <a:xfrm>
            <a:off x="6735928" y="3200400"/>
            <a:ext cx="4495648" cy="1234440"/>
          </a:xfrm>
          <a:prstGeom prst="rect">
            <a:avLst/>
          </a:prstGeom>
          <a:noFill/>
          <a:ln/>
        </p:spPr>
        <p:txBody>
          <a:bodyPr wrap="square" lIns="0" tIns="0" rIns="0" bIns="0" rtlCol="0" anchor="ctr"/>
          <a:lstStyle/>
          <a:p>
            <a:pPr rtl="1" algn="r" indent="0" marL="0">
              <a:buNone/>
            </a:pPr>
            <a:r>
              <a:rPr lang="ar-SA" altLang="en-US" sz="11000" b="1" dirty="0">
                <a:solidFill>
                  <a:schemeClr val="accent1"/>
                </a:solidFill>
              </a:rPr>
              <a:t>10</a:t>
            </a:r>
            <a:r>
              <a:rPr lang="ar-SA" altLang="en-US" sz="3200" b="1" dirty="0">
                <a:solidFill>
                  <a:schemeClr val="bg2"/>
                </a:solidFill>
              </a:rPr>
              <a:t>  دقائق</a:t>
            </a:r>
            <a:endParaRPr lang="ar-SA" sz="1600" dirty="0"/>
          </a:p>
        </p:txBody>
      </p:sp>
      <p:sp>
        <p:nvSpPr>
          <p:cNvPr id="8" name="wait-label-1"/>
          <p:cNvSpPr txBox="1"/>
          <p:nvPr/>
        </p:nvSpPr>
        <p:spPr>
          <a:xfrm>
            <a:off x="6735928" y="4526280"/>
            <a:ext cx="4495648" cy="457200"/>
          </a:xfrm>
          <a:prstGeom prst="rect">
            <a:avLst/>
          </a:prstGeom>
          <a:noFill/>
          <a:ln/>
        </p:spPr>
        <p:txBody>
          <a:bodyPr wrap="square" lIns="0" tIns="0" rIns="0" bIns="0" rtlCol="0" anchor="t"/>
          <a:lstStyle/>
          <a:p>
            <a:pPr rtl="1" algn="r" indent="0" marL="0">
              <a:buNone/>
            </a:pPr>
            <a:r>
              <a:rPr lang="ar-SA" altLang="en-US" sz="2400" dirty="0">
                <a:solidFill>
                  <a:schemeClr val="bg2">
                    <a:alpha val="80000"/>
                  </a:schemeClr>
                </a:solidFill>
              </a:rPr>
              <a:t>حتى يوصل المشروب</a:t>
            </a:r>
            <a:endParaRPr lang="ar-SA" sz="2400" dirty="0"/>
          </a:p>
        </p:txBody>
      </p:sp>
      <p:sp>
        <p:nvSpPr>
          <p:cNvPr id="9" name="wait-2"/>
          <p:cNvSpPr/>
          <p:nvPr/>
        </p:nvSpPr>
        <p:spPr>
          <a:xfrm>
            <a:off x="548640" y="2240280"/>
            <a:ext cx="5318608" cy="2880360"/>
          </a:xfrm>
          <a:prstGeom prst="roundRect">
            <a:avLst>
              <a:gd name="adj" fmla="val 5079"/>
            </a:avLst>
          </a:prstGeom>
          <a:solidFill>
            <a:schemeClr val="bg2">
              <a:alpha val="7000"/>
            </a:schemeClr>
          </a:solidFill>
          <a:ln/>
        </p:spPr>
      </p:sp>
      <p:sp>
        <p:nvSpPr>
          <p:cNvPr id="10" name="tile-receipt"/>
          <p:cNvSpPr/>
          <p:nvPr/>
        </p:nvSpPr>
        <p:spPr>
          <a:xfrm>
            <a:off x="4815688" y="2606040"/>
            <a:ext cx="640080" cy="640080"/>
          </a:xfrm>
          <a:prstGeom prst="roundRect">
            <a:avLst>
              <a:gd name="adj" fmla="val 26000"/>
            </a:avLst>
          </a:prstGeom>
          <a:solidFill>
            <a:schemeClr val="bg2">
              <a:alpha val="14000"/>
            </a:schemeClr>
          </a:solidFill>
          <a:ln/>
        </p:spPr>
      </p:sp>
      <p:pic>
        <p:nvPicPr>
          <p:cNvPr id="11" name="icon-receipt" descr="preencoded.png">    </p:cNvPr>
          <p:cNvPicPr>
            <a:picLocks noChangeAspect="1"/>
          </p:cNvPicPr>
          <p:nvPr/>
        </p:nvPicPr>
        <p:blipFill>
          <a:blip r:embed="rId2"/>
          <a:stretch>
            <a:fillRect/>
          </a:stretch>
        </p:blipFill>
        <p:spPr>
          <a:xfrm>
            <a:off x="4969307" y="2759659"/>
            <a:ext cx="332842" cy="332842"/>
          </a:xfrm>
          <a:prstGeom prst="rect">
            <a:avLst/>
          </a:prstGeom>
        </p:spPr>
      </p:pic>
      <p:sp>
        <p:nvSpPr>
          <p:cNvPr id="12" name="wait-number-2"/>
          <p:cNvSpPr txBox="1"/>
          <p:nvPr/>
        </p:nvSpPr>
        <p:spPr>
          <a:xfrm>
            <a:off x="960120" y="3200400"/>
            <a:ext cx="4495648" cy="1234440"/>
          </a:xfrm>
          <a:prstGeom prst="rect">
            <a:avLst/>
          </a:prstGeom>
          <a:noFill/>
          <a:ln/>
        </p:spPr>
        <p:txBody>
          <a:bodyPr wrap="square" lIns="0" tIns="0" rIns="0" bIns="0" rtlCol="0" anchor="ctr"/>
          <a:lstStyle/>
          <a:p>
            <a:pPr rtl="1" algn="r" indent="0" marL="0">
              <a:buNone/>
            </a:pPr>
            <a:r>
              <a:rPr lang="ar-SA" altLang="en-US" sz="11000" b="1" dirty="0">
                <a:solidFill>
                  <a:schemeClr val="accent1"/>
                </a:solidFill>
              </a:rPr>
              <a:t>10</a:t>
            </a:r>
            <a:r>
              <a:rPr lang="ar-SA" altLang="en-US" sz="3200" b="1" dirty="0">
                <a:solidFill>
                  <a:schemeClr val="bg2"/>
                </a:solidFill>
              </a:rPr>
              <a:t>  دقائق</a:t>
            </a:r>
            <a:endParaRPr lang="ar-SA" sz="1600" dirty="0"/>
          </a:p>
        </p:txBody>
      </p:sp>
      <p:sp>
        <p:nvSpPr>
          <p:cNvPr id="13" name="wait-label-2"/>
          <p:cNvSpPr txBox="1"/>
          <p:nvPr/>
        </p:nvSpPr>
        <p:spPr>
          <a:xfrm>
            <a:off x="960120" y="4526280"/>
            <a:ext cx="4495648" cy="457200"/>
          </a:xfrm>
          <a:prstGeom prst="rect">
            <a:avLst/>
          </a:prstGeom>
          <a:noFill/>
          <a:ln/>
        </p:spPr>
        <p:txBody>
          <a:bodyPr wrap="square" lIns="0" tIns="0" rIns="0" bIns="0" rtlCol="0" anchor="t"/>
          <a:lstStyle/>
          <a:p>
            <a:pPr rtl="1" algn="r" indent="0" marL="0">
              <a:buNone/>
            </a:pPr>
            <a:r>
              <a:rPr lang="ar-SA" altLang="en-US" sz="2400" dirty="0">
                <a:solidFill>
                  <a:schemeClr val="bg2">
                    <a:alpha val="80000"/>
                  </a:schemeClr>
                </a:solidFill>
              </a:rPr>
              <a:t>حتى توصل الفاتورة</a:t>
            </a:r>
            <a:endParaRPr lang="ar-SA" sz="2400" dirty="0"/>
          </a:p>
        </p:txBody>
      </p:sp>
      <p:sp>
        <p:nvSpPr>
          <p:cNvPr id="14" name="bridge"/>
          <p:cNvSpPr/>
          <p:nvPr/>
        </p:nvSpPr>
        <p:spPr>
          <a:xfrm>
            <a:off x="548640" y="5504688"/>
            <a:ext cx="11094415" cy="566928"/>
          </a:xfrm>
          <a:prstGeom prst="roundRect">
            <a:avLst>
              <a:gd name="adj" fmla="val 25806"/>
            </a:avLst>
          </a:prstGeom>
          <a:solidFill>
            <a:schemeClr val="bg2">
              <a:alpha val="8000"/>
            </a:schemeClr>
          </a:solidFill>
          <a:ln/>
        </p:spPr>
      </p:sp>
      <p:pic>
        <p:nvPicPr>
          <p:cNvPr id="15" name="bridge-arrow" descr="preencoded.png">    </p:cNvPr>
          <p:cNvPicPr>
            <a:picLocks noChangeAspect="1"/>
          </p:cNvPicPr>
          <p:nvPr/>
        </p:nvPicPr>
        <p:blipFill>
          <a:blip r:embed="rId3"/>
          <a:stretch>
            <a:fillRect/>
          </a:stretch>
        </p:blipFill>
        <p:spPr>
          <a:xfrm>
            <a:off x="841248" y="5650992"/>
            <a:ext cx="274320" cy="274320"/>
          </a:xfrm>
          <a:prstGeom prst="rect">
            <a:avLst/>
          </a:prstGeom>
        </p:spPr>
      </p:pic>
      <p:sp>
        <p:nvSpPr>
          <p:cNvPr id="16" name="bridge-text"/>
          <p:cNvSpPr txBox="1"/>
          <p:nvPr/>
        </p:nvSpPr>
        <p:spPr>
          <a:xfrm>
            <a:off x="1371600" y="5504688"/>
            <a:ext cx="9997135" cy="566928"/>
          </a:xfrm>
          <a:prstGeom prst="rect">
            <a:avLst/>
          </a:prstGeom>
          <a:noFill/>
          <a:ln/>
        </p:spPr>
        <p:txBody>
          <a:bodyPr wrap="square" lIns="0" tIns="0" rIns="0" bIns="0" rtlCol="0" anchor="ctr"/>
          <a:lstStyle/>
          <a:p>
            <a:pPr rtl="1" algn="r" indent="0" marL="0">
              <a:buNone/>
            </a:pPr>
            <a:r>
              <a:rPr lang="ar-SA" altLang="en-US" sz="1900" b="1" dirty="0">
                <a:solidFill>
                  <a:schemeClr val="bg2"/>
                </a:solidFill>
              </a:rPr>
              <a:t>والانتظار… أول حلقة بس في السلسلة</a:t>
            </a:r>
            <a:endParaRPr lang="ar-SA" sz="1900" dirty="0"/>
          </a:p>
        </p:txBody>
      </p:sp>
      <p:sp>
        <p:nvSpPr>
          <p:cNvPr id="17" name="sources"/>
          <p:cNvSpPr txBox="1"/>
          <p:nvPr/>
        </p:nvSpPr>
        <p:spPr>
          <a:xfrm>
            <a:off x="1600200" y="6373368"/>
            <a:ext cx="9418320" cy="274320"/>
          </a:xfrm>
          <a:prstGeom prst="rect">
            <a:avLst/>
          </a:prstGeom>
          <a:noFill/>
          <a:ln/>
        </p:spPr>
        <p:txBody>
          <a:bodyPr wrap="square" lIns="0" tIns="0" rIns="0" bIns="0" rtlCol="0" anchor="ctr"/>
          <a:lstStyle/>
          <a:p>
            <a:pPr rtl="1" algn="r" indent="0" marL="0">
              <a:buNone/>
            </a:pPr>
            <a:r>
              <a:rPr lang="ar-SA" altLang="en-US" sz="1000" dirty="0">
                <a:solidFill>
                  <a:schemeClr val="bg2">
                    <a:alpha val="65000"/>
                  </a:schemeClr>
                </a:solidFill>
              </a:rPr>
              <a:t>Union، استطلاع أكثر من 1,000 بالغ في أمريكا (2023): 42% ينتظرون نحو 10 دقائق للمشروب، ومتوسط انتظار الفاتورة 10 دقائق</a:t>
            </a:r>
            <a:endParaRPr lang="ar-SA"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1" type="body" hasCustomPrompt="1"/>
          </p:nvPr>
        </p:nvSpPr>
        <p:spPr>
          <a:xfrm>
            <a:off x="548640" y="384048"/>
            <a:ext cx="11094415" cy="347472"/>
          </a:xfrm>
          <a:prstGeom prst="rect">
            <a:avLst/>
          </a:prstGeom>
          <a:noFill/>
          <a:ln/>
        </p:spPr>
        <p:txBody>
          <a:bodyPr wrap="square" lIns="0" tIns="0" rIns="0" bIns="0" rtlCol="0" anchor="ctr"/>
          <a:lstStyle/>
          <a:p>
            <a:pPr rtl="1" algn="r" indent="0" marL="0">
              <a:buNone/>
            </a:pPr>
            <a:r>
              <a:rPr lang="ar-SA" altLang="en-US" sz="1600" b="1" dirty="0">
                <a:solidFill>
                  <a:schemeClr val="accent3"/>
                </a:solidFill>
              </a:rPr>
              <a:t>المشكلة</a:t>
            </a:r>
            <a:endParaRPr lang="ar-SA" sz="1600" dirty="0"/>
          </a:p>
        </p:txBody>
      </p:sp>
      <p:sp>
        <p:nvSpPr>
          <p:cNvPr id="3" name="Text 0"/>
          <p:cNvSpPr/>
          <p:nvPr>
            <p:ph idx="102" type="title" hasCustomPrompt="1"/>
          </p:nvPr>
        </p:nvSpPr>
        <p:spPr>
          <a:xfrm>
            <a:off x="548640" y="749808"/>
            <a:ext cx="11094415" cy="749808"/>
          </a:xfrm>
          <a:prstGeom prst="rect">
            <a:avLst/>
          </a:prstGeom>
          <a:noFill/>
          <a:ln/>
        </p:spPr>
        <p:txBody>
          <a:bodyPr wrap="square" lIns="0" tIns="0" rIns="0" bIns="0" rtlCol="0" anchor="t"/>
          <a:lstStyle/>
          <a:p>
            <a:pPr rtl="1" algn="r" indent="0" marL="0">
              <a:buNone/>
            </a:pPr>
            <a:r>
              <a:rPr lang="ar-SA" altLang="en-US" sz="3600" dirty="0">
                <a:solidFill>
                  <a:schemeClr val="tx1"/>
                </a:solidFill>
              </a:rPr>
              <a:t>الطلب يضيع بين الطاولة والمطبخ والكاشير</a:t>
            </a:r>
            <a:endParaRPr lang="ar-SA" sz="3600" dirty="0"/>
          </a:p>
        </p:txBody>
      </p:sp>
      <p:sp>
        <p:nvSpPr>
          <p:cNvPr id="4" name="problem-1"/>
          <p:cNvSpPr/>
          <p:nvPr/>
        </p:nvSpPr>
        <p:spPr>
          <a:xfrm>
            <a:off x="8158277" y="1783080"/>
            <a:ext cx="3484778" cy="3429000"/>
          </a:xfrm>
          <a:prstGeom prst="roundRect">
            <a:avLst>
              <a:gd name="adj" fmla="val 4267"/>
            </a:avLst>
          </a:prstGeom>
          <a:solidFill>
            <a:schemeClr val="bg1"/>
          </a:solidFill>
          <a:ln w="9525">
            <a:solidFill>
              <a:schemeClr val="accent6"/>
            </a:solidFill>
            <a:prstDash val="solid"/>
          </a:ln>
          <a:effectLst>
            <a:outerShdw sx="100000" sy="100000" kx="0" ky="0" algn="bl" rotWithShape="0" blurRad="101600" dist="25400" dir="5400000">
              <a:srgbClr val="172331">
                <a:alpha val="8000"/>
              </a:srgbClr>
            </a:outerShdw>
          </a:effectLst>
        </p:spPr>
      </p:sp>
      <p:sp>
        <p:nvSpPr>
          <p:cNvPr id="5" name="tile-hourglass"/>
          <p:cNvSpPr/>
          <p:nvPr/>
        </p:nvSpPr>
        <p:spPr>
          <a:xfrm>
            <a:off x="10765231" y="2075688"/>
            <a:ext cx="585216" cy="585216"/>
          </a:xfrm>
          <a:prstGeom prst="roundRect">
            <a:avLst>
              <a:gd name="adj" fmla="val 26000"/>
            </a:avLst>
          </a:prstGeom>
          <a:solidFill>
            <a:schemeClr val="accent1">
              <a:alpha val="15000"/>
            </a:schemeClr>
          </a:solidFill>
          <a:ln/>
        </p:spPr>
      </p:sp>
      <p:pic>
        <p:nvPicPr>
          <p:cNvPr id="6" name="icon-hourglass" descr="preencoded.png">    </p:cNvPr>
          <p:cNvPicPr>
            <a:picLocks noChangeAspect="1"/>
          </p:cNvPicPr>
          <p:nvPr/>
        </p:nvPicPr>
        <p:blipFill>
          <a:blip r:embed="rId1"/>
          <a:stretch>
            <a:fillRect/>
          </a:stretch>
        </p:blipFill>
        <p:spPr>
          <a:xfrm>
            <a:off x="10905683" y="2216140"/>
            <a:ext cx="304312" cy="304312"/>
          </a:xfrm>
          <a:prstGeom prst="rect">
            <a:avLst/>
          </a:prstGeom>
        </p:spPr>
      </p:pic>
      <p:sp>
        <p:nvSpPr>
          <p:cNvPr id="7" name="problem-head-1"/>
          <p:cNvSpPr txBox="1"/>
          <p:nvPr/>
        </p:nvSpPr>
        <p:spPr>
          <a:xfrm>
            <a:off x="8450885" y="2807208"/>
            <a:ext cx="2899562" cy="457200"/>
          </a:xfrm>
          <a:prstGeom prst="rect">
            <a:avLst/>
          </a:prstGeom>
          <a:noFill/>
          <a:ln/>
        </p:spPr>
        <p:txBody>
          <a:bodyPr wrap="square" lIns="0" tIns="0" rIns="0" bIns="0" rtlCol="0" anchor="t"/>
          <a:lstStyle/>
          <a:p>
            <a:pPr rtl="1" algn="r" indent="0" marL="0">
              <a:buNone/>
            </a:pPr>
            <a:r>
              <a:rPr lang="ar-SA" altLang="en-US" sz="2200" b="1" dirty="0">
                <a:solidFill>
                  <a:schemeClr val="tx1"/>
                </a:solidFill>
              </a:rPr>
              <a:t>الزبون ينتظر… ويمشي</a:t>
            </a:r>
            <a:endParaRPr lang="ar-SA" sz="2200" dirty="0"/>
          </a:p>
        </p:txBody>
      </p:sp>
      <p:sp>
        <p:nvSpPr>
          <p:cNvPr id="8" name="problem-stat-1"/>
          <p:cNvSpPr txBox="1"/>
          <p:nvPr/>
        </p:nvSpPr>
        <p:spPr>
          <a:xfrm>
            <a:off x="8450885" y="3319272"/>
            <a:ext cx="2899562" cy="868680"/>
          </a:xfrm>
          <a:prstGeom prst="rect">
            <a:avLst/>
          </a:prstGeom>
          <a:noFill/>
          <a:ln/>
        </p:spPr>
        <p:txBody>
          <a:bodyPr wrap="square" lIns="0" tIns="0" rIns="0" bIns="0" rtlCol="0" anchor="ctr"/>
          <a:lstStyle/>
          <a:p>
            <a:pPr algn="r" indent="0" marL="0">
              <a:buNone/>
            </a:pPr>
            <a:r>
              <a:rPr lang="en-US" sz="5400" b="1" dirty="0">
                <a:solidFill>
                  <a:schemeClr val="accent3"/>
                </a:solidFill>
              </a:rPr>
              <a:t>‎22%</a:t>
            </a:r>
            <a:endParaRPr lang="en-US" sz="5400" dirty="0"/>
          </a:p>
        </p:txBody>
      </p:sp>
      <p:sp>
        <p:nvSpPr>
          <p:cNvPr id="9" name="problem-label-1"/>
          <p:cNvSpPr txBox="1"/>
          <p:nvPr/>
        </p:nvSpPr>
        <p:spPr>
          <a:xfrm>
            <a:off x="8450885" y="4233672"/>
            <a:ext cx="2899562" cy="822960"/>
          </a:xfrm>
          <a:prstGeom prst="rect">
            <a:avLst/>
          </a:prstGeom>
          <a:noFill/>
          <a:ln/>
        </p:spPr>
        <p:txBody>
          <a:bodyPr wrap="square" lIns="0" tIns="0" rIns="0" bIns="0" rtlCol="0" anchor="t"/>
          <a:lstStyle/>
          <a:p>
            <a:pPr rtl="1" algn="r" indent="0" marL="0">
              <a:buNone/>
            </a:pPr>
            <a:r>
              <a:rPr lang="ar-SA" altLang="en-US" sz="1600" dirty="0">
                <a:solidFill>
                  <a:schemeClr val="accent4"/>
                </a:solidFill>
              </a:rPr>
              <a:t>يغادرون المكان إذا طال الانتظار، و38% يقلّلون البقشيش</a:t>
            </a:r>
            <a:endParaRPr lang="ar-SA" sz="1600" dirty="0"/>
          </a:p>
        </p:txBody>
      </p:sp>
      <p:sp>
        <p:nvSpPr>
          <p:cNvPr id="10" name="problem-2"/>
          <p:cNvSpPr/>
          <p:nvPr/>
        </p:nvSpPr>
        <p:spPr>
          <a:xfrm>
            <a:off x="4353458" y="1783080"/>
            <a:ext cx="3484778" cy="3429000"/>
          </a:xfrm>
          <a:prstGeom prst="roundRect">
            <a:avLst>
              <a:gd name="adj" fmla="val 4267"/>
            </a:avLst>
          </a:prstGeom>
          <a:solidFill>
            <a:schemeClr val="bg1"/>
          </a:solidFill>
          <a:ln w="9525">
            <a:solidFill>
              <a:schemeClr val="accent6"/>
            </a:solidFill>
            <a:prstDash val="solid"/>
          </a:ln>
          <a:effectLst>
            <a:outerShdw sx="100000" sy="100000" kx="0" ky="0" algn="bl" rotWithShape="0" blurRad="101600" dist="25400" dir="5400000">
              <a:srgbClr val="172331">
                <a:alpha val="8000"/>
              </a:srgbClr>
            </a:outerShdw>
          </a:effectLst>
        </p:spPr>
      </p:sp>
      <p:sp>
        <p:nvSpPr>
          <p:cNvPr id="11" name="tile-notebook-pen"/>
          <p:cNvSpPr/>
          <p:nvPr/>
        </p:nvSpPr>
        <p:spPr>
          <a:xfrm>
            <a:off x="6960413" y="2075688"/>
            <a:ext cx="585216" cy="585216"/>
          </a:xfrm>
          <a:prstGeom prst="roundRect">
            <a:avLst>
              <a:gd name="adj" fmla="val 26000"/>
            </a:avLst>
          </a:prstGeom>
          <a:solidFill>
            <a:schemeClr val="tx1">
              <a:alpha val="7000"/>
            </a:schemeClr>
          </a:solidFill>
          <a:ln/>
        </p:spPr>
      </p:sp>
      <p:pic>
        <p:nvPicPr>
          <p:cNvPr id="12" name="icon-notebook-pen" descr="preencoded.png">    </p:cNvPr>
          <p:cNvPicPr>
            <a:picLocks noChangeAspect="1"/>
          </p:cNvPicPr>
          <p:nvPr/>
        </p:nvPicPr>
        <p:blipFill>
          <a:blip r:embed="rId2"/>
          <a:stretch>
            <a:fillRect/>
          </a:stretch>
        </p:blipFill>
        <p:spPr>
          <a:xfrm>
            <a:off x="7100865" y="2216140"/>
            <a:ext cx="304312" cy="304312"/>
          </a:xfrm>
          <a:prstGeom prst="rect">
            <a:avLst/>
          </a:prstGeom>
        </p:spPr>
      </p:pic>
      <p:sp>
        <p:nvSpPr>
          <p:cNvPr id="13" name="problem-head-2"/>
          <p:cNvSpPr txBox="1"/>
          <p:nvPr/>
        </p:nvSpPr>
        <p:spPr>
          <a:xfrm>
            <a:off x="4646066" y="2807208"/>
            <a:ext cx="2899562" cy="457200"/>
          </a:xfrm>
          <a:prstGeom prst="rect">
            <a:avLst/>
          </a:prstGeom>
          <a:noFill/>
          <a:ln/>
        </p:spPr>
        <p:txBody>
          <a:bodyPr wrap="square" lIns="0" tIns="0" rIns="0" bIns="0" rtlCol="0" anchor="t"/>
          <a:lstStyle/>
          <a:p>
            <a:pPr rtl="1" algn="r" indent="0" marL="0">
              <a:buNone/>
            </a:pPr>
            <a:r>
              <a:rPr lang="ar-SA" altLang="en-US" sz="2200" b="1" dirty="0">
                <a:solidFill>
                  <a:schemeClr val="tx1"/>
                </a:solidFill>
              </a:rPr>
              <a:t>المطبخ على ورقة</a:t>
            </a:r>
            <a:endParaRPr lang="ar-SA" sz="2200" dirty="0"/>
          </a:p>
        </p:txBody>
      </p:sp>
      <p:sp>
        <p:nvSpPr>
          <p:cNvPr id="14" name="problem-stat-2"/>
          <p:cNvSpPr txBox="1"/>
          <p:nvPr/>
        </p:nvSpPr>
        <p:spPr>
          <a:xfrm>
            <a:off x="4646066" y="3319272"/>
            <a:ext cx="2899562" cy="868680"/>
          </a:xfrm>
          <a:prstGeom prst="rect">
            <a:avLst/>
          </a:prstGeom>
          <a:noFill/>
          <a:ln/>
        </p:spPr>
        <p:txBody>
          <a:bodyPr wrap="square" lIns="0" tIns="0" rIns="0" bIns="0" rtlCol="0" anchor="ctr"/>
          <a:lstStyle/>
          <a:p>
            <a:pPr algn="r" indent="0" marL="0">
              <a:buNone/>
            </a:pPr>
            <a:r>
              <a:rPr lang="en-US" sz="5400" b="1" dirty="0">
                <a:solidFill>
                  <a:schemeClr val="accent3"/>
                </a:solidFill>
              </a:rPr>
              <a:t>‎0</a:t>
            </a:r>
            <a:endParaRPr lang="en-US" sz="5400" dirty="0"/>
          </a:p>
        </p:txBody>
      </p:sp>
      <p:sp>
        <p:nvSpPr>
          <p:cNvPr id="15" name="problem-label-2"/>
          <p:cNvSpPr txBox="1"/>
          <p:nvPr/>
        </p:nvSpPr>
        <p:spPr>
          <a:xfrm>
            <a:off x="4646066" y="4233672"/>
            <a:ext cx="2899562" cy="822960"/>
          </a:xfrm>
          <a:prstGeom prst="rect">
            <a:avLst/>
          </a:prstGeom>
          <a:noFill/>
          <a:ln/>
        </p:spPr>
        <p:txBody>
          <a:bodyPr wrap="square" lIns="0" tIns="0" rIns="0" bIns="0" rtlCol="0" anchor="t"/>
          <a:lstStyle/>
          <a:p>
            <a:pPr rtl="1" algn="r" indent="0" marL="0">
              <a:buNone/>
            </a:pPr>
            <a:r>
              <a:rPr lang="ar-SA" altLang="en-US" sz="1600" dirty="0">
                <a:solidFill>
                  <a:schemeClr val="accent4"/>
                </a:solidFill>
              </a:rPr>
              <a:t>تتبّع للطلب: لا الزبون ولا المالك يعرف وين وصل</a:t>
            </a:r>
            <a:endParaRPr lang="ar-SA" sz="1600" dirty="0"/>
          </a:p>
        </p:txBody>
      </p:sp>
      <p:sp>
        <p:nvSpPr>
          <p:cNvPr id="16" name="problem-3"/>
          <p:cNvSpPr/>
          <p:nvPr/>
        </p:nvSpPr>
        <p:spPr>
          <a:xfrm>
            <a:off x="548640" y="1783080"/>
            <a:ext cx="3484778" cy="3429000"/>
          </a:xfrm>
          <a:prstGeom prst="roundRect">
            <a:avLst>
              <a:gd name="adj" fmla="val 4267"/>
            </a:avLst>
          </a:prstGeom>
          <a:solidFill>
            <a:schemeClr val="bg1"/>
          </a:solidFill>
          <a:ln w="9525">
            <a:solidFill>
              <a:schemeClr val="accent6"/>
            </a:solidFill>
            <a:prstDash val="solid"/>
          </a:ln>
          <a:effectLst>
            <a:outerShdw sx="100000" sy="100000" kx="0" ky="0" algn="bl" rotWithShape="0" blurRad="101600" dist="25400" dir="5400000">
              <a:srgbClr val="172331">
                <a:alpha val="8000"/>
              </a:srgbClr>
            </a:outerShdw>
          </a:effectLst>
        </p:spPr>
      </p:sp>
      <p:sp>
        <p:nvSpPr>
          <p:cNvPr id="17" name="tile-wifi-off"/>
          <p:cNvSpPr/>
          <p:nvPr/>
        </p:nvSpPr>
        <p:spPr>
          <a:xfrm>
            <a:off x="3155594" y="2075688"/>
            <a:ext cx="585216" cy="585216"/>
          </a:xfrm>
          <a:prstGeom prst="roundRect">
            <a:avLst>
              <a:gd name="adj" fmla="val 26000"/>
            </a:avLst>
          </a:prstGeom>
          <a:solidFill>
            <a:schemeClr val="accent5">
              <a:alpha val="10000"/>
            </a:schemeClr>
          </a:solidFill>
          <a:ln/>
        </p:spPr>
      </p:sp>
      <p:pic>
        <p:nvPicPr>
          <p:cNvPr id="18" name="icon-wifi-off" descr="preencoded.png">    </p:cNvPr>
          <p:cNvPicPr>
            <a:picLocks noChangeAspect="1"/>
          </p:cNvPicPr>
          <p:nvPr/>
        </p:nvPicPr>
        <p:blipFill>
          <a:blip r:embed="rId3"/>
          <a:stretch>
            <a:fillRect/>
          </a:stretch>
        </p:blipFill>
        <p:spPr>
          <a:xfrm>
            <a:off x="3296046" y="2216140"/>
            <a:ext cx="304312" cy="304312"/>
          </a:xfrm>
          <a:prstGeom prst="rect">
            <a:avLst/>
          </a:prstGeom>
        </p:spPr>
      </p:pic>
      <p:sp>
        <p:nvSpPr>
          <p:cNvPr id="19" name="problem-head-3"/>
          <p:cNvSpPr txBox="1"/>
          <p:nvPr/>
        </p:nvSpPr>
        <p:spPr>
          <a:xfrm>
            <a:off x="841248" y="2807208"/>
            <a:ext cx="2899562" cy="457200"/>
          </a:xfrm>
          <a:prstGeom prst="rect">
            <a:avLst/>
          </a:prstGeom>
          <a:noFill/>
          <a:ln/>
        </p:spPr>
        <p:txBody>
          <a:bodyPr wrap="square" lIns="0" tIns="0" rIns="0" bIns="0" rtlCol="0" anchor="t"/>
          <a:lstStyle/>
          <a:p>
            <a:pPr rtl="1" algn="r" indent="0" marL="0">
              <a:buNone/>
            </a:pPr>
            <a:r>
              <a:rPr lang="ar-SA" altLang="en-US" sz="2200" b="1" dirty="0">
                <a:solidFill>
                  <a:schemeClr val="tx1"/>
                </a:solidFill>
              </a:rPr>
              <a:t>الشغل يقف مع النت</a:t>
            </a:r>
            <a:endParaRPr lang="ar-SA" sz="2200" dirty="0"/>
          </a:p>
        </p:txBody>
      </p:sp>
      <p:sp>
        <p:nvSpPr>
          <p:cNvPr id="20" name="problem-stat-3"/>
          <p:cNvSpPr txBox="1"/>
          <p:nvPr/>
        </p:nvSpPr>
        <p:spPr>
          <a:xfrm>
            <a:off x="841248" y="3319272"/>
            <a:ext cx="2899562" cy="868680"/>
          </a:xfrm>
          <a:prstGeom prst="rect">
            <a:avLst/>
          </a:prstGeom>
          <a:noFill/>
          <a:ln/>
        </p:spPr>
        <p:txBody>
          <a:bodyPr wrap="square" lIns="0" tIns="0" rIns="0" bIns="0" rtlCol="0" anchor="ctr"/>
          <a:lstStyle/>
          <a:p>
            <a:pPr rtl="1" algn="r" indent="0" marL="0">
              <a:buNone/>
            </a:pPr>
            <a:r>
              <a:rPr lang="ar-SA" altLang="en-US" sz="5400" b="1" dirty="0">
                <a:solidFill>
                  <a:schemeClr val="accent3"/>
                </a:solidFill>
              </a:rPr>
              <a:t>36</a:t>
            </a:r>
            <a:r>
              <a:rPr lang="ar-SA" altLang="en-US" sz="3000" b="1" dirty="0">
                <a:solidFill>
                  <a:schemeClr val="accent3"/>
                </a:solidFill>
              </a:rPr>
              <a:t> ساعة</a:t>
            </a:r>
            <a:endParaRPr lang="ar-SA" sz="5400" dirty="0"/>
          </a:p>
        </p:txBody>
      </p:sp>
      <p:sp>
        <p:nvSpPr>
          <p:cNvPr id="21" name="problem-label-3"/>
          <p:cNvSpPr txBox="1"/>
          <p:nvPr/>
        </p:nvSpPr>
        <p:spPr>
          <a:xfrm>
            <a:off x="841248" y="4233672"/>
            <a:ext cx="2899562" cy="822960"/>
          </a:xfrm>
          <a:prstGeom prst="rect">
            <a:avLst/>
          </a:prstGeom>
          <a:noFill/>
          <a:ln/>
        </p:spPr>
        <p:txBody>
          <a:bodyPr wrap="square" lIns="0" tIns="0" rIns="0" bIns="0" rtlCol="0" anchor="t"/>
          <a:lstStyle/>
          <a:p>
            <a:pPr rtl="1" algn="r" indent="0" marL="0">
              <a:buNone/>
            </a:pPr>
            <a:r>
              <a:rPr lang="ar-SA" altLang="en-US" sz="1600" dirty="0">
                <a:solidFill>
                  <a:schemeClr val="accent4"/>
                </a:solidFill>
              </a:rPr>
              <a:t>انقطاع كامل للاتصالات في غزة، أكتوبر 2023</a:t>
            </a:r>
            <a:endParaRPr lang="ar-SA" sz="1600" dirty="0"/>
          </a:p>
        </p:txBody>
      </p:sp>
      <p:sp>
        <p:nvSpPr>
          <p:cNvPr id="22" name="bridge"/>
          <p:cNvSpPr/>
          <p:nvPr/>
        </p:nvSpPr>
        <p:spPr>
          <a:xfrm>
            <a:off x="548640" y="5504688"/>
            <a:ext cx="11094415" cy="566928"/>
          </a:xfrm>
          <a:prstGeom prst="roundRect">
            <a:avLst>
              <a:gd name="adj" fmla="val 25806"/>
            </a:avLst>
          </a:prstGeom>
          <a:solidFill>
            <a:schemeClr val="accent1">
              <a:alpha val="13000"/>
            </a:schemeClr>
          </a:solidFill>
          <a:ln/>
        </p:spPr>
      </p:sp>
      <p:pic>
        <p:nvPicPr>
          <p:cNvPr id="23" name="bridge-arrow" descr="preencoded.png">    </p:cNvPr>
          <p:cNvPicPr>
            <a:picLocks noChangeAspect="1"/>
          </p:cNvPicPr>
          <p:nvPr/>
        </p:nvPicPr>
        <p:blipFill>
          <a:blip r:embed="rId4"/>
          <a:stretch>
            <a:fillRect/>
          </a:stretch>
        </p:blipFill>
        <p:spPr>
          <a:xfrm>
            <a:off x="841248" y="5650992"/>
            <a:ext cx="274320" cy="274320"/>
          </a:xfrm>
          <a:prstGeom prst="rect">
            <a:avLst/>
          </a:prstGeom>
        </p:spPr>
      </p:pic>
      <p:sp>
        <p:nvSpPr>
          <p:cNvPr id="24" name="bridge-text"/>
          <p:cNvSpPr txBox="1"/>
          <p:nvPr/>
        </p:nvSpPr>
        <p:spPr>
          <a:xfrm>
            <a:off x="1371600" y="5504688"/>
            <a:ext cx="9997135" cy="566928"/>
          </a:xfrm>
          <a:prstGeom prst="rect">
            <a:avLst/>
          </a:prstGeom>
          <a:noFill/>
          <a:ln/>
        </p:spPr>
        <p:txBody>
          <a:bodyPr wrap="square" lIns="0" tIns="0" rIns="0" bIns="0" rtlCol="0" anchor="ctr"/>
          <a:lstStyle/>
          <a:p>
            <a:pPr rtl="1" algn="r" indent="0" marL="0">
              <a:buNone/>
            </a:pPr>
            <a:r>
              <a:rPr lang="ar-SA" altLang="en-US" sz="1900" b="1" dirty="0">
                <a:solidFill>
                  <a:schemeClr val="tx2"/>
                </a:solidFill>
              </a:rPr>
              <a:t>النتيجة: فوضى… زبون ينتظر، مطبخ يخمّن، ومالك ما بيعرف شو صار</a:t>
            </a:r>
            <a:endParaRPr lang="ar-SA" sz="1900" dirty="0"/>
          </a:p>
        </p:txBody>
      </p:sp>
      <p:sp>
        <p:nvSpPr>
          <p:cNvPr id="25" name="sources"/>
          <p:cNvSpPr txBox="1"/>
          <p:nvPr/>
        </p:nvSpPr>
        <p:spPr>
          <a:xfrm>
            <a:off x="1600200" y="6373368"/>
            <a:ext cx="9418320" cy="274320"/>
          </a:xfrm>
          <a:prstGeom prst="rect">
            <a:avLst/>
          </a:prstGeom>
          <a:noFill/>
          <a:ln/>
        </p:spPr>
        <p:txBody>
          <a:bodyPr wrap="square" lIns="0" tIns="0" rIns="0" bIns="0" rtlCol="0" anchor="ctr"/>
          <a:lstStyle/>
          <a:p>
            <a:pPr rtl="1" algn="r" indent="0" marL="0">
              <a:buNone/>
            </a:pPr>
            <a:r>
              <a:rPr lang="ar-SA" altLang="en-US" sz="1000" dirty="0">
                <a:solidFill>
                  <a:schemeClr val="accent4"/>
                </a:solidFill>
              </a:rPr>
              <a:t>Union، استطلاع 1,000+ بالغ أمريكي (2023) · Access Now، «Palestine Unplugged» (2023)</a:t>
            </a:r>
            <a:endParaRPr lang="ar-SA" sz="1000" dirty="0"/>
          </a:p>
        </p:txBody>
      </p:sp>
      <p:sp>
        <p:nvSpPr>
          <p:cNvPr id="25" name="Slide Number Placeholder 0"/>
          <p:cNvSpPr>
            <a:spLocks noGrp="1"/>
          </p:cNvSpPr>
          <p:nvPr>
            <p:ph type="sldNum" sz="quarter" idx="4294967295"/>
          </p:nvPr>
        </p:nvSpPr>
        <p:spPr>
          <a:xfrm>
            <a:off x="11183112" y="6391656"/>
            <a:ext cx="457200" cy="237744"/>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4"/>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1" type="body" hasCustomPrompt="1"/>
          </p:nvPr>
        </p:nvSpPr>
        <p:spPr>
          <a:xfrm>
            <a:off x="548640" y="384048"/>
            <a:ext cx="11094415" cy="347472"/>
          </a:xfrm>
          <a:prstGeom prst="rect">
            <a:avLst/>
          </a:prstGeom>
          <a:noFill/>
          <a:ln/>
        </p:spPr>
        <p:txBody>
          <a:bodyPr wrap="square" lIns="0" tIns="0" rIns="0" bIns="0" rtlCol="0" anchor="ctr"/>
          <a:lstStyle/>
          <a:p>
            <a:pPr rtl="1" algn="r" indent="0" marL="0">
              <a:buNone/>
            </a:pPr>
            <a:r>
              <a:rPr lang="ar-SA" altLang="en-US" sz="1600" b="1" dirty="0">
                <a:solidFill>
                  <a:schemeClr val="accent3"/>
                </a:solidFill>
              </a:rPr>
              <a:t>الحل</a:t>
            </a:r>
            <a:endParaRPr lang="ar-SA" sz="1600" dirty="0"/>
          </a:p>
        </p:txBody>
      </p:sp>
      <p:sp>
        <p:nvSpPr>
          <p:cNvPr id="3" name="Text 0"/>
          <p:cNvSpPr/>
          <p:nvPr>
            <p:ph idx="102" type="title" hasCustomPrompt="1"/>
          </p:nvPr>
        </p:nvSpPr>
        <p:spPr>
          <a:xfrm>
            <a:off x="548640" y="749808"/>
            <a:ext cx="11094415" cy="749808"/>
          </a:xfrm>
          <a:prstGeom prst="rect">
            <a:avLst/>
          </a:prstGeom>
          <a:noFill/>
          <a:ln/>
        </p:spPr>
        <p:txBody>
          <a:bodyPr wrap="square" lIns="0" tIns="0" rIns="0" bIns="0" rtlCol="0" anchor="t"/>
          <a:lstStyle/>
          <a:p>
            <a:pPr rtl="1" algn="r" indent="0" marL="0">
              <a:buNone/>
            </a:pPr>
            <a:r>
              <a:rPr lang="ar-SA" altLang="en-US" sz="3600" dirty="0">
                <a:solidFill>
                  <a:schemeClr val="tx1"/>
                </a:solidFill>
              </a:rPr>
              <a:t>الفوضى صارت نظام — كل طلب بيعرف طريقه</a:t>
            </a:r>
            <a:endParaRPr lang="ar-SA" sz="3600" dirty="0"/>
          </a:p>
        </p:txBody>
      </p:sp>
      <p:sp>
        <p:nvSpPr>
          <p:cNvPr id="4" name="solution-1"/>
          <p:cNvSpPr/>
          <p:nvPr/>
        </p:nvSpPr>
        <p:spPr>
          <a:xfrm>
            <a:off x="8158277" y="1783080"/>
            <a:ext cx="3484778" cy="3429000"/>
          </a:xfrm>
          <a:prstGeom prst="roundRect">
            <a:avLst>
              <a:gd name="adj" fmla="val 4267"/>
            </a:avLst>
          </a:prstGeom>
          <a:solidFill>
            <a:schemeClr val="bg1"/>
          </a:solidFill>
          <a:ln w="9525">
            <a:solidFill>
              <a:schemeClr val="accent6"/>
            </a:solidFill>
            <a:prstDash val="solid"/>
          </a:ln>
          <a:effectLst>
            <a:outerShdw sx="100000" sy="100000" kx="0" ky="0" algn="bl" rotWithShape="0" blurRad="101600" dist="25400" dir="5400000">
              <a:srgbClr val="172331">
                <a:alpha val="8000"/>
              </a:srgbClr>
            </a:outerShdw>
          </a:effectLst>
        </p:spPr>
      </p:sp>
      <p:sp>
        <p:nvSpPr>
          <p:cNvPr id="5" name="tile-qr-code"/>
          <p:cNvSpPr/>
          <p:nvPr/>
        </p:nvSpPr>
        <p:spPr>
          <a:xfrm>
            <a:off x="10765231" y="2075688"/>
            <a:ext cx="585216" cy="585216"/>
          </a:xfrm>
          <a:prstGeom prst="roundRect">
            <a:avLst>
              <a:gd name="adj" fmla="val 26000"/>
            </a:avLst>
          </a:prstGeom>
          <a:solidFill>
            <a:schemeClr val="accent2">
              <a:alpha val="12000"/>
            </a:schemeClr>
          </a:solidFill>
          <a:ln/>
        </p:spPr>
      </p:sp>
      <p:pic>
        <p:nvPicPr>
          <p:cNvPr id="6" name="icon-qr-code" descr="preencoded.png">    </p:cNvPr>
          <p:cNvPicPr>
            <a:picLocks noChangeAspect="1"/>
          </p:cNvPicPr>
          <p:nvPr/>
        </p:nvPicPr>
        <p:blipFill>
          <a:blip r:embed="rId1"/>
          <a:stretch>
            <a:fillRect/>
          </a:stretch>
        </p:blipFill>
        <p:spPr>
          <a:xfrm>
            <a:off x="10905683" y="2216140"/>
            <a:ext cx="304312" cy="304312"/>
          </a:xfrm>
          <a:prstGeom prst="rect">
            <a:avLst/>
          </a:prstGeom>
        </p:spPr>
      </p:pic>
      <p:sp>
        <p:nvSpPr>
          <p:cNvPr id="7" name="solution-tag-bg-1"/>
          <p:cNvSpPr/>
          <p:nvPr/>
        </p:nvSpPr>
        <p:spPr>
          <a:xfrm>
            <a:off x="8450885" y="2176272"/>
            <a:ext cx="1417320" cy="384048"/>
          </a:xfrm>
          <a:prstGeom prst="roundRect">
            <a:avLst>
              <a:gd name="adj" fmla="val 50000"/>
            </a:avLst>
          </a:prstGeom>
          <a:solidFill>
            <a:schemeClr val="tx1">
              <a:alpha val="7000"/>
            </a:schemeClr>
          </a:solidFill>
          <a:ln/>
        </p:spPr>
      </p:sp>
      <p:sp>
        <p:nvSpPr>
          <p:cNvPr id="8" name="solution-tag-1"/>
          <p:cNvSpPr txBox="1"/>
          <p:nvPr/>
        </p:nvSpPr>
        <p:spPr>
          <a:xfrm>
            <a:off x="8450885" y="2176272"/>
            <a:ext cx="1417320" cy="384048"/>
          </a:xfrm>
          <a:prstGeom prst="rect">
            <a:avLst/>
          </a:prstGeom>
          <a:noFill/>
          <a:ln/>
        </p:spPr>
        <p:txBody>
          <a:bodyPr wrap="square" lIns="0" tIns="0" rIns="0" bIns="0" rtlCol="0" anchor="ctr"/>
          <a:lstStyle/>
          <a:p>
            <a:pPr rtl="1" algn="ctr" indent="0" marL="0">
              <a:buNone/>
            </a:pPr>
            <a:r>
              <a:rPr lang="ar-SA" altLang="en-US" sz="1400" b="1" dirty="0">
                <a:solidFill>
                  <a:schemeClr val="accent4"/>
                </a:solidFill>
              </a:rPr>
              <a:t>بدل الانتظار</a:t>
            </a:r>
            <a:endParaRPr lang="ar-SA" sz="1400" dirty="0"/>
          </a:p>
        </p:txBody>
      </p:sp>
      <p:sp>
        <p:nvSpPr>
          <p:cNvPr id="9" name="solution-head-1"/>
          <p:cNvSpPr txBox="1"/>
          <p:nvPr/>
        </p:nvSpPr>
        <p:spPr>
          <a:xfrm>
            <a:off x="8450885" y="2807208"/>
            <a:ext cx="2899562" cy="457200"/>
          </a:xfrm>
          <a:prstGeom prst="rect">
            <a:avLst/>
          </a:prstGeom>
          <a:noFill/>
          <a:ln/>
        </p:spPr>
        <p:txBody>
          <a:bodyPr wrap="square" lIns="0" tIns="0" rIns="0" bIns="0" rtlCol="0" anchor="t"/>
          <a:lstStyle/>
          <a:p>
            <a:pPr rtl="1" algn="r" indent="0" marL="0">
              <a:buNone/>
            </a:pPr>
            <a:r>
              <a:rPr lang="ar-SA" altLang="en-US" sz="2200" b="1" dirty="0">
                <a:solidFill>
                  <a:schemeClr val="tx1"/>
                </a:solidFill>
              </a:rPr>
              <a:t>الزبون يطلب من جواله</a:t>
            </a:r>
            <a:endParaRPr lang="ar-SA" sz="2200" dirty="0"/>
          </a:p>
        </p:txBody>
      </p:sp>
      <p:sp>
        <p:nvSpPr>
          <p:cNvPr id="10" name="solution-body-1"/>
          <p:cNvSpPr txBox="1"/>
          <p:nvPr/>
        </p:nvSpPr>
        <p:spPr>
          <a:xfrm>
            <a:off x="8450885" y="3355848"/>
            <a:ext cx="2899562" cy="1691640"/>
          </a:xfrm>
          <a:prstGeom prst="rect">
            <a:avLst/>
          </a:prstGeom>
          <a:noFill/>
          <a:ln/>
        </p:spPr>
        <p:txBody>
          <a:bodyPr wrap="square" lIns="0" tIns="0" rIns="0" bIns="0" rtlCol="0" anchor="t"/>
          <a:lstStyle/>
          <a:p>
            <a:pPr rtl="1" algn="r" indent="0" marL="0">
              <a:lnSpc>
                <a:spcPct val="110000"/>
              </a:lnSpc>
              <a:buNone/>
            </a:pPr>
            <a:r>
              <a:rPr lang="ar-SA" altLang="en-US" sz="2000" dirty="0">
                <a:solidFill>
                  <a:schemeClr val="tx2"/>
                </a:solidFill>
              </a:rPr>
              <a:t>يمسح QR الطاولة، يطلب ويتابع طلبه لحظة بلحظة — بلا نادل وبلا تطبيق</a:t>
            </a:r>
            <a:endParaRPr lang="ar-SA" sz="2000" dirty="0"/>
          </a:p>
        </p:txBody>
      </p:sp>
      <p:sp>
        <p:nvSpPr>
          <p:cNvPr id="11" name="solution-2"/>
          <p:cNvSpPr/>
          <p:nvPr/>
        </p:nvSpPr>
        <p:spPr>
          <a:xfrm>
            <a:off x="4353458" y="1783080"/>
            <a:ext cx="3484778" cy="3429000"/>
          </a:xfrm>
          <a:prstGeom prst="roundRect">
            <a:avLst>
              <a:gd name="adj" fmla="val 4267"/>
            </a:avLst>
          </a:prstGeom>
          <a:solidFill>
            <a:schemeClr val="bg1"/>
          </a:solidFill>
          <a:ln w="9525">
            <a:solidFill>
              <a:schemeClr val="accent6"/>
            </a:solidFill>
            <a:prstDash val="solid"/>
          </a:ln>
          <a:effectLst>
            <a:outerShdw sx="100000" sy="100000" kx="0" ky="0" algn="bl" rotWithShape="0" blurRad="101600" dist="25400" dir="5400000">
              <a:srgbClr val="172331">
                <a:alpha val="8000"/>
              </a:srgbClr>
            </a:outerShdw>
          </a:effectLst>
        </p:spPr>
      </p:sp>
      <p:sp>
        <p:nvSpPr>
          <p:cNvPr id="12" name="tile-chef-hat"/>
          <p:cNvSpPr/>
          <p:nvPr/>
        </p:nvSpPr>
        <p:spPr>
          <a:xfrm>
            <a:off x="6960413" y="2075688"/>
            <a:ext cx="585216" cy="585216"/>
          </a:xfrm>
          <a:prstGeom prst="roundRect">
            <a:avLst>
              <a:gd name="adj" fmla="val 26000"/>
            </a:avLst>
          </a:prstGeom>
          <a:solidFill>
            <a:schemeClr val="accent2">
              <a:alpha val="12000"/>
            </a:schemeClr>
          </a:solidFill>
          <a:ln/>
        </p:spPr>
      </p:sp>
      <p:pic>
        <p:nvPicPr>
          <p:cNvPr id="13" name="icon-chef-hat" descr="preencoded.png">    </p:cNvPr>
          <p:cNvPicPr>
            <a:picLocks noChangeAspect="1"/>
          </p:cNvPicPr>
          <p:nvPr/>
        </p:nvPicPr>
        <p:blipFill>
          <a:blip r:embed="rId2"/>
          <a:stretch>
            <a:fillRect/>
          </a:stretch>
        </p:blipFill>
        <p:spPr>
          <a:xfrm>
            <a:off x="7100865" y="2216140"/>
            <a:ext cx="304312" cy="304312"/>
          </a:xfrm>
          <a:prstGeom prst="rect">
            <a:avLst/>
          </a:prstGeom>
        </p:spPr>
      </p:pic>
      <p:sp>
        <p:nvSpPr>
          <p:cNvPr id="14" name="solution-tag-bg-2"/>
          <p:cNvSpPr/>
          <p:nvPr/>
        </p:nvSpPr>
        <p:spPr>
          <a:xfrm>
            <a:off x="4646066" y="2176272"/>
            <a:ext cx="1417320" cy="384048"/>
          </a:xfrm>
          <a:prstGeom prst="roundRect">
            <a:avLst>
              <a:gd name="adj" fmla="val 50000"/>
            </a:avLst>
          </a:prstGeom>
          <a:solidFill>
            <a:schemeClr val="tx1">
              <a:alpha val="7000"/>
            </a:schemeClr>
          </a:solidFill>
          <a:ln/>
        </p:spPr>
      </p:sp>
      <p:sp>
        <p:nvSpPr>
          <p:cNvPr id="15" name="solution-tag-2"/>
          <p:cNvSpPr txBox="1"/>
          <p:nvPr/>
        </p:nvSpPr>
        <p:spPr>
          <a:xfrm>
            <a:off x="4646066" y="2176272"/>
            <a:ext cx="1417320" cy="384048"/>
          </a:xfrm>
          <a:prstGeom prst="rect">
            <a:avLst/>
          </a:prstGeom>
          <a:noFill/>
          <a:ln/>
        </p:spPr>
        <p:txBody>
          <a:bodyPr wrap="square" lIns="0" tIns="0" rIns="0" bIns="0" rtlCol="0" anchor="ctr"/>
          <a:lstStyle/>
          <a:p>
            <a:pPr rtl="1" algn="ctr" indent="0" marL="0">
              <a:buNone/>
            </a:pPr>
            <a:r>
              <a:rPr lang="ar-SA" altLang="en-US" sz="1400" b="1" dirty="0">
                <a:solidFill>
                  <a:schemeClr val="accent4"/>
                </a:solidFill>
              </a:rPr>
              <a:t>بدل الورقة</a:t>
            </a:r>
            <a:endParaRPr lang="ar-SA" sz="1400" dirty="0"/>
          </a:p>
        </p:txBody>
      </p:sp>
      <p:sp>
        <p:nvSpPr>
          <p:cNvPr id="16" name="solution-head-2"/>
          <p:cNvSpPr txBox="1"/>
          <p:nvPr/>
        </p:nvSpPr>
        <p:spPr>
          <a:xfrm>
            <a:off x="4646066" y="2807208"/>
            <a:ext cx="2899562" cy="457200"/>
          </a:xfrm>
          <a:prstGeom prst="rect">
            <a:avLst/>
          </a:prstGeom>
          <a:noFill/>
          <a:ln/>
        </p:spPr>
        <p:txBody>
          <a:bodyPr wrap="square" lIns="0" tIns="0" rIns="0" bIns="0" rtlCol="0" anchor="t"/>
          <a:lstStyle/>
          <a:p>
            <a:pPr rtl="1" algn="r" indent="0" marL="0">
              <a:buNone/>
            </a:pPr>
            <a:r>
              <a:rPr lang="ar-SA" altLang="en-US" sz="2200" b="1" dirty="0">
                <a:solidFill>
                  <a:schemeClr val="tx1"/>
                </a:solidFill>
              </a:rPr>
              <a:t>المطبخ يستلم فورًا</a:t>
            </a:r>
            <a:endParaRPr lang="ar-SA" sz="2200" dirty="0"/>
          </a:p>
        </p:txBody>
      </p:sp>
      <p:sp>
        <p:nvSpPr>
          <p:cNvPr id="17" name="solution-body-2"/>
          <p:cNvSpPr txBox="1"/>
          <p:nvPr/>
        </p:nvSpPr>
        <p:spPr>
          <a:xfrm>
            <a:off x="4646066" y="3355848"/>
            <a:ext cx="2899562" cy="1691640"/>
          </a:xfrm>
          <a:prstGeom prst="rect">
            <a:avLst/>
          </a:prstGeom>
          <a:noFill/>
          <a:ln/>
        </p:spPr>
        <p:txBody>
          <a:bodyPr wrap="square" lIns="0" tIns="0" rIns="0" bIns="0" rtlCol="0" anchor="t"/>
          <a:lstStyle/>
          <a:p>
            <a:pPr rtl="1" algn="r" indent="0" marL="0">
              <a:lnSpc>
                <a:spcPct val="110000"/>
              </a:lnSpc>
              <a:buNone/>
            </a:pPr>
            <a:r>
              <a:rPr lang="ar-SA" altLang="en-US" sz="2000" dirty="0">
                <a:solidFill>
                  <a:schemeClr val="tx2"/>
                </a:solidFill>
              </a:rPr>
              <a:t>الطلب يظهر على شاشة المطبخ مرتّبًا حسب الوقت، والكل يشوف حالته</a:t>
            </a:r>
            <a:endParaRPr lang="ar-SA" sz="2000" dirty="0"/>
          </a:p>
        </p:txBody>
      </p:sp>
      <p:sp>
        <p:nvSpPr>
          <p:cNvPr id="18" name="solution-3"/>
          <p:cNvSpPr/>
          <p:nvPr/>
        </p:nvSpPr>
        <p:spPr>
          <a:xfrm>
            <a:off x="548640" y="1783080"/>
            <a:ext cx="3484778" cy="3429000"/>
          </a:xfrm>
          <a:prstGeom prst="roundRect">
            <a:avLst>
              <a:gd name="adj" fmla="val 4267"/>
            </a:avLst>
          </a:prstGeom>
          <a:solidFill>
            <a:schemeClr val="bg1"/>
          </a:solidFill>
          <a:ln w="9525">
            <a:solidFill>
              <a:schemeClr val="accent6"/>
            </a:solidFill>
            <a:prstDash val="solid"/>
          </a:ln>
          <a:effectLst>
            <a:outerShdw sx="100000" sy="100000" kx="0" ky="0" algn="bl" rotWithShape="0" blurRad="101600" dist="25400" dir="5400000">
              <a:srgbClr val="172331">
                <a:alpha val="8000"/>
              </a:srgbClr>
            </a:outerShdw>
          </a:effectLst>
        </p:spPr>
      </p:sp>
      <p:sp>
        <p:nvSpPr>
          <p:cNvPr id="19" name="tile-cloud-off"/>
          <p:cNvSpPr/>
          <p:nvPr/>
        </p:nvSpPr>
        <p:spPr>
          <a:xfrm>
            <a:off x="3155594" y="2075688"/>
            <a:ext cx="585216" cy="585216"/>
          </a:xfrm>
          <a:prstGeom prst="roundRect">
            <a:avLst>
              <a:gd name="adj" fmla="val 26000"/>
            </a:avLst>
          </a:prstGeom>
          <a:solidFill>
            <a:schemeClr val="accent2">
              <a:alpha val="12000"/>
            </a:schemeClr>
          </a:solidFill>
          <a:ln/>
        </p:spPr>
      </p:sp>
      <p:pic>
        <p:nvPicPr>
          <p:cNvPr id="20" name="icon-cloud-off" descr="preencoded.png">    </p:cNvPr>
          <p:cNvPicPr>
            <a:picLocks noChangeAspect="1"/>
          </p:cNvPicPr>
          <p:nvPr/>
        </p:nvPicPr>
        <p:blipFill>
          <a:blip r:embed="rId3"/>
          <a:stretch>
            <a:fillRect/>
          </a:stretch>
        </p:blipFill>
        <p:spPr>
          <a:xfrm>
            <a:off x="3296046" y="2216140"/>
            <a:ext cx="304312" cy="304312"/>
          </a:xfrm>
          <a:prstGeom prst="rect">
            <a:avLst/>
          </a:prstGeom>
        </p:spPr>
      </p:pic>
      <p:sp>
        <p:nvSpPr>
          <p:cNvPr id="21" name="solution-tag-bg-3"/>
          <p:cNvSpPr/>
          <p:nvPr/>
        </p:nvSpPr>
        <p:spPr>
          <a:xfrm>
            <a:off x="841248" y="2176272"/>
            <a:ext cx="1417320" cy="384048"/>
          </a:xfrm>
          <a:prstGeom prst="roundRect">
            <a:avLst>
              <a:gd name="adj" fmla="val 50000"/>
            </a:avLst>
          </a:prstGeom>
          <a:solidFill>
            <a:schemeClr val="tx1">
              <a:alpha val="7000"/>
            </a:schemeClr>
          </a:solidFill>
          <a:ln/>
        </p:spPr>
      </p:sp>
      <p:sp>
        <p:nvSpPr>
          <p:cNvPr id="22" name="solution-tag-3"/>
          <p:cNvSpPr txBox="1"/>
          <p:nvPr/>
        </p:nvSpPr>
        <p:spPr>
          <a:xfrm>
            <a:off x="841248" y="2176272"/>
            <a:ext cx="1417320" cy="384048"/>
          </a:xfrm>
          <a:prstGeom prst="rect">
            <a:avLst/>
          </a:prstGeom>
          <a:noFill/>
          <a:ln/>
        </p:spPr>
        <p:txBody>
          <a:bodyPr wrap="square" lIns="0" tIns="0" rIns="0" bIns="0" rtlCol="0" anchor="ctr"/>
          <a:lstStyle/>
          <a:p>
            <a:pPr rtl="1" algn="ctr" indent="0" marL="0">
              <a:buNone/>
            </a:pPr>
            <a:r>
              <a:rPr lang="ar-SA" altLang="en-US" sz="1400" b="1" dirty="0">
                <a:solidFill>
                  <a:schemeClr val="accent4"/>
                </a:solidFill>
              </a:rPr>
              <a:t>بدل التوقف</a:t>
            </a:r>
            <a:endParaRPr lang="ar-SA" sz="1400" dirty="0"/>
          </a:p>
        </p:txBody>
      </p:sp>
      <p:sp>
        <p:nvSpPr>
          <p:cNvPr id="23" name="solution-head-3"/>
          <p:cNvSpPr txBox="1"/>
          <p:nvPr/>
        </p:nvSpPr>
        <p:spPr>
          <a:xfrm>
            <a:off x="841248" y="2807208"/>
            <a:ext cx="2899562" cy="457200"/>
          </a:xfrm>
          <a:prstGeom prst="rect">
            <a:avLst/>
          </a:prstGeom>
          <a:noFill/>
          <a:ln/>
        </p:spPr>
        <p:txBody>
          <a:bodyPr wrap="square" lIns="0" tIns="0" rIns="0" bIns="0" rtlCol="0" anchor="t"/>
          <a:lstStyle/>
          <a:p>
            <a:pPr rtl="1" algn="r" indent="0" marL="0">
              <a:buNone/>
            </a:pPr>
            <a:r>
              <a:rPr lang="ar-SA" altLang="en-US" sz="2200" b="1" dirty="0">
                <a:solidFill>
                  <a:schemeClr val="tx1"/>
                </a:solidFill>
              </a:rPr>
              <a:t>يكمل والنت مقطوع</a:t>
            </a:r>
            <a:endParaRPr lang="ar-SA" sz="2200" dirty="0"/>
          </a:p>
        </p:txBody>
      </p:sp>
      <p:sp>
        <p:nvSpPr>
          <p:cNvPr id="24" name="solution-body-3"/>
          <p:cNvSpPr txBox="1"/>
          <p:nvPr/>
        </p:nvSpPr>
        <p:spPr>
          <a:xfrm>
            <a:off x="841248" y="3355848"/>
            <a:ext cx="2899562" cy="1691640"/>
          </a:xfrm>
          <a:prstGeom prst="rect">
            <a:avLst/>
          </a:prstGeom>
          <a:noFill/>
          <a:ln/>
        </p:spPr>
        <p:txBody>
          <a:bodyPr wrap="square" lIns="0" tIns="0" rIns="0" bIns="0" rtlCol="0" anchor="t"/>
          <a:lstStyle/>
          <a:p>
            <a:pPr rtl="1" algn="r" indent="0" marL="0">
              <a:lnSpc>
                <a:spcPct val="110000"/>
              </a:lnSpc>
              <a:buNone/>
            </a:pPr>
            <a:r>
              <a:rPr lang="ar-SA" altLang="en-US" sz="2000" dirty="0">
                <a:solidFill>
                  <a:schemeClr val="tx2"/>
                </a:solidFill>
              </a:rPr>
              <a:t>المطبخ والكاشير بكمّلوا شغلهم، والتغييرات تتزامن لحالها لما يرجع النت</a:t>
            </a:r>
            <a:endParaRPr lang="ar-SA" sz="2000" dirty="0"/>
          </a:p>
        </p:txBody>
      </p:sp>
      <p:sp>
        <p:nvSpPr>
          <p:cNvPr id="25" name="bridge"/>
          <p:cNvSpPr/>
          <p:nvPr/>
        </p:nvSpPr>
        <p:spPr>
          <a:xfrm>
            <a:off x="548640" y="5504688"/>
            <a:ext cx="11094415" cy="566928"/>
          </a:xfrm>
          <a:prstGeom prst="roundRect">
            <a:avLst>
              <a:gd name="adj" fmla="val 25806"/>
            </a:avLst>
          </a:prstGeom>
          <a:solidFill>
            <a:schemeClr val="accent1">
              <a:alpha val="13000"/>
            </a:schemeClr>
          </a:solidFill>
          <a:ln/>
        </p:spPr>
      </p:sp>
      <p:pic>
        <p:nvPicPr>
          <p:cNvPr id="26" name="bridge-arrow" descr="preencoded.png">    </p:cNvPr>
          <p:cNvPicPr>
            <a:picLocks noChangeAspect="1"/>
          </p:cNvPicPr>
          <p:nvPr/>
        </p:nvPicPr>
        <p:blipFill>
          <a:blip r:embed="rId4"/>
          <a:stretch>
            <a:fillRect/>
          </a:stretch>
        </p:blipFill>
        <p:spPr>
          <a:xfrm>
            <a:off x="841248" y="5650992"/>
            <a:ext cx="274320" cy="274320"/>
          </a:xfrm>
          <a:prstGeom prst="rect">
            <a:avLst/>
          </a:prstGeom>
        </p:spPr>
      </p:pic>
      <p:sp>
        <p:nvSpPr>
          <p:cNvPr id="27" name="bridge-text"/>
          <p:cNvSpPr txBox="1"/>
          <p:nvPr/>
        </p:nvSpPr>
        <p:spPr>
          <a:xfrm>
            <a:off x="1371600" y="5504688"/>
            <a:ext cx="9997135" cy="566928"/>
          </a:xfrm>
          <a:prstGeom prst="rect">
            <a:avLst/>
          </a:prstGeom>
          <a:noFill/>
          <a:ln/>
        </p:spPr>
        <p:txBody>
          <a:bodyPr wrap="square" lIns="0" tIns="0" rIns="0" bIns="0" rtlCol="0" anchor="ctr"/>
          <a:lstStyle/>
          <a:p>
            <a:pPr rtl="1" algn="r" indent="0" marL="0">
              <a:buNone/>
            </a:pPr>
            <a:r>
              <a:rPr lang="ar-SA" altLang="en-US" sz="1900" b="1" dirty="0">
                <a:solidFill>
                  <a:schemeClr val="tx2"/>
                </a:solidFill>
              </a:rPr>
              <a:t>وهذا مش كلام على ورق…</a:t>
            </a:r>
            <a:endParaRPr lang="ar-SA" sz="1900" dirty="0"/>
          </a:p>
        </p:txBody>
      </p:sp>
      <p:sp>
        <p:nvSpPr>
          <p:cNvPr id="25" name="Slide Number Placeholder 0"/>
          <p:cNvSpPr>
            <a:spLocks noGrp="1"/>
          </p:cNvSpPr>
          <p:nvPr>
            <p:ph type="sldNum" sz="quarter" idx="4294967295"/>
          </p:nvPr>
        </p:nvSpPr>
        <p:spPr>
          <a:xfrm>
            <a:off x="11183112" y="6391656"/>
            <a:ext cx="457200" cy="237744"/>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4"/>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1" type="body" hasCustomPrompt="1"/>
          </p:nvPr>
        </p:nvSpPr>
        <p:spPr>
          <a:xfrm>
            <a:off x="548640" y="384048"/>
            <a:ext cx="11094415" cy="347472"/>
          </a:xfrm>
          <a:prstGeom prst="rect">
            <a:avLst/>
          </a:prstGeom>
          <a:noFill/>
          <a:ln/>
        </p:spPr>
        <p:txBody>
          <a:bodyPr wrap="square" lIns="0" tIns="0" rIns="0" bIns="0" rtlCol="0" anchor="ctr"/>
          <a:lstStyle/>
          <a:p>
            <a:pPr rtl="1" algn="r" indent="0" marL="0">
              <a:buNone/>
            </a:pPr>
            <a:r>
              <a:rPr lang="ar-SA" altLang="en-US" sz="1600" b="1" dirty="0">
                <a:solidFill>
                  <a:schemeClr val="accent3"/>
                </a:solidFill>
              </a:rPr>
              <a:t>الإنجاز</a:t>
            </a:r>
            <a:endParaRPr lang="ar-SA" sz="1600" dirty="0"/>
          </a:p>
        </p:txBody>
      </p:sp>
      <p:sp>
        <p:nvSpPr>
          <p:cNvPr id="3" name="Text 0"/>
          <p:cNvSpPr/>
          <p:nvPr>
            <p:ph idx="102" type="title" hasCustomPrompt="1"/>
          </p:nvPr>
        </p:nvSpPr>
        <p:spPr>
          <a:xfrm>
            <a:off x="548640" y="749808"/>
            <a:ext cx="11094415" cy="749808"/>
          </a:xfrm>
          <a:prstGeom prst="rect">
            <a:avLst/>
          </a:prstGeom>
          <a:noFill/>
          <a:ln/>
        </p:spPr>
        <p:txBody>
          <a:bodyPr wrap="square" lIns="0" tIns="0" rIns="0" bIns="0" rtlCol="0" anchor="t"/>
          <a:lstStyle/>
          <a:p>
            <a:pPr rtl="1" algn="r" indent="0" marL="0">
              <a:buNone/>
            </a:pPr>
            <a:r>
              <a:rPr lang="ar-SA" altLang="en-US" sz="3600" dirty="0">
                <a:solidFill>
                  <a:schemeClr val="tx1"/>
                </a:solidFill>
              </a:rPr>
              <a:t>النظام شغّال اليوم — مش نموذج على ورق</a:t>
            </a:r>
            <a:endParaRPr lang="ar-SA" sz="3600" dirty="0"/>
          </a:p>
        </p:txBody>
      </p:sp>
      <p:sp>
        <p:nvSpPr>
          <p:cNvPr id="4" name="kitchen-frame"/>
          <p:cNvSpPr/>
          <p:nvPr/>
        </p:nvSpPr>
        <p:spPr>
          <a:xfrm>
            <a:off x="548640" y="1783080"/>
            <a:ext cx="5394960" cy="3371850"/>
          </a:xfrm>
          <a:prstGeom prst="roundRect">
            <a:avLst>
              <a:gd name="adj" fmla="val 3254"/>
            </a:avLst>
          </a:prstGeom>
          <a:solidFill>
            <a:schemeClr val="bg1"/>
          </a:solidFill>
          <a:ln w="9525">
            <a:solidFill>
              <a:schemeClr val="accent6"/>
            </a:solidFill>
            <a:prstDash val="solid"/>
          </a:ln>
          <a:effectLst>
            <a:outerShdw sx="100000" sy="100000" kx="0" ky="0" algn="bl" rotWithShape="0" blurRad="101600" dist="25400" dir="5400000">
              <a:srgbClr val="172331">
                <a:alpha val="8000"/>
              </a:srgbClr>
            </a:outerShdw>
          </a:effectLst>
        </p:spPr>
      </p:sp>
      <p:pic>
        <p:nvPicPr>
          <p:cNvPr id="5" name="kitchen-screen" descr="شاشة المطبخ في menuPilot: تذاكر الطلبات مرتّبة حسب الوقت">    </p:cNvPr>
          <p:cNvPicPr>
            <a:picLocks noChangeAspect="1"/>
          </p:cNvPicPr>
          <p:nvPr/>
        </p:nvPicPr>
        <p:blipFill>
          <a:blip r:embed="rId1"/>
          <a:stretch>
            <a:fillRect/>
          </a:stretch>
        </p:blipFill>
        <p:spPr>
          <a:xfrm>
            <a:off x="548640" y="1783080"/>
            <a:ext cx="5394960" cy="3371850"/>
          </a:xfrm>
          <a:prstGeom prst="rect">
            <a:avLst/>
          </a:prstGeom>
        </p:spPr>
      </p:pic>
      <p:sp>
        <p:nvSpPr>
          <p:cNvPr id="6" name="phone-frame"/>
          <p:cNvSpPr/>
          <p:nvPr/>
        </p:nvSpPr>
        <p:spPr>
          <a:xfrm>
            <a:off x="5193792" y="2039112"/>
            <a:ext cx="1585747" cy="3282696"/>
          </a:xfrm>
          <a:prstGeom prst="roundRect">
            <a:avLst>
              <a:gd name="adj" fmla="val 12686"/>
            </a:avLst>
          </a:prstGeom>
          <a:solidFill>
            <a:schemeClr val="tx1"/>
          </a:solidFill>
          <a:ln/>
          <a:effectLst>
            <a:outerShdw sx="100000" sy="100000" kx="0" ky="0" algn="bl" rotWithShape="0" blurRad="177800" dist="50800" dir="5400000">
              <a:srgbClr val="172331">
                <a:alpha val="25000"/>
              </a:srgbClr>
            </a:outerShdw>
          </a:effectLst>
        </p:spPr>
      </p:sp>
      <p:pic>
        <p:nvPicPr>
          <p:cNvPr id="7" name="phone-menu" descr="منيو الزبون على الجوال بعد مسح رمز الطاولة">    </p:cNvPr>
          <p:cNvPicPr>
            <a:picLocks noChangeAspect="1"/>
          </p:cNvPicPr>
          <p:nvPr/>
        </p:nvPicPr>
        <p:blipFill>
          <a:blip r:embed="rId2"/>
          <a:stretch>
            <a:fillRect/>
          </a:stretch>
        </p:blipFill>
        <p:spPr>
          <a:xfrm>
            <a:off x="5257800" y="2103120"/>
            <a:ext cx="1457731" cy="3154680"/>
          </a:xfrm>
          <a:prstGeom prst="rect">
            <a:avLst/>
          </a:prstGeom>
        </p:spPr>
      </p:pic>
      <p:sp>
        <p:nvSpPr>
          <p:cNvPr id="8" name="progress-1"/>
          <p:cNvSpPr/>
          <p:nvPr/>
        </p:nvSpPr>
        <p:spPr>
          <a:xfrm>
            <a:off x="9433408" y="1783080"/>
            <a:ext cx="2209648" cy="1600200"/>
          </a:xfrm>
          <a:prstGeom prst="roundRect">
            <a:avLst>
              <a:gd name="adj" fmla="val 9143"/>
            </a:avLst>
          </a:prstGeom>
          <a:solidFill>
            <a:schemeClr val="bg1"/>
          </a:solidFill>
          <a:ln w="9525">
            <a:solidFill>
              <a:schemeClr val="accent6"/>
            </a:solidFill>
            <a:prstDash val="solid"/>
          </a:ln>
          <a:effectLst>
            <a:outerShdw sx="100000" sy="100000" kx="0" ky="0" algn="bl" rotWithShape="0" blurRad="101600" dist="25400" dir="5400000">
              <a:srgbClr val="172331">
                <a:alpha val="8000"/>
              </a:srgbClr>
            </a:outerShdw>
          </a:effectLst>
        </p:spPr>
      </p:sp>
      <p:sp>
        <p:nvSpPr>
          <p:cNvPr id="9" name="Text 5"/>
          <p:cNvSpPr txBox="1"/>
          <p:nvPr/>
        </p:nvSpPr>
        <p:spPr>
          <a:xfrm>
            <a:off x="9689440" y="1965960"/>
            <a:ext cx="1697584" cy="640080"/>
          </a:xfrm>
          <a:prstGeom prst="rect">
            <a:avLst/>
          </a:prstGeom>
          <a:noFill/>
          <a:ln/>
        </p:spPr>
        <p:txBody>
          <a:bodyPr wrap="square" lIns="0" tIns="0" rIns="0" bIns="0" rtlCol="0" anchor="ctr"/>
          <a:lstStyle/>
          <a:p>
            <a:pPr algn="r" indent="0" marL="0">
              <a:buNone/>
            </a:pPr>
            <a:r>
              <a:rPr lang="en-US" sz="4000" b="1" dirty="0">
                <a:solidFill>
                  <a:schemeClr val="accent3"/>
                </a:solidFill>
              </a:rPr>
              <a:t>‎5</a:t>
            </a:r>
            <a:endParaRPr lang="en-US" sz="4000" dirty="0"/>
          </a:p>
        </p:txBody>
      </p:sp>
      <p:sp>
        <p:nvSpPr>
          <p:cNvPr id="10" name="progress-label-1"/>
          <p:cNvSpPr txBox="1"/>
          <p:nvPr/>
        </p:nvSpPr>
        <p:spPr>
          <a:xfrm>
            <a:off x="9689440" y="2624328"/>
            <a:ext cx="1697584" cy="640080"/>
          </a:xfrm>
          <a:prstGeom prst="rect">
            <a:avLst/>
          </a:prstGeom>
          <a:noFill/>
          <a:ln/>
        </p:spPr>
        <p:txBody>
          <a:bodyPr wrap="square" lIns="0" tIns="0" rIns="0" bIns="0" rtlCol="0" anchor="t"/>
          <a:lstStyle/>
          <a:p>
            <a:pPr rtl="1" algn="r" indent="0" marL="0">
              <a:buNone/>
            </a:pPr>
            <a:r>
              <a:rPr lang="ar-SA" altLang="en-US" sz="1500" dirty="0">
                <a:solidFill>
                  <a:schemeClr val="accent4"/>
                </a:solidFill>
              </a:rPr>
              <a:t>أدوار بشاشاتها، من الزبون للمالك</a:t>
            </a:r>
            <a:endParaRPr lang="ar-SA" sz="1500" dirty="0"/>
          </a:p>
        </p:txBody>
      </p:sp>
      <p:sp>
        <p:nvSpPr>
          <p:cNvPr id="11" name="progress-2"/>
          <p:cNvSpPr/>
          <p:nvPr/>
        </p:nvSpPr>
        <p:spPr>
          <a:xfrm>
            <a:off x="6995160" y="1783080"/>
            <a:ext cx="2209648" cy="1600200"/>
          </a:xfrm>
          <a:prstGeom prst="roundRect">
            <a:avLst>
              <a:gd name="adj" fmla="val 9143"/>
            </a:avLst>
          </a:prstGeom>
          <a:solidFill>
            <a:schemeClr val="bg1"/>
          </a:solidFill>
          <a:ln w="9525">
            <a:solidFill>
              <a:schemeClr val="accent6"/>
            </a:solidFill>
            <a:prstDash val="solid"/>
          </a:ln>
          <a:effectLst>
            <a:outerShdw sx="100000" sy="100000" kx="0" ky="0" algn="bl" rotWithShape="0" blurRad="101600" dist="25400" dir="5400000">
              <a:srgbClr val="172331">
                <a:alpha val="8000"/>
              </a:srgbClr>
            </a:outerShdw>
          </a:effectLst>
        </p:spPr>
      </p:sp>
      <p:sp>
        <p:nvSpPr>
          <p:cNvPr id="12" name="Text 8"/>
          <p:cNvSpPr txBox="1"/>
          <p:nvPr/>
        </p:nvSpPr>
        <p:spPr>
          <a:xfrm>
            <a:off x="7251192" y="1965960"/>
            <a:ext cx="1697584" cy="640080"/>
          </a:xfrm>
          <a:prstGeom prst="rect">
            <a:avLst/>
          </a:prstGeom>
          <a:noFill/>
          <a:ln/>
        </p:spPr>
        <p:txBody>
          <a:bodyPr wrap="square" lIns="0" tIns="0" rIns="0" bIns="0" rtlCol="0" anchor="ctr"/>
          <a:lstStyle/>
          <a:p>
            <a:pPr algn="r" indent="0" marL="0">
              <a:buNone/>
            </a:pPr>
            <a:r>
              <a:rPr lang="en-US" sz="4000" b="1" dirty="0">
                <a:solidFill>
                  <a:schemeClr val="accent3"/>
                </a:solidFill>
              </a:rPr>
              <a:t>‎+170</a:t>
            </a:r>
            <a:endParaRPr lang="en-US" sz="4000" dirty="0"/>
          </a:p>
        </p:txBody>
      </p:sp>
      <p:sp>
        <p:nvSpPr>
          <p:cNvPr id="13" name="progress-label-2"/>
          <p:cNvSpPr txBox="1"/>
          <p:nvPr/>
        </p:nvSpPr>
        <p:spPr>
          <a:xfrm>
            <a:off x="7251192" y="2624328"/>
            <a:ext cx="1697584" cy="640080"/>
          </a:xfrm>
          <a:prstGeom prst="rect">
            <a:avLst/>
          </a:prstGeom>
          <a:noFill/>
          <a:ln/>
        </p:spPr>
        <p:txBody>
          <a:bodyPr wrap="square" lIns="0" tIns="0" rIns="0" bIns="0" rtlCol="0" anchor="t"/>
          <a:lstStyle/>
          <a:p>
            <a:pPr rtl="1" algn="r" indent="0" marL="0">
              <a:buNone/>
            </a:pPr>
            <a:r>
              <a:rPr lang="ar-SA" altLang="en-US" sz="1500" dirty="0">
                <a:solidFill>
                  <a:schemeClr val="accent4"/>
                </a:solidFill>
              </a:rPr>
              <a:t>اختبارًا آليًا تشتغل مع كل تعديل</a:t>
            </a:r>
            <a:endParaRPr lang="ar-SA" sz="1500" dirty="0"/>
          </a:p>
        </p:txBody>
      </p:sp>
      <p:sp>
        <p:nvSpPr>
          <p:cNvPr id="14" name="progress-3"/>
          <p:cNvSpPr/>
          <p:nvPr/>
        </p:nvSpPr>
        <p:spPr>
          <a:xfrm>
            <a:off x="9433408" y="3566160"/>
            <a:ext cx="2209648" cy="1600200"/>
          </a:xfrm>
          <a:prstGeom prst="roundRect">
            <a:avLst>
              <a:gd name="adj" fmla="val 9143"/>
            </a:avLst>
          </a:prstGeom>
          <a:solidFill>
            <a:schemeClr val="bg1"/>
          </a:solidFill>
          <a:ln w="9525">
            <a:solidFill>
              <a:schemeClr val="accent6"/>
            </a:solidFill>
            <a:prstDash val="solid"/>
          </a:ln>
          <a:effectLst>
            <a:outerShdw sx="100000" sy="100000" kx="0" ky="0" algn="bl" rotWithShape="0" blurRad="101600" dist="25400" dir="5400000">
              <a:srgbClr val="172331">
                <a:alpha val="8000"/>
              </a:srgbClr>
            </a:outerShdw>
          </a:effectLst>
        </p:spPr>
      </p:sp>
      <p:sp>
        <p:nvSpPr>
          <p:cNvPr id="15" name="Text 11"/>
          <p:cNvSpPr txBox="1"/>
          <p:nvPr/>
        </p:nvSpPr>
        <p:spPr>
          <a:xfrm>
            <a:off x="9689440" y="3749040"/>
            <a:ext cx="1697584" cy="640080"/>
          </a:xfrm>
          <a:prstGeom prst="rect">
            <a:avLst/>
          </a:prstGeom>
          <a:noFill/>
          <a:ln/>
        </p:spPr>
        <p:txBody>
          <a:bodyPr wrap="square" lIns="0" tIns="0" rIns="0" bIns="0" rtlCol="0" anchor="ctr"/>
          <a:lstStyle/>
          <a:p>
            <a:pPr algn="r" indent="0" marL="0">
              <a:buNone/>
            </a:pPr>
            <a:r>
              <a:rPr lang="en-US" sz="4000" b="1" dirty="0">
                <a:solidFill>
                  <a:schemeClr val="accent3"/>
                </a:solidFill>
              </a:rPr>
              <a:t>‎+110</a:t>
            </a:r>
            <a:endParaRPr lang="en-US" sz="4000" dirty="0"/>
          </a:p>
        </p:txBody>
      </p:sp>
      <p:sp>
        <p:nvSpPr>
          <p:cNvPr id="16" name="progress-label-3"/>
          <p:cNvSpPr txBox="1"/>
          <p:nvPr/>
        </p:nvSpPr>
        <p:spPr>
          <a:xfrm>
            <a:off x="9689440" y="4407408"/>
            <a:ext cx="1697584" cy="640080"/>
          </a:xfrm>
          <a:prstGeom prst="rect">
            <a:avLst/>
          </a:prstGeom>
          <a:noFill/>
          <a:ln/>
        </p:spPr>
        <p:txBody>
          <a:bodyPr wrap="square" lIns="0" tIns="0" rIns="0" bIns="0" rtlCol="0" anchor="t"/>
          <a:lstStyle/>
          <a:p>
            <a:pPr rtl="1" algn="r" indent="0" marL="0">
              <a:buNone/>
            </a:pPr>
            <a:r>
              <a:rPr lang="ar-SA" altLang="en-US" sz="1500" dirty="0">
                <a:solidFill>
                  <a:schemeClr val="accent4"/>
                </a:solidFill>
              </a:rPr>
              <a:t>نقطة API في الخادم (Laravel)</a:t>
            </a:r>
            <a:endParaRPr lang="ar-SA" sz="1500" dirty="0"/>
          </a:p>
        </p:txBody>
      </p:sp>
      <p:sp>
        <p:nvSpPr>
          <p:cNvPr id="17" name="progress-4"/>
          <p:cNvSpPr/>
          <p:nvPr/>
        </p:nvSpPr>
        <p:spPr>
          <a:xfrm>
            <a:off x="6995160" y="3566160"/>
            <a:ext cx="2209648" cy="1600200"/>
          </a:xfrm>
          <a:prstGeom prst="roundRect">
            <a:avLst>
              <a:gd name="adj" fmla="val 9143"/>
            </a:avLst>
          </a:prstGeom>
          <a:solidFill>
            <a:schemeClr val="bg1"/>
          </a:solidFill>
          <a:ln w="9525">
            <a:solidFill>
              <a:schemeClr val="accent6"/>
            </a:solidFill>
            <a:prstDash val="solid"/>
          </a:ln>
          <a:effectLst>
            <a:outerShdw sx="100000" sy="100000" kx="0" ky="0" algn="bl" rotWithShape="0" blurRad="101600" dist="25400" dir="5400000">
              <a:srgbClr val="172331">
                <a:alpha val="8000"/>
              </a:srgbClr>
            </a:outerShdw>
          </a:effectLst>
        </p:spPr>
      </p:sp>
      <p:sp>
        <p:nvSpPr>
          <p:cNvPr id="18" name="Text 14"/>
          <p:cNvSpPr txBox="1"/>
          <p:nvPr/>
        </p:nvSpPr>
        <p:spPr>
          <a:xfrm>
            <a:off x="7251192" y="3749040"/>
            <a:ext cx="1697584" cy="640080"/>
          </a:xfrm>
          <a:prstGeom prst="rect">
            <a:avLst/>
          </a:prstGeom>
          <a:noFill/>
          <a:ln/>
        </p:spPr>
        <p:txBody>
          <a:bodyPr wrap="square" lIns="0" tIns="0" rIns="0" bIns="0" rtlCol="0" anchor="ctr"/>
          <a:lstStyle/>
          <a:p>
            <a:pPr algn="r" indent="0" marL="0">
              <a:buNone/>
            </a:pPr>
            <a:r>
              <a:rPr lang="en-US" sz="4000" b="1" dirty="0">
                <a:solidFill>
                  <a:schemeClr val="accent3"/>
                </a:solidFill>
              </a:rPr>
              <a:t>‎2</a:t>
            </a:r>
            <a:endParaRPr lang="en-US" sz="4000" dirty="0"/>
          </a:p>
        </p:txBody>
      </p:sp>
      <p:sp>
        <p:nvSpPr>
          <p:cNvPr id="19" name="progress-label-4"/>
          <p:cNvSpPr txBox="1"/>
          <p:nvPr/>
        </p:nvSpPr>
        <p:spPr>
          <a:xfrm>
            <a:off x="7251192" y="4407408"/>
            <a:ext cx="1697584" cy="640080"/>
          </a:xfrm>
          <a:prstGeom prst="rect">
            <a:avLst/>
          </a:prstGeom>
          <a:noFill/>
          <a:ln/>
        </p:spPr>
        <p:txBody>
          <a:bodyPr wrap="square" lIns="0" tIns="0" rIns="0" bIns="0" rtlCol="0" anchor="t"/>
          <a:lstStyle/>
          <a:p>
            <a:pPr rtl="1" algn="r" indent="0" marL="0">
              <a:buNone/>
            </a:pPr>
            <a:r>
              <a:rPr lang="ar-SA" altLang="en-US" sz="1500" dirty="0">
                <a:solidFill>
                  <a:schemeClr val="accent4"/>
                </a:solidFill>
              </a:rPr>
              <a:t>لغتان كاملتان: عربي وإنجليزي</a:t>
            </a:r>
            <a:endParaRPr lang="ar-SA" sz="1500" dirty="0"/>
          </a:p>
        </p:txBody>
      </p:sp>
      <p:sp>
        <p:nvSpPr>
          <p:cNvPr id="20" name="bridge"/>
          <p:cNvSpPr/>
          <p:nvPr/>
        </p:nvSpPr>
        <p:spPr>
          <a:xfrm>
            <a:off x="548640" y="5504688"/>
            <a:ext cx="11094415" cy="566928"/>
          </a:xfrm>
          <a:prstGeom prst="roundRect">
            <a:avLst>
              <a:gd name="adj" fmla="val 25806"/>
            </a:avLst>
          </a:prstGeom>
          <a:solidFill>
            <a:schemeClr val="accent1">
              <a:alpha val="13000"/>
            </a:schemeClr>
          </a:solidFill>
          <a:ln/>
        </p:spPr>
      </p:sp>
      <p:pic>
        <p:nvPicPr>
          <p:cNvPr id="21" name="bridge-arrow" descr="preencoded.png">    </p:cNvPr>
          <p:cNvPicPr>
            <a:picLocks noChangeAspect="1"/>
          </p:cNvPicPr>
          <p:nvPr/>
        </p:nvPicPr>
        <p:blipFill>
          <a:blip r:embed="rId3"/>
          <a:stretch>
            <a:fillRect/>
          </a:stretch>
        </p:blipFill>
        <p:spPr>
          <a:xfrm>
            <a:off x="841248" y="5650992"/>
            <a:ext cx="274320" cy="274320"/>
          </a:xfrm>
          <a:prstGeom prst="rect">
            <a:avLst/>
          </a:prstGeom>
        </p:spPr>
      </p:pic>
      <p:sp>
        <p:nvSpPr>
          <p:cNvPr id="22" name="bridge-text"/>
          <p:cNvSpPr txBox="1"/>
          <p:nvPr/>
        </p:nvSpPr>
        <p:spPr>
          <a:xfrm>
            <a:off x="1371600" y="5504688"/>
            <a:ext cx="9997135" cy="566928"/>
          </a:xfrm>
          <a:prstGeom prst="rect">
            <a:avLst/>
          </a:prstGeom>
          <a:noFill/>
          <a:ln/>
        </p:spPr>
        <p:txBody>
          <a:bodyPr wrap="square" lIns="0" tIns="0" rIns="0" bIns="0" rtlCol="0" anchor="ctr"/>
          <a:lstStyle/>
          <a:p>
            <a:pPr rtl="1" algn="r" indent="0" marL="0">
              <a:buNone/>
            </a:pPr>
            <a:r>
              <a:rPr lang="ar-SA" altLang="en-US" sz="1900" b="1" dirty="0">
                <a:solidFill>
                  <a:schemeClr val="tx2"/>
                </a:solidFill>
              </a:rPr>
              <a:t>طيب… هل في سوق يستاهل؟</a:t>
            </a:r>
            <a:endParaRPr lang="ar-SA" sz="1900" dirty="0"/>
          </a:p>
        </p:txBody>
      </p:sp>
      <p:sp>
        <p:nvSpPr>
          <p:cNvPr id="25" name="Slide Number Placeholder 0"/>
          <p:cNvSpPr>
            <a:spLocks noGrp="1"/>
          </p:cNvSpPr>
          <p:nvPr>
            <p:ph type="sldNum" sz="quarter" idx="4294967295"/>
          </p:nvPr>
        </p:nvSpPr>
        <p:spPr>
          <a:xfrm>
            <a:off x="11183112" y="6391656"/>
            <a:ext cx="457200" cy="237744"/>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4"/>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1" type="body" hasCustomPrompt="1"/>
          </p:nvPr>
        </p:nvSpPr>
        <p:spPr>
          <a:xfrm>
            <a:off x="548640" y="384048"/>
            <a:ext cx="11094415" cy="347472"/>
          </a:xfrm>
          <a:prstGeom prst="rect">
            <a:avLst/>
          </a:prstGeom>
          <a:noFill/>
          <a:ln/>
        </p:spPr>
        <p:txBody>
          <a:bodyPr wrap="square" lIns="0" tIns="0" rIns="0" bIns="0" rtlCol="0" anchor="ctr"/>
          <a:lstStyle/>
          <a:p>
            <a:pPr rtl="1" algn="r" indent="0" marL="0">
              <a:buNone/>
            </a:pPr>
            <a:r>
              <a:rPr lang="ar-SA" altLang="en-US" sz="1600" b="1" dirty="0">
                <a:solidFill>
                  <a:schemeClr val="accent3"/>
                </a:solidFill>
              </a:rPr>
              <a:t>الفرصة</a:t>
            </a:r>
            <a:endParaRPr lang="ar-SA" sz="1600" dirty="0"/>
          </a:p>
        </p:txBody>
      </p:sp>
      <p:sp>
        <p:nvSpPr>
          <p:cNvPr id="3" name="Text 0"/>
          <p:cNvSpPr/>
          <p:nvPr>
            <p:ph idx="102" type="title" hasCustomPrompt="1"/>
          </p:nvPr>
        </p:nvSpPr>
        <p:spPr>
          <a:xfrm>
            <a:off x="548640" y="749808"/>
            <a:ext cx="11094415" cy="749808"/>
          </a:xfrm>
          <a:prstGeom prst="rect">
            <a:avLst/>
          </a:prstGeom>
          <a:noFill/>
          <a:ln/>
        </p:spPr>
        <p:txBody>
          <a:bodyPr wrap="square" lIns="0" tIns="0" rIns="0" bIns="0" rtlCol="0" anchor="t"/>
          <a:lstStyle/>
          <a:p>
            <a:pPr rtl="1" algn="r" indent="0" marL="0">
              <a:buNone/>
            </a:pPr>
            <a:r>
              <a:rPr lang="ar-SA" altLang="en-US" sz="3600" dirty="0">
                <a:solidFill>
                  <a:schemeClr val="tx1"/>
                </a:solidFill>
              </a:rPr>
              <a:t>مطاعم غزة بتبدأ من جديد — وهاي أنسب لحظة لنظام</a:t>
            </a:r>
            <a:endParaRPr lang="ar-SA" sz="3600" dirty="0"/>
          </a:p>
        </p:txBody>
      </p:sp>
      <p:sp>
        <p:nvSpPr>
          <p:cNvPr id="4" name="market-1"/>
          <p:cNvSpPr/>
          <p:nvPr/>
        </p:nvSpPr>
        <p:spPr>
          <a:xfrm>
            <a:off x="8158277" y="1783080"/>
            <a:ext cx="3484778" cy="3429000"/>
          </a:xfrm>
          <a:prstGeom prst="roundRect">
            <a:avLst>
              <a:gd name="adj" fmla="val 4267"/>
            </a:avLst>
          </a:prstGeom>
          <a:solidFill>
            <a:schemeClr val="bg1"/>
          </a:solidFill>
          <a:ln w="9525">
            <a:solidFill>
              <a:schemeClr val="accent6"/>
            </a:solidFill>
            <a:prstDash val="solid"/>
          </a:ln>
          <a:effectLst>
            <a:outerShdw sx="100000" sy="100000" kx="0" ky="0" algn="bl" rotWithShape="0" blurRad="101600" dist="25400" dir="5400000">
              <a:srgbClr val="172331">
                <a:alpha val="8000"/>
              </a:srgbClr>
            </a:outerShdw>
          </a:effectLst>
        </p:spPr>
      </p:sp>
      <p:sp>
        <p:nvSpPr>
          <p:cNvPr id="5" name="tile-store"/>
          <p:cNvSpPr/>
          <p:nvPr/>
        </p:nvSpPr>
        <p:spPr>
          <a:xfrm>
            <a:off x="10765231" y="2075688"/>
            <a:ext cx="585216" cy="585216"/>
          </a:xfrm>
          <a:prstGeom prst="roundRect">
            <a:avLst>
              <a:gd name="adj" fmla="val 26000"/>
            </a:avLst>
          </a:prstGeom>
          <a:solidFill>
            <a:schemeClr val="accent1">
              <a:alpha val="15000"/>
            </a:schemeClr>
          </a:solidFill>
          <a:ln/>
        </p:spPr>
      </p:sp>
      <p:pic>
        <p:nvPicPr>
          <p:cNvPr id="6" name="icon-store" descr="preencoded.png">    </p:cNvPr>
          <p:cNvPicPr>
            <a:picLocks noChangeAspect="1"/>
          </p:cNvPicPr>
          <p:nvPr/>
        </p:nvPicPr>
        <p:blipFill>
          <a:blip r:embed="rId1"/>
          <a:stretch>
            <a:fillRect/>
          </a:stretch>
        </p:blipFill>
        <p:spPr>
          <a:xfrm>
            <a:off x="10905683" y="2216140"/>
            <a:ext cx="304312" cy="304312"/>
          </a:xfrm>
          <a:prstGeom prst="rect">
            <a:avLst/>
          </a:prstGeom>
        </p:spPr>
      </p:pic>
      <p:sp>
        <p:nvSpPr>
          <p:cNvPr id="7" name="market-stat-1"/>
          <p:cNvSpPr txBox="1"/>
          <p:nvPr/>
        </p:nvSpPr>
        <p:spPr>
          <a:xfrm>
            <a:off x="8450885" y="2834640"/>
            <a:ext cx="2899562" cy="1005840"/>
          </a:xfrm>
          <a:prstGeom prst="rect">
            <a:avLst/>
          </a:prstGeom>
          <a:noFill/>
          <a:ln/>
        </p:spPr>
        <p:txBody>
          <a:bodyPr wrap="square" lIns="0" tIns="0" rIns="0" bIns="0" rtlCol="0" anchor="ctr"/>
          <a:lstStyle/>
          <a:p>
            <a:pPr algn="r" indent="0" marL="0">
              <a:buNone/>
            </a:pPr>
            <a:r>
              <a:rPr lang="en-US" sz="6000" b="1" dirty="0">
                <a:solidFill>
                  <a:schemeClr val="accent3"/>
                </a:solidFill>
              </a:rPr>
              <a:t>‎3,450</a:t>
            </a:r>
            <a:endParaRPr lang="en-US" sz="6000" dirty="0"/>
          </a:p>
        </p:txBody>
      </p:sp>
      <p:sp>
        <p:nvSpPr>
          <p:cNvPr id="8" name="market-label-1"/>
          <p:cNvSpPr txBox="1"/>
          <p:nvPr/>
        </p:nvSpPr>
        <p:spPr>
          <a:xfrm>
            <a:off x="8450885" y="3977640"/>
            <a:ext cx="2899562" cy="1051560"/>
          </a:xfrm>
          <a:prstGeom prst="rect">
            <a:avLst/>
          </a:prstGeom>
          <a:noFill/>
          <a:ln/>
        </p:spPr>
        <p:txBody>
          <a:bodyPr wrap="square" lIns="0" tIns="0" rIns="0" bIns="0" rtlCol="0" anchor="t"/>
          <a:lstStyle/>
          <a:p>
            <a:pPr rtl="1" algn="r" indent="0" marL="0">
              <a:buNone/>
            </a:pPr>
            <a:r>
              <a:rPr lang="ar-SA" altLang="en-US" sz="1700" dirty="0">
                <a:solidFill>
                  <a:schemeClr val="tx2"/>
                </a:solidFill>
              </a:rPr>
              <a:t>منشأة مطاعم ومقاهٍ دُمّرت في غزة… وكل واحدة بتعيد البناء من الصفر</a:t>
            </a:r>
            <a:endParaRPr lang="ar-SA" sz="1700" dirty="0"/>
          </a:p>
        </p:txBody>
      </p:sp>
      <p:sp>
        <p:nvSpPr>
          <p:cNvPr id="9" name="market-2"/>
          <p:cNvSpPr/>
          <p:nvPr/>
        </p:nvSpPr>
        <p:spPr>
          <a:xfrm>
            <a:off x="4353458" y="1783080"/>
            <a:ext cx="3484778" cy="3429000"/>
          </a:xfrm>
          <a:prstGeom prst="roundRect">
            <a:avLst>
              <a:gd name="adj" fmla="val 4267"/>
            </a:avLst>
          </a:prstGeom>
          <a:solidFill>
            <a:schemeClr val="bg1"/>
          </a:solidFill>
          <a:ln w="9525">
            <a:solidFill>
              <a:schemeClr val="accent6"/>
            </a:solidFill>
            <a:prstDash val="solid"/>
          </a:ln>
          <a:effectLst>
            <a:outerShdw sx="100000" sy="100000" kx="0" ky="0" algn="bl" rotWithShape="0" blurRad="101600" dist="25400" dir="5400000">
              <a:srgbClr val="172331">
                <a:alpha val="8000"/>
              </a:srgbClr>
            </a:outerShdw>
          </a:effectLst>
        </p:spPr>
      </p:sp>
      <p:sp>
        <p:nvSpPr>
          <p:cNvPr id="10" name="tile-badge-dollar-sign"/>
          <p:cNvSpPr/>
          <p:nvPr/>
        </p:nvSpPr>
        <p:spPr>
          <a:xfrm>
            <a:off x="6960413" y="2075688"/>
            <a:ext cx="585216" cy="585216"/>
          </a:xfrm>
          <a:prstGeom prst="roundRect">
            <a:avLst>
              <a:gd name="adj" fmla="val 26000"/>
            </a:avLst>
          </a:prstGeom>
          <a:solidFill>
            <a:schemeClr val="accent1">
              <a:alpha val="15000"/>
            </a:schemeClr>
          </a:solidFill>
          <a:ln/>
        </p:spPr>
      </p:sp>
      <p:pic>
        <p:nvPicPr>
          <p:cNvPr id="11" name="icon-badge-dollar-sign" descr="preencoded.png">    </p:cNvPr>
          <p:cNvPicPr>
            <a:picLocks noChangeAspect="1"/>
          </p:cNvPicPr>
          <p:nvPr/>
        </p:nvPicPr>
        <p:blipFill>
          <a:blip r:embed="rId2"/>
          <a:stretch>
            <a:fillRect/>
          </a:stretch>
        </p:blipFill>
        <p:spPr>
          <a:xfrm>
            <a:off x="7100865" y="2216140"/>
            <a:ext cx="304312" cy="304312"/>
          </a:xfrm>
          <a:prstGeom prst="rect">
            <a:avLst/>
          </a:prstGeom>
        </p:spPr>
      </p:pic>
      <p:sp>
        <p:nvSpPr>
          <p:cNvPr id="12" name="market-stat-2"/>
          <p:cNvSpPr txBox="1"/>
          <p:nvPr/>
        </p:nvSpPr>
        <p:spPr>
          <a:xfrm>
            <a:off x="4646066" y="2834640"/>
            <a:ext cx="2899562" cy="1005840"/>
          </a:xfrm>
          <a:prstGeom prst="rect">
            <a:avLst/>
          </a:prstGeom>
          <a:noFill/>
          <a:ln/>
        </p:spPr>
        <p:txBody>
          <a:bodyPr wrap="square" lIns="0" tIns="0" rIns="0" bIns="0" rtlCol="0" anchor="ctr"/>
          <a:lstStyle/>
          <a:p>
            <a:pPr rtl="1" algn="r" indent="0" marL="0">
              <a:buNone/>
            </a:pPr>
            <a:r>
              <a:rPr lang="ar-SA" altLang="en-US" sz="6000" b="1" dirty="0">
                <a:solidFill>
                  <a:schemeClr val="accent3"/>
                </a:solidFill>
              </a:rPr>
              <a:t>$1.2</a:t>
            </a:r>
            <a:r>
              <a:rPr lang="ar-SA" altLang="en-US" sz="3000" b="1" dirty="0">
                <a:solidFill>
                  <a:schemeClr val="accent3"/>
                </a:solidFill>
              </a:rPr>
              <a:t> مليون</a:t>
            </a:r>
            <a:endParaRPr lang="ar-SA" sz="6000" dirty="0"/>
          </a:p>
        </p:txBody>
      </p:sp>
      <p:sp>
        <p:nvSpPr>
          <p:cNvPr id="13" name="market-label-2"/>
          <p:cNvSpPr txBox="1"/>
          <p:nvPr/>
        </p:nvSpPr>
        <p:spPr>
          <a:xfrm>
            <a:off x="4646066" y="3977640"/>
            <a:ext cx="2899562" cy="1051560"/>
          </a:xfrm>
          <a:prstGeom prst="rect">
            <a:avLst/>
          </a:prstGeom>
          <a:noFill/>
          <a:ln/>
        </p:spPr>
        <p:txBody>
          <a:bodyPr wrap="square" lIns="0" tIns="0" rIns="0" bIns="0" rtlCol="0" anchor="t"/>
          <a:lstStyle/>
          <a:p>
            <a:pPr rtl="1" algn="r" indent="0" marL="0">
              <a:buNone/>
            </a:pPr>
            <a:r>
              <a:rPr lang="ar-SA" altLang="en-US" sz="1700" dirty="0">
                <a:solidFill>
                  <a:schemeClr val="tx2"/>
                </a:solidFill>
              </a:rPr>
              <a:t>إيراد سنوي ممكن في غزة وحدها (3,450 مطعمًا × $29 × 12 شهرًا)</a:t>
            </a:r>
            <a:endParaRPr lang="ar-SA" sz="1700" dirty="0"/>
          </a:p>
        </p:txBody>
      </p:sp>
      <p:sp>
        <p:nvSpPr>
          <p:cNvPr id="14" name="market-3"/>
          <p:cNvSpPr/>
          <p:nvPr/>
        </p:nvSpPr>
        <p:spPr>
          <a:xfrm>
            <a:off x="548640" y="1783080"/>
            <a:ext cx="3484778" cy="3429000"/>
          </a:xfrm>
          <a:prstGeom prst="roundRect">
            <a:avLst>
              <a:gd name="adj" fmla="val 4267"/>
            </a:avLst>
          </a:prstGeom>
          <a:solidFill>
            <a:schemeClr val="bg1"/>
          </a:solidFill>
          <a:ln w="9525">
            <a:solidFill>
              <a:schemeClr val="accent6"/>
            </a:solidFill>
            <a:prstDash val="solid"/>
          </a:ln>
          <a:effectLst>
            <a:outerShdw sx="100000" sy="100000" kx="0" ky="0" algn="bl" rotWithShape="0" blurRad="101600" dist="25400" dir="5400000">
              <a:srgbClr val="172331">
                <a:alpha val="8000"/>
              </a:srgbClr>
            </a:outerShdw>
          </a:effectLst>
        </p:spPr>
      </p:sp>
      <p:sp>
        <p:nvSpPr>
          <p:cNvPr id="15" name="tile-trending-up"/>
          <p:cNvSpPr/>
          <p:nvPr/>
        </p:nvSpPr>
        <p:spPr>
          <a:xfrm>
            <a:off x="3155594" y="2075688"/>
            <a:ext cx="585216" cy="585216"/>
          </a:xfrm>
          <a:prstGeom prst="roundRect">
            <a:avLst>
              <a:gd name="adj" fmla="val 26000"/>
            </a:avLst>
          </a:prstGeom>
          <a:solidFill>
            <a:schemeClr val="accent1">
              <a:alpha val="15000"/>
            </a:schemeClr>
          </a:solidFill>
          <a:ln/>
        </p:spPr>
      </p:sp>
      <p:pic>
        <p:nvPicPr>
          <p:cNvPr id="16" name="icon-trending-up" descr="preencoded.png">    </p:cNvPr>
          <p:cNvPicPr>
            <a:picLocks noChangeAspect="1"/>
          </p:cNvPicPr>
          <p:nvPr/>
        </p:nvPicPr>
        <p:blipFill>
          <a:blip r:embed="rId3"/>
          <a:stretch>
            <a:fillRect/>
          </a:stretch>
        </p:blipFill>
        <p:spPr>
          <a:xfrm>
            <a:off x="3296046" y="2216140"/>
            <a:ext cx="304312" cy="304312"/>
          </a:xfrm>
          <a:prstGeom prst="rect">
            <a:avLst/>
          </a:prstGeom>
        </p:spPr>
      </p:pic>
      <p:sp>
        <p:nvSpPr>
          <p:cNvPr id="17" name="market-stat-3"/>
          <p:cNvSpPr txBox="1"/>
          <p:nvPr/>
        </p:nvSpPr>
        <p:spPr>
          <a:xfrm>
            <a:off x="841248" y="2834640"/>
            <a:ext cx="2899562" cy="1005840"/>
          </a:xfrm>
          <a:prstGeom prst="rect">
            <a:avLst/>
          </a:prstGeom>
          <a:noFill/>
          <a:ln/>
        </p:spPr>
        <p:txBody>
          <a:bodyPr wrap="square" lIns="0" tIns="0" rIns="0" bIns="0" rtlCol="0" anchor="ctr"/>
          <a:lstStyle/>
          <a:p>
            <a:pPr algn="r" indent="0" marL="0">
              <a:buNone/>
            </a:pPr>
            <a:r>
              <a:rPr lang="en-US" sz="6000" b="1" dirty="0">
                <a:solidFill>
                  <a:schemeClr val="accent3"/>
                </a:solidFill>
              </a:rPr>
              <a:t>‎19.4%</a:t>
            </a:r>
            <a:endParaRPr lang="en-US" sz="6000" dirty="0"/>
          </a:p>
        </p:txBody>
      </p:sp>
      <p:sp>
        <p:nvSpPr>
          <p:cNvPr id="18" name="market-label-3"/>
          <p:cNvSpPr txBox="1"/>
          <p:nvPr/>
        </p:nvSpPr>
        <p:spPr>
          <a:xfrm>
            <a:off x="841248" y="3977640"/>
            <a:ext cx="2899562" cy="1051560"/>
          </a:xfrm>
          <a:prstGeom prst="rect">
            <a:avLst/>
          </a:prstGeom>
          <a:noFill/>
          <a:ln/>
        </p:spPr>
        <p:txBody>
          <a:bodyPr wrap="square" lIns="0" tIns="0" rIns="0" bIns="0" rtlCol="0" anchor="t"/>
          <a:lstStyle/>
          <a:p>
            <a:pPr rtl="1" algn="r" indent="0" marL="0">
              <a:buNone/>
            </a:pPr>
            <a:r>
              <a:rPr lang="ar-SA" altLang="en-US" sz="1700" dirty="0">
                <a:solidFill>
                  <a:schemeClr val="tx2"/>
                </a:solidFill>
              </a:rPr>
              <a:t>نمو سنوي لسوق برمجيات إدارة المطاعم عالميًا حتى 2030</a:t>
            </a:r>
            <a:endParaRPr lang="ar-SA" sz="1700" dirty="0"/>
          </a:p>
        </p:txBody>
      </p:sp>
      <p:sp>
        <p:nvSpPr>
          <p:cNvPr id="19" name="bridge"/>
          <p:cNvSpPr/>
          <p:nvPr/>
        </p:nvSpPr>
        <p:spPr>
          <a:xfrm>
            <a:off x="548640" y="5504688"/>
            <a:ext cx="11094415" cy="566928"/>
          </a:xfrm>
          <a:prstGeom prst="roundRect">
            <a:avLst>
              <a:gd name="adj" fmla="val 25806"/>
            </a:avLst>
          </a:prstGeom>
          <a:solidFill>
            <a:schemeClr val="accent1">
              <a:alpha val="13000"/>
            </a:schemeClr>
          </a:solidFill>
          <a:ln/>
        </p:spPr>
      </p:sp>
      <p:pic>
        <p:nvPicPr>
          <p:cNvPr id="20" name="bridge-arrow" descr="preencoded.png">    </p:cNvPr>
          <p:cNvPicPr>
            <a:picLocks noChangeAspect="1"/>
          </p:cNvPicPr>
          <p:nvPr/>
        </p:nvPicPr>
        <p:blipFill>
          <a:blip r:embed="rId4"/>
          <a:stretch>
            <a:fillRect/>
          </a:stretch>
        </p:blipFill>
        <p:spPr>
          <a:xfrm>
            <a:off x="841248" y="5650992"/>
            <a:ext cx="274320" cy="274320"/>
          </a:xfrm>
          <a:prstGeom prst="rect">
            <a:avLst/>
          </a:prstGeom>
        </p:spPr>
      </p:pic>
      <p:sp>
        <p:nvSpPr>
          <p:cNvPr id="21" name="bridge-text"/>
          <p:cNvSpPr txBox="1"/>
          <p:nvPr/>
        </p:nvSpPr>
        <p:spPr>
          <a:xfrm>
            <a:off x="1371600" y="5504688"/>
            <a:ext cx="9997135" cy="566928"/>
          </a:xfrm>
          <a:prstGeom prst="rect">
            <a:avLst/>
          </a:prstGeom>
          <a:noFill/>
          <a:ln/>
        </p:spPr>
        <p:txBody>
          <a:bodyPr wrap="square" lIns="0" tIns="0" rIns="0" bIns="0" rtlCol="0" anchor="ctr"/>
          <a:lstStyle/>
          <a:p>
            <a:pPr rtl="1" algn="r" indent="0" marL="0">
              <a:buNone/>
            </a:pPr>
            <a:r>
              <a:rPr lang="ar-SA" altLang="en-US" sz="1900" b="1" dirty="0">
                <a:solidFill>
                  <a:schemeClr val="tx2"/>
                </a:solidFill>
              </a:rPr>
              <a:t>السوق موجود… طيب مين بيدفع، وليش؟</a:t>
            </a:r>
            <a:endParaRPr lang="ar-SA" sz="1900" dirty="0"/>
          </a:p>
        </p:txBody>
      </p:sp>
      <p:sp>
        <p:nvSpPr>
          <p:cNvPr id="22" name="sources"/>
          <p:cNvSpPr txBox="1"/>
          <p:nvPr/>
        </p:nvSpPr>
        <p:spPr>
          <a:xfrm>
            <a:off x="1600200" y="6373368"/>
            <a:ext cx="9418320" cy="274320"/>
          </a:xfrm>
          <a:prstGeom prst="rect">
            <a:avLst/>
          </a:prstGeom>
          <a:noFill/>
          <a:ln/>
        </p:spPr>
        <p:txBody>
          <a:bodyPr wrap="square" lIns="0" tIns="0" rIns="0" bIns="0" rtlCol="0" anchor="ctr"/>
          <a:lstStyle/>
          <a:p>
            <a:pPr rtl="1" algn="r" indent="0" marL="0">
              <a:buNone/>
            </a:pPr>
            <a:r>
              <a:rPr lang="ar-SA" altLang="en-US" sz="1000" dirty="0">
                <a:solidFill>
                  <a:schemeClr val="accent4"/>
                </a:solidFill>
              </a:rPr>
              <a:t>الإحصاء الفلسطيني ووزارة السياحة والآثار، بيان يوم السياحة العالمي (2024) · Technavio، سوق برمجيات إدارة المطاعم 2025–2030 · الحساب من أسعارنا</a:t>
            </a:r>
            <a:endParaRPr lang="ar-SA" sz="1000" dirty="0"/>
          </a:p>
        </p:txBody>
      </p:sp>
      <p:sp>
        <p:nvSpPr>
          <p:cNvPr id="25" name="Slide Number Placeholder 0"/>
          <p:cNvSpPr>
            <a:spLocks noGrp="1"/>
          </p:cNvSpPr>
          <p:nvPr>
            <p:ph type="sldNum" sz="quarter" idx="4294967295"/>
          </p:nvPr>
        </p:nvSpPr>
        <p:spPr>
          <a:xfrm>
            <a:off x="11183112" y="6391656"/>
            <a:ext cx="457200" cy="237744"/>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4"/>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1" type="body" hasCustomPrompt="1"/>
          </p:nvPr>
        </p:nvSpPr>
        <p:spPr>
          <a:xfrm>
            <a:off x="548640" y="384048"/>
            <a:ext cx="11094415" cy="347472"/>
          </a:xfrm>
          <a:prstGeom prst="rect">
            <a:avLst/>
          </a:prstGeom>
          <a:noFill/>
          <a:ln/>
        </p:spPr>
        <p:txBody>
          <a:bodyPr wrap="square" lIns="0" tIns="0" rIns="0" bIns="0" rtlCol="0" anchor="ctr"/>
          <a:lstStyle/>
          <a:p>
            <a:pPr rtl="1" algn="r" indent="0" marL="0">
              <a:buNone/>
            </a:pPr>
            <a:r>
              <a:rPr lang="ar-SA" altLang="en-US" sz="1600" b="1" dirty="0">
                <a:solidFill>
                  <a:schemeClr val="accent3"/>
                </a:solidFill>
              </a:rPr>
              <a:t>نموذج الربح</a:t>
            </a:r>
            <a:endParaRPr lang="ar-SA" sz="1600" dirty="0"/>
          </a:p>
        </p:txBody>
      </p:sp>
      <p:sp>
        <p:nvSpPr>
          <p:cNvPr id="3" name="Text 0"/>
          <p:cNvSpPr/>
          <p:nvPr>
            <p:ph idx="102" type="title" hasCustomPrompt="1"/>
          </p:nvPr>
        </p:nvSpPr>
        <p:spPr>
          <a:xfrm>
            <a:off x="548640" y="749808"/>
            <a:ext cx="11094415" cy="749808"/>
          </a:xfrm>
          <a:prstGeom prst="rect">
            <a:avLst/>
          </a:prstGeom>
          <a:noFill/>
          <a:ln/>
        </p:spPr>
        <p:txBody>
          <a:bodyPr wrap="square" lIns="0" tIns="0" rIns="0" bIns="0" rtlCol="0" anchor="t"/>
          <a:lstStyle/>
          <a:p>
            <a:pPr rtl="1" algn="r" indent="0" marL="0">
              <a:buNone/>
            </a:pPr>
            <a:r>
              <a:rPr lang="ar-SA" altLang="en-US" sz="3600" dirty="0">
                <a:solidFill>
                  <a:schemeClr val="tx1"/>
                </a:solidFill>
              </a:rPr>
              <a:t>اشتراك ثابت للمطعم — بلا عمولة على أي طلب</a:t>
            </a:r>
            <a:endParaRPr lang="ar-SA" sz="3600" dirty="0"/>
          </a:p>
        </p:txBody>
      </p:sp>
      <p:sp>
        <p:nvSpPr>
          <p:cNvPr id="4" name="b2b-badge"/>
          <p:cNvSpPr/>
          <p:nvPr/>
        </p:nvSpPr>
        <p:spPr>
          <a:xfrm>
            <a:off x="548640" y="365760"/>
            <a:ext cx="2514600" cy="402336"/>
          </a:xfrm>
          <a:prstGeom prst="roundRect">
            <a:avLst>
              <a:gd name="adj" fmla="val 50000"/>
            </a:avLst>
          </a:prstGeom>
          <a:solidFill>
            <a:schemeClr val="tx2"/>
          </a:solidFill>
          <a:ln/>
        </p:spPr>
      </p:sp>
      <p:sp>
        <p:nvSpPr>
          <p:cNvPr id="5" name="b2b-label"/>
          <p:cNvSpPr txBox="1"/>
          <p:nvPr/>
        </p:nvSpPr>
        <p:spPr>
          <a:xfrm>
            <a:off x="548640" y="365760"/>
            <a:ext cx="2514600" cy="402336"/>
          </a:xfrm>
          <a:prstGeom prst="rect">
            <a:avLst/>
          </a:prstGeom>
          <a:noFill/>
          <a:ln/>
        </p:spPr>
        <p:txBody>
          <a:bodyPr wrap="square" lIns="0" tIns="0" rIns="0" bIns="0" rtlCol="0" anchor="ctr"/>
          <a:lstStyle/>
          <a:p>
            <a:pPr rtl="1" algn="ctr" indent="0" marL="0">
              <a:buNone/>
            </a:pPr>
            <a:r>
              <a:rPr lang="ar-SA" altLang="en-US" sz="1500" b="1" dirty="0">
                <a:solidFill>
                  <a:schemeClr val="accent1"/>
                </a:solidFill>
              </a:rPr>
              <a:t>B2B</a:t>
            </a:r>
            <a:r>
              <a:rPr lang="ar-SA" altLang="en-US" sz="1500" dirty="0">
                <a:solidFill>
                  <a:schemeClr val="bg2"/>
                </a:solidFill>
              </a:rPr>
              <a:t> · للمطاعم والمقاهي</a:t>
            </a:r>
            <a:endParaRPr lang="ar-SA" sz="1500" dirty="0"/>
          </a:p>
        </p:txBody>
      </p:sp>
      <p:sp>
        <p:nvSpPr>
          <p:cNvPr id="6" name="plan-1"/>
          <p:cNvSpPr/>
          <p:nvPr/>
        </p:nvSpPr>
        <p:spPr>
          <a:xfrm>
            <a:off x="8158277" y="1783080"/>
            <a:ext cx="3484778" cy="2514600"/>
          </a:xfrm>
          <a:prstGeom prst="roundRect">
            <a:avLst>
              <a:gd name="adj" fmla="val 5818"/>
            </a:avLst>
          </a:prstGeom>
          <a:solidFill>
            <a:schemeClr val="bg1"/>
          </a:solidFill>
          <a:ln w="9525">
            <a:solidFill>
              <a:schemeClr val="accent6"/>
            </a:solidFill>
            <a:prstDash val="solid"/>
          </a:ln>
          <a:effectLst>
            <a:outerShdw sx="100000" sy="100000" kx="0" ky="0" algn="bl" rotWithShape="0" blurRad="101600" dist="25400" dir="5400000">
              <a:srgbClr val="172331">
                <a:alpha val="8000"/>
              </a:srgbClr>
            </a:outerShdw>
          </a:effectLst>
        </p:spPr>
      </p:sp>
      <p:sp>
        <p:nvSpPr>
          <p:cNvPr id="7" name="plan-name-1"/>
          <p:cNvSpPr txBox="1"/>
          <p:nvPr/>
        </p:nvSpPr>
        <p:spPr>
          <a:xfrm>
            <a:off x="8469173" y="2093976"/>
            <a:ext cx="2862986" cy="384048"/>
          </a:xfrm>
          <a:prstGeom prst="rect">
            <a:avLst/>
          </a:prstGeom>
          <a:noFill/>
          <a:ln/>
        </p:spPr>
        <p:txBody>
          <a:bodyPr wrap="square" lIns="0" tIns="0" rIns="0" bIns="0" rtlCol="0" anchor="ctr"/>
          <a:lstStyle/>
          <a:p>
            <a:pPr rtl="1" algn="r" indent="0" marL="0">
              <a:buNone/>
            </a:pPr>
            <a:r>
              <a:rPr lang="ar-SA" altLang="en-US" sz="2100" b="1" dirty="0">
                <a:solidFill>
                  <a:schemeClr val="tx1"/>
                </a:solidFill>
              </a:rPr>
              <a:t>الأساسية</a:t>
            </a:r>
            <a:endParaRPr lang="ar-SA" sz="2100" dirty="0"/>
          </a:p>
        </p:txBody>
      </p:sp>
      <p:sp>
        <p:nvSpPr>
          <p:cNvPr id="8" name="plan-price-1"/>
          <p:cNvSpPr txBox="1"/>
          <p:nvPr/>
        </p:nvSpPr>
        <p:spPr>
          <a:xfrm>
            <a:off x="8469173" y="2560320"/>
            <a:ext cx="2862986" cy="868680"/>
          </a:xfrm>
          <a:prstGeom prst="rect">
            <a:avLst/>
          </a:prstGeom>
          <a:noFill/>
          <a:ln/>
        </p:spPr>
        <p:txBody>
          <a:bodyPr wrap="square" lIns="0" tIns="0" rIns="0" bIns="0" rtlCol="0" anchor="ctr"/>
          <a:lstStyle/>
          <a:p>
            <a:pPr rtl="1" algn="r" indent="0" marL="0">
              <a:buNone/>
            </a:pPr>
            <a:r>
              <a:rPr lang="ar-SA" altLang="en-US" sz="5000" b="1" dirty="0">
                <a:solidFill>
                  <a:schemeClr val="accent3"/>
                </a:solidFill>
              </a:rPr>
              <a:t>$15</a:t>
            </a:r>
            <a:r>
              <a:rPr lang="ar-SA" altLang="en-US" sz="1800" dirty="0">
                <a:solidFill>
                  <a:schemeClr val="accent4"/>
                </a:solidFill>
              </a:rPr>
              <a:t>  شهريًا</a:t>
            </a:r>
            <a:endParaRPr lang="ar-SA" sz="1600" dirty="0"/>
          </a:p>
        </p:txBody>
      </p:sp>
      <p:sp>
        <p:nvSpPr>
          <p:cNvPr id="9" name="plan-body-1"/>
          <p:cNvSpPr txBox="1"/>
          <p:nvPr/>
        </p:nvSpPr>
        <p:spPr>
          <a:xfrm>
            <a:off x="8469173" y="3474720"/>
            <a:ext cx="2862986" cy="685800"/>
          </a:xfrm>
          <a:prstGeom prst="rect">
            <a:avLst/>
          </a:prstGeom>
          <a:noFill/>
          <a:ln/>
        </p:spPr>
        <p:txBody>
          <a:bodyPr wrap="square" lIns="0" tIns="0" rIns="0" bIns="0" rtlCol="0" anchor="t"/>
          <a:lstStyle/>
          <a:p>
            <a:pPr rtl="1" algn="r" indent="0" marL="0">
              <a:buNone/>
            </a:pPr>
            <a:r>
              <a:rPr lang="ar-SA" altLang="en-US" sz="1600" dirty="0">
                <a:solidFill>
                  <a:schemeClr val="tx2"/>
                </a:solidFill>
              </a:rPr>
              <a:t>منيو وطاولات وQR، مطبخ، نادل، كاشير، وفريق</a:t>
            </a:r>
            <a:endParaRPr lang="ar-SA" sz="1600" dirty="0"/>
          </a:p>
        </p:txBody>
      </p:sp>
      <p:sp>
        <p:nvSpPr>
          <p:cNvPr id="10" name="plan-2"/>
          <p:cNvSpPr/>
          <p:nvPr/>
        </p:nvSpPr>
        <p:spPr>
          <a:xfrm>
            <a:off x="4353458" y="1783080"/>
            <a:ext cx="3484778" cy="2514600"/>
          </a:xfrm>
          <a:prstGeom prst="roundRect">
            <a:avLst>
              <a:gd name="adj" fmla="val 5818"/>
            </a:avLst>
          </a:prstGeom>
          <a:solidFill>
            <a:schemeClr val="tx2"/>
          </a:solidFill>
          <a:ln/>
          <a:effectLst>
            <a:outerShdw sx="100000" sy="100000" kx="0" ky="0" algn="bl" rotWithShape="0" blurRad="101600" dist="25400" dir="5400000">
              <a:srgbClr val="172331">
                <a:alpha val="8000"/>
              </a:srgbClr>
            </a:outerShdw>
          </a:effectLst>
        </p:spPr>
      </p:sp>
      <p:sp>
        <p:nvSpPr>
          <p:cNvPr id="11" name="plan-popular-bg"/>
          <p:cNvSpPr/>
          <p:nvPr/>
        </p:nvSpPr>
        <p:spPr>
          <a:xfrm>
            <a:off x="4664354" y="2093976"/>
            <a:ext cx="1600200" cy="365760"/>
          </a:xfrm>
          <a:prstGeom prst="roundRect">
            <a:avLst>
              <a:gd name="adj" fmla="val 50000"/>
            </a:avLst>
          </a:prstGeom>
          <a:solidFill>
            <a:schemeClr val="accent1"/>
          </a:solidFill>
          <a:ln/>
        </p:spPr>
      </p:sp>
      <p:sp>
        <p:nvSpPr>
          <p:cNvPr id="12" name="plan-popular"/>
          <p:cNvSpPr txBox="1"/>
          <p:nvPr/>
        </p:nvSpPr>
        <p:spPr>
          <a:xfrm>
            <a:off x="4664354" y="2093976"/>
            <a:ext cx="1600200" cy="365760"/>
          </a:xfrm>
          <a:prstGeom prst="rect">
            <a:avLst/>
          </a:prstGeom>
          <a:noFill/>
          <a:ln/>
        </p:spPr>
        <p:txBody>
          <a:bodyPr wrap="square" lIns="0" tIns="0" rIns="0" bIns="0" rtlCol="0" anchor="ctr"/>
          <a:lstStyle/>
          <a:p>
            <a:pPr rtl="1" algn="ctr" indent="0" marL="0">
              <a:buNone/>
            </a:pPr>
            <a:r>
              <a:rPr lang="ar-SA" altLang="en-US" sz="1300" b="1" dirty="0">
                <a:solidFill>
                  <a:schemeClr val="tx1"/>
                </a:solidFill>
              </a:rPr>
              <a:t>الأكثر اختيارًا</a:t>
            </a:r>
            <a:endParaRPr lang="ar-SA" sz="1300" dirty="0"/>
          </a:p>
        </p:txBody>
      </p:sp>
      <p:sp>
        <p:nvSpPr>
          <p:cNvPr id="13" name="plan-name-2"/>
          <p:cNvSpPr txBox="1"/>
          <p:nvPr/>
        </p:nvSpPr>
        <p:spPr>
          <a:xfrm>
            <a:off x="4664354" y="2093976"/>
            <a:ext cx="2862986" cy="384048"/>
          </a:xfrm>
          <a:prstGeom prst="rect">
            <a:avLst/>
          </a:prstGeom>
          <a:noFill/>
          <a:ln/>
        </p:spPr>
        <p:txBody>
          <a:bodyPr wrap="square" lIns="0" tIns="0" rIns="0" bIns="0" rtlCol="0" anchor="ctr"/>
          <a:lstStyle/>
          <a:p>
            <a:pPr rtl="1" algn="r" indent="0" marL="0">
              <a:buNone/>
            </a:pPr>
            <a:r>
              <a:rPr lang="ar-SA" altLang="en-US" sz="2100" b="1" dirty="0">
                <a:solidFill>
                  <a:schemeClr val="bg2"/>
                </a:solidFill>
              </a:rPr>
              <a:t>الاحترافية</a:t>
            </a:r>
            <a:endParaRPr lang="ar-SA" sz="2100" dirty="0"/>
          </a:p>
        </p:txBody>
      </p:sp>
      <p:sp>
        <p:nvSpPr>
          <p:cNvPr id="14" name="plan-price-2"/>
          <p:cNvSpPr txBox="1"/>
          <p:nvPr/>
        </p:nvSpPr>
        <p:spPr>
          <a:xfrm>
            <a:off x="4664354" y="2560320"/>
            <a:ext cx="2862986" cy="868680"/>
          </a:xfrm>
          <a:prstGeom prst="rect">
            <a:avLst/>
          </a:prstGeom>
          <a:noFill/>
          <a:ln/>
        </p:spPr>
        <p:txBody>
          <a:bodyPr wrap="square" lIns="0" tIns="0" rIns="0" bIns="0" rtlCol="0" anchor="ctr"/>
          <a:lstStyle/>
          <a:p>
            <a:pPr rtl="1" algn="r" indent="0" marL="0">
              <a:buNone/>
            </a:pPr>
            <a:r>
              <a:rPr lang="ar-SA" altLang="en-US" sz="5000" b="1" dirty="0">
                <a:solidFill>
                  <a:schemeClr val="accent1"/>
                </a:solidFill>
              </a:rPr>
              <a:t>$29</a:t>
            </a:r>
            <a:r>
              <a:rPr lang="ar-SA" altLang="en-US" sz="1800" dirty="0">
                <a:solidFill>
                  <a:schemeClr val="bg2"/>
                </a:solidFill>
              </a:rPr>
              <a:t>  شهريًا</a:t>
            </a:r>
            <a:endParaRPr lang="ar-SA" sz="1600" dirty="0"/>
          </a:p>
        </p:txBody>
      </p:sp>
      <p:sp>
        <p:nvSpPr>
          <p:cNvPr id="15" name="plan-body-2"/>
          <p:cNvSpPr txBox="1"/>
          <p:nvPr/>
        </p:nvSpPr>
        <p:spPr>
          <a:xfrm>
            <a:off x="4664354" y="3474720"/>
            <a:ext cx="2862986" cy="685800"/>
          </a:xfrm>
          <a:prstGeom prst="rect">
            <a:avLst/>
          </a:prstGeom>
          <a:noFill/>
          <a:ln/>
        </p:spPr>
        <p:txBody>
          <a:bodyPr wrap="square" lIns="0" tIns="0" rIns="0" bIns="0" rtlCol="0" anchor="t"/>
          <a:lstStyle/>
          <a:p>
            <a:pPr rtl="1" algn="r" indent="0" marL="0">
              <a:buNone/>
            </a:pPr>
            <a:r>
              <a:rPr lang="ar-SA" altLang="en-US" sz="1600" dirty="0">
                <a:solidFill>
                  <a:schemeClr val="bg2">
                    <a:alpha val="90000"/>
                  </a:schemeClr>
                </a:solidFill>
              </a:rPr>
              <a:t>كل الأساسية + تقارير وهوية خاصة، وبلا حدود</a:t>
            </a:r>
            <a:endParaRPr lang="ar-SA" sz="1600" dirty="0"/>
          </a:p>
        </p:txBody>
      </p:sp>
      <p:sp>
        <p:nvSpPr>
          <p:cNvPr id="16" name="plan-3"/>
          <p:cNvSpPr/>
          <p:nvPr/>
        </p:nvSpPr>
        <p:spPr>
          <a:xfrm>
            <a:off x="548640" y="1783080"/>
            <a:ext cx="3484778" cy="2514600"/>
          </a:xfrm>
          <a:prstGeom prst="roundRect">
            <a:avLst>
              <a:gd name="adj" fmla="val 5818"/>
            </a:avLst>
          </a:prstGeom>
          <a:solidFill>
            <a:schemeClr val="bg1"/>
          </a:solidFill>
          <a:ln w="9525">
            <a:solidFill>
              <a:schemeClr val="accent6"/>
            </a:solidFill>
            <a:prstDash val="solid"/>
          </a:ln>
          <a:effectLst>
            <a:outerShdw sx="100000" sy="100000" kx="0" ky="0" algn="bl" rotWithShape="0" blurRad="101600" dist="25400" dir="5400000">
              <a:srgbClr val="172331">
                <a:alpha val="8000"/>
              </a:srgbClr>
            </a:outerShdw>
          </a:effectLst>
        </p:spPr>
      </p:sp>
      <p:sp>
        <p:nvSpPr>
          <p:cNvPr id="17" name="plan-name-3"/>
          <p:cNvSpPr txBox="1"/>
          <p:nvPr/>
        </p:nvSpPr>
        <p:spPr>
          <a:xfrm>
            <a:off x="859536" y="2093976"/>
            <a:ext cx="2862986" cy="384048"/>
          </a:xfrm>
          <a:prstGeom prst="rect">
            <a:avLst/>
          </a:prstGeom>
          <a:noFill/>
          <a:ln/>
        </p:spPr>
        <p:txBody>
          <a:bodyPr wrap="square" lIns="0" tIns="0" rIns="0" bIns="0" rtlCol="0" anchor="ctr"/>
          <a:lstStyle/>
          <a:p>
            <a:pPr rtl="1" algn="r" indent="0" marL="0">
              <a:buNone/>
            </a:pPr>
            <a:r>
              <a:rPr lang="ar-SA" altLang="en-US" sz="2100" b="1" dirty="0">
                <a:solidFill>
                  <a:schemeClr val="tx1"/>
                </a:solidFill>
              </a:rPr>
              <a:t>التوصيل فقط</a:t>
            </a:r>
            <a:endParaRPr lang="ar-SA" sz="2100" dirty="0"/>
          </a:p>
        </p:txBody>
      </p:sp>
      <p:sp>
        <p:nvSpPr>
          <p:cNvPr id="18" name="plan-price-3"/>
          <p:cNvSpPr txBox="1"/>
          <p:nvPr/>
        </p:nvSpPr>
        <p:spPr>
          <a:xfrm>
            <a:off x="859536" y="2560320"/>
            <a:ext cx="2862986" cy="868680"/>
          </a:xfrm>
          <a:prstGeom prst="rect">
            <a:avLst/>
          </a:prstGeom>
          <a:noFill/>
          <a:ln/>
        </p:spPr>
        <p:txBody>
          <a:bodyPr wrap="square" lIns="0" tIns="0" rIns="0" bIns="0" rtlCol="0" anchor="ctr"/>
          <a:lstStyle/>
          <a:p>
            <a:pPr rtl="1" algn="r" indent="0" marL="0">
              <a:buNone/>
            </a:pPr>
            <a:r>
              <a:rPr lang="ar-SA" altLang="en-US" sz="5000" b="1" dirty="0">
                <a:solidFill>
                  <a:schemeClr val="accent3"/>
                </a:solidFill>
              </a:rPr>
              <a:t>$15</a:t>
            </a:r>
            <a:r>
              <a:rPr lang="ar-SA" altLang="en-US" sz="1800" dirty="0">
                <a:solidFill>
                  <a:schemeClr val="accent4"/>
                </a:solidFill>
              </a:rPr>
              <a:t>  شهريًا</a:t>
            </a:r>
            <a:endParaRPr lang="ar-SA" sz="1600" dirty="0"/>
          </a:p>
        </p:txBody>
      </p:sp>
      <p:sp>
        <p:nvSpPr>
          <p:cNvPr id="19" name="plan-body-3"/>
          <p:cNvSpPr txBox="1"/>
          <p:nvPr/>
        </p:nvSpPr>
        <p:spPr>
          <a:xfrm>
            <a:off x="859536" y="3474720"/>
            <a:ext cx="2862986" cy="685800"/>
          </a:xfrm>
          <a:prstGeom prst="rect">
            <a:avLst/>
          </a:prstGeom>
          <a:noFill/>
          <a:ln/>
        </p:spPr>
        <p:txBody>
          <a:bodyPr wrap="square" lIns="0" tIns="0" rIns="0" bIns="0" rtlCol="0" anchor="t"/>
          <a:lstStyle/>
          <a:p>
            <a:pPr rtl="1" algn="r" indent="0" marL="0">
              <a:buNone/>
            </a:pPr>
            <a:r>
              <a:rPr lang="ar-SA" altLang="en-US" sz="1600" dirty="0">
                <a:solidFill>
                  <a:schemeClr val="tx2"/>
                </a:solidFill>
              </a:rPr>
              <a:t>لمطعم بلا صالة: طلبات استلام وتوصيل</a:t>
            </a:r>
            <a:endParaRPr lang="ar-SA" sz="1600" dirty="0"/>
          </a:p>
        </p:txBody>
      </p:sp>
      <p:sp>
        <p:nvSpPr>
          <p:cNvPr id="20" name="addon-1"/>
          <p:cNvSpPr/>
          <p:nvPr/>
        </p:nvSpPr>
        <p:spPr>
          <a:xfrm>
            <a:off x="8158277" y="4526280"/>
            <a:ext cx="3484778" cy="658368"/>
          </a:xfrm>
          <a:prstGeom prst="roundRect">
            <a:avLst>
              <a:gd name="adj" fmla="val 19444"/>
            </a:avLst>
          </a:prstGeom>
          <a:solidFill>
            <a:schemeClr val="bg1"/>
          </a:solidFill>
          <a:ln w="9525">
            <a:solidFill>
              <a:schemeClr val="accent6"/>
            </a:solidFill>
            <a:prstDash val="solid"/>
          </a:ln>
        </p:spPr>
      </p:sp>
      <p:pic>
        <p:nvPicPr>
          <p:cNvPr id="21" name="addon-icon-1" descr="preencoded.png">    </p:cNvPr>
          <p:cNvPicPr>
            <a:picLocks noChangeAspect="1"/>
          </p:cNvPicPr>
          <p:nvPr/>
        </p:nvPicPr>
        <p:blipFill>
          <a:blip r:embed="rId1"/>
          <a:stretch>
            <a:fillRect/>
          </a:stretch>
        </p:blipFill>
        <p:spPr>
          <a:xfrm>
            <a:off x="11076127" y="4709160"/>
            <a:ext cx="292608" cy="292608"/>
          </a:xfrm>
          <a:prstGeom prst="rect">
            <a:avLst/>
          </a:prstGeom>
        </p:spPr>
      </p:pic>
      <p:sp>
        <p:nvSpPr>
          <p:cNvPr id="22" name="addon-label-1"/>
          <p:cNvSpPr txBox="1"/>
          <p:nvPr/>
        </p:nvSpPr>
        <p:spPr>
          <a:xfrm>
            <a:off x="8386877" y="4526280"/>
            <a:ext cx="2616098" cy="658368"/>
          </a:xfrm>
          <a:prstGeom prst="rect">
            <a:avLst/>
          </a:prstGeom>
          <a:noFill/>
          <a:ln/>
        </p:spPr>
        <p:txBody>
          <a:bodyPr wrap="square" lIns="0" tIns="0" rIns="0" bIns="0" rtlCol="0" anchor="ctr"/>
          <a:lstStyle/>
          <a:p>
            <a:pPr rtl="1" algn="r" indent="0" marL="0">
              <a:buNone/>
            </a:pPr>
            <a:r>
              <a:rPr lang="ar-SA" altLang="en-US" sz="1600" b="1" dirty="0">
                <a:solidFill>
                  <a:schemeClr val="accent3"/>
                </a:solidFill>
              </a:rPr>
              <a:t>$15</a:t>
            </a:r>
            <a:r>
              <a:rPr lang="ar-SA" altLang="en-US" sz="1600" dirty="0">
                <a:solidFill>
                  <a:schemeClr val="tx2"/>
                </a:solidFill>
              </a:rPr>
              <a:t>  إضافة التوصيل أونلاين</a:t>
            </a:r>
            <a:endParaRPr lang="ar-SA" sz="1600" dirty="0"/>
          </a:p>
        </p:txBody>
      </p:sp>
      <p:sp>
        <p:nvSpPr>
          <p:cNvPr id="23" name="addon-2"/>
          <p:cNvSpPr/>
          <p:nvPr/>
        </p:nvSpPr>
        <p:spPr>
          <a:xfrm>
            <a:off x="4353458" y="4526280"/>
            <a:ext cx="3484778" cy="658368"/>
          </a:xfrm>
          <a:prstGeom prst="roundRect">
            <a:avLst>
              <a:gd name="adj" fmla="val 19444"/>
            </a:avLst>
          </a:prstGeom>
          <a:solidFill>
            <a:schemeClr val="bg1"/>
          </a:solidFill>
          <a:ln w="9525">
            <a:solidFill>
              <a:schemeClr val="accent6"/>
            </a:solidFill>
            <a:prstDash val="solid"/>
          </a:ln>
        </p:spPr>
      </p:sp>
      <p:pic>
        <p:nvPicPr>
          <p:cNvPr id="24" name="addon-icon-2" descr="preencoded.png">    </p:cNvPr>
          <p:cNvPicPr>
            <a:picLocks noChangeAspect="1"/>
          </p:cNvPicPr>
          <p:nvPr/>
        </p:nvPicPr>
        <p:blipFill>
          <a:blip r:embed="rId2"/>
          <a:stretch>
            <a:fillRect/>
          </a:stretch>
        </p:blipFill>
        <p:spPr>
          <a:xfrm>
            <a:off x="7271309" y="4709160"/>
            <a:ext cx="292608" cy="292608"/>
          </a:xfrm>
          <a:prstGeom prst="rect">
            <a:avLst/>
          </a:prstGeom>
        </p:spPr>
      </p:pic>
      <p:sp>
        <p:nvSpPr>
          <p:cNvPr id="25" name="addon-label-2"/>
          <p:cNvSpPr txBox="1"/>
          <p:nvPr/>
        </p:nvSpPr>
        <p:spPr>
          <a:xfrm>
            <a:off x="4582058" y="4526280"/>
            <a:ext cx="2616098" cy="658368"/>
          </a:xfrm>
          <a:prstGeom prst="rect">
            <a:avLst/>
          </a:prstGeom>
          <a:noFill/>
          <a:ln/>
        </p:spPr>
        <p:txBody>
          <a:bodyPr wrap="square" lIns="0" tIns="0" rIns="0" bIns="0" rtlCol="0" anchor="ctr"/>
          <a:lstStyle/>
          <a:p>
            <a:pPr rtl="1" algn="r" indent="0" marL="0">
              <a:buNone/>
            </a:pPr>
            <a:r>
              <a:rPr lang="ar-SA" altLang="en-US" sz="1600" b="1" dirty="0">
                <a:solidFill>
                  <a:schemeClr val="accent3"/>
                </a:solidFill>
              </a:rPr>
              <a:t>$5</a:t>
            </a:r>
            <a:r>
              <a:rPr lang="ar-SA" altLang="en-US" sz="1600" dirty="0">
                <a:solidFill>
                  <a:schemeClr val="tx2"/>
                </a:solidFill>
              </a:rPr>
              <a:t>  إضافة الهوية الكاملة</a:t>
            </a:r>
            <a:endParaRPr lang="ar-SA" sz="1600" dirty="0"/>
          </a:p>
        </p:txBody>
      </p:sp>
      <p:sp>
        <p:nvSpPr>
          <p:cNvPr id="26" name="addon-3"/>
          <p:cNvSpPr/>
          <p:nvPr/>
        </p:nvSpPr>
        <p:spPr>
          <a:xfrm>
            <a:off x="548640" y="4526280"/>
            <a:ext cx="3484778" cy="658368"/>
          </a:xfrm>
          <a:prstGeom prst="roundRect">
            <a:avLst>
              <a:gd name="adj" fmla="val 19444"/>
            </a:avLst>
          </a:prstGeom>
          <a:solidFill>
            <a:schemeClr val="bg1"/>
          </a:solidFill>
          <a:ln w="9525">
            <a:solidFill>
              <a:schemeClr val="accent6"/>
            </a:solidFill>
            <a:prstDash val="solid"/>
          </a:ln>
        </p:spPr>
      </p:sp>
      <p:pic>
        <p:nvPicPr>
          <p:cNvPr id="27" name="addon-icon-3" descr="preencoded.png">    </p:cNvPr>
          <p:cNvPicPr>
            <a:picLocks noChangeAspect="1"/>
          </p:cNvPicPr>
          <p:nvPr/>
        </p:nvPicPr>
        <p:blipFill>
          <a:blip r:embed="rId3"/>
          <a:stretch>
            <a:fillRect/>
          </a:stretch>
        </p:blipFill>
        <p:spPr>
          <a:xfrm>
            <a:off x="3466490" y="4709160"/>
            <a:ext cx="292608" cy="292608"/>
          </a:xfrm>
          <a:prstGeom prst="rect">
            <a:avLst/>
          </a:prstGeom>
        </p:spPr>
      </p:pic>
      <p:sp>
        <p:nvSpPr>
          <p:cNvPr id="28" name="addon-label-3"/>
          <p:cNvSpPr txBox="1"/>
          <p:nvPr/>
        </p:nvSpPr>
        <p:spPr>
          <a:xfrm>
            <a:off x="777240" y="4526280"/>
            <a:ext cx="2616098" cy="658368"/>
          </a:xfrm>
          <a:prstGeom prst="rect">
            <a:avLst/>
          </a:prstGeom>
          <a:noFill/>
          <a:ln/>
        </p:spPr>
        <p:txBody>
          <a:bodyPr wrap="square" lIns="0" tIns="0" rIns="0" bIns="0" rtlCol="0" anchor="ctr"/>
          <a:lstStyle/>
          <a:p>
            <a:pPr rtl="1" algn="r" indent="0" marL="0">
              <a:buNone/>
            </a:pPr>
            <a:r>
              <a:rPr lang="ar-SA" altLang="en-US" sz="1600" b="1" dirty="0">
                <a:solidFill>
                  <a:schemeClr val="accent3"/>
                </a:solidFill>
              </a:rPr>
              <a:t>14 يومًا</a:t>
            </a:r>
            <a:r>
              <a:rPr lang="ar-SA" altLang="en-US" sz="1600" dirty="0">
                <a:solidFill>
                  <a:schemeClr val="tx2"/>
                </a:solidFill>
              </a:rPr>
              <a:t> تجربة مجانية</a:t>
            </a:r>
            <a:endParaRPr lang="ar-SA" sz="1600" dirty="0"/>
          </a:p>
        </p:txBody>
      </p:sp>
      <p:sp>
        <p:nvSpPr>
          <p:cNvPr id="29" name="bridge"/>
          <p:cNvSpPr/>
          <p:nvPr/>
        </p:nvSpPr>
        <p:spPr>
          <a:xfrm>
            <a:off x="548640" y="5504688"/>
            <a:ext cx="11094415" cy="566928"/>
          </a:xfrm>
          <a:prstGeom prst="roundRect">
            <a:avLst>
              <a:gd name="adj" fmla="val 25806"/>
            </a:avLst>
          </a:prstGeom>
          <a:solidFill>
            <a:schemeClr val="accent1">
              <a:alpha val="13000"/>
            </a:schemeClr>
          </a:solidFill>
          <a:ln/>
        </p:spPr>
      </p:sp>
      <p:pic>
        <p:nvPicPr>
          <p:cNvPr id="30" name="bridge-arrow" descr="preencoded.png">    </p:cNvPr>
          <p:cNvPicPr>
            <a:picLocks noChangeAspect="1"/>
          </p:cNvPicPr>
          <p:nvPr/>
        </p:nvPicPr>
        <p:blipFill>
          <a:blip r:embed="rId4"/>
          <a:stretch>
            <a:fillRect/>
          </a:stretch>
        </p:blipFill>
        <p:spPr>
          <a:xfrm>
            <a:off x="841248" y="5650992"/>
            <a:ext cx="274320" cy="274320"/>
          </a:xfrm>
          <a:prstGeom prst="rect">
            <a:avLst/>
          </a:prstGeom>
        </p:spPr>
      </p:pic>
      <p:sp>
        <p:nvSpPr>
          <p:cNvPr id="31" name="bridge-text"/>
          <p:cNvSpPr txBox="1"/>
          <p:nvPr/>
        </p:nvSpPr>
        <p:spPr>
          <a:xfrm>
            <a:off x="1371600" y="5504688"/>
            <a:ext cx="9997135" cy="566928"/>
          </a:xfrm>
          <a:prstGeom prst="rect">
            <a:avLst/>
          </a:prstGeom>
          <a:noFill/>
          <a:ln/>
        </p:spPr>
        <p:txBody>
          <a:bodyPr wrap="square" lIns="0" tIns="0" rIns="0" bIns="0" rtlCol="0" anchor="ctr"/>
          <a:lstStyle/>
          <a:p>
            <a:pPr rtl="1" algn="r" indent="0" marL="0">
              <a:buNone/>
            </a:pPr>
            <a:r>
              <a:rPr lang="ar-SA" altLang="en-US" sz="1900" b="1" dirty="0">
                <a:solidFill>
                  <a:schemeClr val="tx2"/>
                </a:solidFill>
              </a:rPr>
              <a:t>ليش بيدفع؟ $15 بالشهر = 50 سنت باليوم… أقل من ثمن طلب واحد ضاع</a:t>
            </a:r>
            <a:endParaRPr lang="ar-SA" sz="1900" dirty="0"/>
          </a:p>
        </p:txBody>
      </p:sp>
      <p:sp>
        <p:nvSpPr>
          <p:cNvPr id="25" name="Slide Number Placeholder 0"/>
          <p:cNvSpPr>
            <a:spLocks noGrp="1"/>
          </p:cNvSpPr>
          <p:nvPr>
            <p:ph type="sldNum" sz="quarter" idx="4294967295"/>
          </p:nvPr>
        </p:nvSpPr>
        <p:spPr>
          <a:xfrm>
            <a:off x="11183112" y="6391656"/>
            <a:ext cx="457200" cy="237744"/>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4"/>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1" type="body" hasCustomPrompt="1"/>
          </p:nvPr>
        </p:nvSpPr>
        <p:spPr>
          <a:xfrm>
            <a:off x="548640" y="384048"/>
            <a:ext cx="11094415" cy="347472"/>
          </a:xfrm>
          <a:prstGeom prst="rect">
            <a:avLst/>
          </a:prstGeom>
          <a:noFill/>
          <a:ln/>
        </p:spPr>
        <p:txBody>
          <a:bodyPr wrap="square" lIns="0" tIns="0" rIns="0" bIns="0" rtlCol="0" anchor="ctr"/>
          <a:lstStyle/>
          <a:p>
            <a:pPr rtl="1" algn="r" indent="0" marL="0">
              <a:buNone/>
            </a:pPr>
            <a:r>
              <a:rPr lang="ar-SA" altLang="en-US" sz="1600" b="1" dirty="0">
                <a:solidFill>
                  <a:schemeClr val="accent3"/>
                </a:solidFill>
              </a:rPr>
              <a:t>المنافسون</a:t>
            </a:r>
            <a:endParaRPr lang="ar-SA" sz="1600" dirty="0"/>
          </a:p>
        </p:txBody>
      </p:sp>
      <p:sp>
        <p:nvSpPr>
          <p:cNvPr id="3" name="Text 0"/>
          <p:cNvSpPr/>
          <p:nvPr>
            <p:ph idx="102" type="title" hasCustomPrompt="1"/>
          </p:nvPr>
        </p:nvSpPr>
        <p:spPr>
          <a:xfrm>
            <a:off x="548640" y="749808"/>
            <a:ext cx="11094415" cy="749808"/>
          </a:xfrm>
          <a:prstGeom prst="rect">
            <a:avLst/>
          </a:prstGeom>
          <a:noFill/>
          <a:ln/>
        </p:spPr>
        <p:txBody>
          <a:bodyPr wrap="square" lIns="0" tIns="0" rIns="0" bIns="0" rtlCol="0" anchor="t"/>
          <a:lstStyle/>
          <a:p>
            <a:pPr rtl="1" algn="r" indent="0" marL="0">
              <a:buNone/>
            </a:pPr>
            <a:r>
              <a:rPr lang="ar-SA" altLang="en-US" sz="3600" dirty="0">
                <a:solidFill>
                  <a:schemeClr val="tx1"/>
                </a:solidFill>
              </a:rPr>
              <a:t>في بدائل كثير… بس ولا واحد بيجمع الثلاثة</a:t>
            </a:r>
            <a:endParaRPr lang="ar-SA" sz="3600" dirty="0"/>
          </a:p>
        </p:txBody>
      </p:sp>
      <p:sp>
        <p:nvSpPr>
          <p:cNvPr id="4" name="compare-table"/>
          <p:cNvSpPr/>
          <p:nvPr/>
        </p:nvSpPr>
        <p:spPr>
          <a:xfrm>
            <a:off x="548640" y="1737360"/>
            <a:ext cx="11094415" cy="3694176"/>
          </a:xfrm>
          <a:prstGeom prst="roundRect">
            <a:avLst>
              <a:gd name="adj" fmla="val 3960"/>
            </a:avLst>
          </a:prstGeom>
          <a:solidFill>
            <a:schemeClr val="bg1"/>
          </a:solidFill>
          <a:ln w="9525">
            <a:solidFill>
              <a:schemeClr val="accent6"/>
            </a:solidFill>
            <a:prstDash val="solid"/>
          </a:ln>
          <a:effectLst>
            <a:outerShdw sx="100000" sy="100000" kx="0" ky="0" algn="bl" rotWithShape="0" blurRad="101600" dist="25400" dir="5400000">
              <a:srgbClr val="172331">
                <a:alpha val="8000"/>
              </a:srgbClr>
            </a:outerShdw>
          </a:effectLst>
        </p:spPr>
      </p:sp>
      <p:sp>
        <p:nvSpPr>
          <p:cNvPr id="5" name="compare-head-1"/>
          <p:cNvSpPr txBox="1"/>
          <p:nvPr/>
        </p:nvSpPr>
        <p:spPr>
          <a:xfrm>
            <a:off x="5079797" y="1810512"/>
            <a:ext cx="2036978" cy="658368"/>
          </a:xfrm>
          <a:prstGeom prst="rect">
            <a:avLst/>
          </a:prstGeom>
          <a:noFill/>
          <a:ln/>
        </p:spPr>
        <p:txBody>
          <a:bodyPr wrap="square" lIns="0" tIns="0" rIns="0" bIns="0" rtlCol="0" anchor="ctr"/>
          <a:lstStyle/>
          <a:p>
            <a:pPr rtl="1" algn="ctr" indent="0" marL="0">
              <a:buNone/>
            </a:pPr>
            <a:r>
              <a:rPr lang="ar-SA" altLang="en-US" sz="1700" b="1" dirty="0">
                <a:solidFill>
                  <a:schemeClr val="tx1"/>
                </a:solidFill>
              </a:rPr>
              <a:t>من الطاولة للمطبخ مباشرة</a:t>
            </a:r>
            <a:endParaRPr lang="ar-SA" sz="1700" dirty="0"/>
          </a:p>
        </p:txBody>
      </p:sp>
      <p:sp>
        <p:nvSpPr>
          <p:cNvPr id="6" name="compare-head-2"/>
          <p:cNvSpPr txBox="1"/>
          <p:nvPr/>
        </p:nvSpPr>
        <p:spPr>
          <a:xfrm>
            <a:off x="2859938" y="1810512"/>
            <a:ext cx="2036978" cy="658368"/>
          </a:xfrm>
          <a:prstGeom prst="rect">
            <a:avLst/>
          </a:prstGeom>
          <a:noFill/>
          <a:ln/>
        </p:spPr>
        <p:txBody>
          <a:bodyPr wrap="square" lIns="0" tIns="0" rIns="0" bIns="0" rtlCol="0" anchor="ctr"/>
          <a:lstStyle/>
          <a:p>
            <a:pPr rtl="1" algn="ctr" indent="0" marL="0">
              <a:buNone/>
            </a:pPr>
            <a:r>
              <a:rPr lang="ar-SA" altLang="en-US" sz="1700" b="1" dirty="0">
                <a:solidFill>
                  <a:schemeClr val="tx1"/>
                </a:solidFill>
              </a:rPr>
              <a:t>يكمل والنت مقطوع</a:t>
            </a:r>
            <a:endParaRPr lang="ar-SA" sz="1700" dirty="0"/>
          </a:p>
        </p:txBody>
      </p:sp>
      <p:sp>
        <p:nvSpPr>
          <p:cNvPr id="7" name="compare-head-3"/>
          <p:cNvSpPr txBox="1"/>
          <p:nvPr/>
        </p:nvSpPr>
        <p:spPr>
          <a:xfrm>
            <a:off x="640080" y="1810512"/>
            <a:ext cx="2036978" cy="658368"/>
          </a:xfrm>
          <a:prstGeom prst="rect">
            <a:avLst/>
          </a:prstGeom>
          <a:noFill/>
          <a:ln/>
        </p:spPr>
        <p:txBody>
          <a:bodyPr wrap="square" lIns="0" tIns="0" rIns="0" bIns="0" rtlCol="0" anchor="ctr"/>
          <a:lstStyle/>
          <a:p>
            <a:pPr rtl="1" algn="ctr" indent="0" marL="0">
              <a:buNone/>
            </a:pPr>
            <a:r>
              <a:rPr lang="ar-SA" altLang="en-US" sz="1700" b="1" dirty="0">
                <a:solidFill>
                  <a:schemeClr val="tx1"/>
                </a:solidFill>
              </a:rPr>
              <a:t>سعر صغير وبلا عمولة</a:t>
            </a:r>
            <a:endParaRPr lang="ar-SA" sz="1700" dirty="0"/>
          </a:p>
        </p:txBody>
      </p:sp>
      <p:sp>
        <p:nvSpPr>
          <p:cNvPr id="8" name="compare-head-name"/>
          <p:cNvSpPr txBox="1"/>
          <p:nvPr/>
        </p:nvSpPr>
        <p:spPr>
          <a:xfrm>
            <a:off x="7482535" y="1810512"/>
            <a:ext cx="3886200" cy="658368"/>
          </a:xfrm>
          <a:prstGeom prst="rect">
            <a:avLst/>
          </a:prstGeom>
          <a:noFill/>
          <a:ln/>
        </p:spPr>
        <p:txBody>
          <a:bodyPr wrap="square" lIns="0" tIns="0" rIns="0" bIns="0" rtlCol="0" anchor="ctr"/>
          <a:lstStyle/>
          <a:p>
            <a:pPr rtl="1" algn="r" indent="0" marL="0">
              <a:buNone/>
            </a:pPr>
            <a:r>
              <a:rPr lang="ar-SA" altLang="en-US" sz="1500" b="1" dirty="0">
                <a:solidFill>
                  <a:schemeClr val="accent4"/>
                </a:solidFill>
              </a:rPr>
              <a:t>البديل</a:t>
            </a:r>
            <a:endParaRPr lang="ar-SA" sz="1500" dirty="0"/>
          </a:p>
        </p:txBody>
      </p:sp>
      <p:sp>
        <p:nvSpPr>
          <p:cNvPr id="9" name="compare-rule-1"/>
          <p:cNvSpPr/>
          <p:nvPr/>
        </p:nvSpPr>
        <p:spPr>
          <a:xfrm>
            <a:off x="777240" y="2487168"/>
            <a:ext cx="10637215" cy="0"/>
          </a:xfrm>
          <a:prstGeom prst="line">
            <a:avLst/>
          </a:prstGeom>
          <a:noFill/>
          <a:ln w="9525">
            <a:solidFill>
              <a:schemeClr val="accent6"/>
            </a:solidFill>
            <a:prstDash val="solid"/>
          </a:ln>
        </p:spPr>
      </p:sp>
      <p:sp>
        <p:nvSpPr>
          <p:cNvPr id="10" name="compare-name-1"/>
          <p:cNvSpPr txBox="1"/>
          <p:nvPr/>
        </p:nvSpPr>
        <p:spPr>
          <a:xfrm>
            <a:off x="7482535" y="2487168"/>
            <a:ext cx="3886200" cy="566928"/>
          </a:xfrm>
          <a:prstGeom prst="rect">
            <a:avLst/>
          </a:prstGeom>
          <a:noFill/>
          <a:ln/>
        </p:spPr>
        <p:txBody>
          <a:bodyPr wrap="square" lIns="0" tIns="0" rIns="0" bIns="0" rtlCol="0" anchor="ctr"/>
          <a:lstStyle/>
          <a:p>
            <a:pPr rtl="1" algn="r" indent="0" marL="0">
              <a:buNone/>
            </a:pPr>
            <a:r>
              <a:rPr lang="ar-SA" altLang="en-US" sz="1700" b="1" dirty="0">
                <a:solidFill>
                  <a:schemeClr val="tx1"/>
                </a:solidFill>
              </a:rPr>
              <a:t>الورقة والنادل</a:t>
            </a:r>
            <a:r>
              <a:rPr lang="ar-SA" altLang="en-US" sz="1300" dirty="0">
                <a:solidFill>
                  <a:schemeClr val="accent4"/>
                </a:solidFill>
              </a:rPr>
              <a:t>  ·  الحل الموجود اليوم</a:t>
            </a:r>
            <a:endParaRPr lang="ar-SA" sz="1700" dirty="0"/>
          </a:p>
        </p:txBody>
      </p:sp>
      <p:pic>
        <p:nvPicPr>
          <p:cNvPr id="11" name="compare-1-1" descr="لا">    </p:cNvPr>
          <p:cNvPicPr>
            <a:picLocks noChangeAspect="1"/>
          </p:cNvPicPr>
          <p:nvPr/>
        </p:nvPicPr>
        <p:blipFill>
          <a:blip r:embed="rId1"/>
          <a:stretch>
            <a:fillRect/>
          </a:stretch>
        </p:blipFill>
        <p:spPr>
          <a:xfrm>
            <a:off x="5933694" y="2606040"/>
            <a:ext cx="329184" cy="329184"/>
          </a:xfrm>
          <a:prstGeom prst="rect">
            <a:avLst/>
          </a:prstGeom>
        </p:spPr>
      </p:pic>
      <p:pic>
        <p:nvPicPr>
          <p:cNvPr id="12" name="compare-1-2" descr="نعم">    </p:cNvPr>
          <p:cNvPicPr>
            <a:picLocks noChangeAspect="1"/>
          </p:cNvPicPr>
          <p:nvPr/>
        </p:nvPicPr>
        <p:blipFill>
          <a:blip r:embed="rId2"/>
          <a:stretch>
            <a:fillRect/>
          </a:stretch>
        </p:blipFill>
        <p:spPr>
          <a:xfrm>
            <a:off x="3713836" y="2606040"/>
            <a:ext cx="329184" cy="329184"/>
          </a:xfrm>
          <a:prstGeom prst="rect">
            <a:avLst/>
          </a:prstGeom>
        </p:spPr>
      </p:pic>
      <p:pic>
        <p:nvPicPr>
          <p:cNvPr id="13" name="compare-1-3" descr="نعم">    </p:cNvPr>
          <p:cNvPicPr>
            <a:picLocks noChangeAspect="1"/>
          </p:cNvPicPr>
          <p:nvPr/>
        </p:nvPicPr>
        <p:blipFill>
          <a:blip r:embed="rId3"/>
          <a:stretch>
            <a:fillRect/>
          </a:stretch>
        </p:blipFill>
        <p:spPr>
          <a:xfrm>
            <a:off x="1493977" y="2606040"/>
            <a:ext cx="329184" cy="329184"/>
          </a:xfrm>
          <a:prstGeom prst="rect">
            <a:avLst/>
          </a:prstGeom>
        </p:spPr>
      </p:pic>
      <p:sp>
        <p:nvSpPr>
          <p:cNvPr id="14" name="compare-rule-2"/>
          <p:cNvSpPr/>
          <p:nvPr/>
        </p:nvSpPr>
        <p:spPr>
          <a:xfrm>
            <a:off x="777240" y="3054096"/>
            <a:ext cx="10637215" cy="0"/>
          </a:xfrm>
          <a:prstGeom prst="line">
            <a:avLst/>
          </a:prstGeom>
          <a:noFill/>
          <a:ln w="9525">
            <a:solidFill>
              <a:schemeClr val="accent6"/>
            </a:solidFill>
            <a:prstDash val="solid"/>
          </a:ln>
        </p:spPr>
      </p:sp>
      <p:sp>
        <p:nvSpPr>
          <p:cNvPr id="15" name="compare-name-2"/>
          <p:cNvSpPr txBox="1"/>
          <p:nvPr/>
        </p:nvSpPr>
        <p:spPr>
          <a:xfrm>
            <a:off x="7482535" y="3054096"/>
            <a:ext cx="3886200" cy="566928"/>
          </a:xfrm>
          <a:prstGeom prst="rect">
            <a:avLst/>
          </a:prstGeom>
          <a:noFill/>
          <a:ln/>
        </p:spPr>
        <p:txBody>
          <a:bodyPr wrap="square" lIns="0" tIns="0" rIns="0" bIns="0" rtlCol="0" anchor="ctr"/>
          <a:lstStyle/>
          <a:p>
            <a:pPr rtl="1" algn="r" indent="0" marL="0">
              <a:buNone/>
            </a:pPr>
            <a:r>
              <a:rPr lang="ar-SA" altLang="en-US" sz="1700" b="1" dirty="0">
                <a:solidFill>
                  <a:schemeClr val="tx1"/>
                </a:solidFill>
              </a:rPr>
              <a:t>منيو QR للعرض فقط</a:t>
            </a:r>
            <a:r>
              <a:rPr lang="ar-SA" altLang="en-US" sz="1300" dirty="0">
                <a:solidFill>
                  <a:schemeClr val="accent4"/>
                </a:solidFill>
              </a:rPr>
              <a:t>  ·  رابط أو PDF</a:t>
            </a:r>
            <a:endParaRPr lang="ar-SA" sz="1700" dirty="0"/>
          </a:p>
        </p:txBody>
      </p:sp>
      <p:pic>
        <p:nvPicPr>
          <p:cNvPr id="16" name="compare-2-1" descr="لا">    </p:cNvPr>
          <p:cNvPicPr>
            <a:picLocks noChangeAspect="1"/>
          </p:cNvPicPr>
          <p:nvPr/>
        </p:nvPicPr>
        <p:blipFill>
          <a:blip r:embed="rId4"/>
          <a:stretch>
            <a:fillRect/>
          </a:stretch>
        </p:blipFill>
        <p:spPr>
          <a:xfrm>
            <a:off x="5933694" y="3172968"/>
            <a:ext cx="329184" cy="329184"/>
          </a:xfrm>
          <a:prstGeom prst="rect">
            <a:avLst/>
          </a:prstGeom>
        </p:spPr>
      </p:pic>
      <p:pic>
        <p:nvPicPr>
          <p:cNvPr id="17" name="compare-2-2" descr="لا ينطبق">    </p:cNvPr>
          <p:cNvPicPr>
            <a:picLocks noChangeAspect="1"/>
          </p:cNvPicPr>
          <p:nvPr/>
        </p:nvPicPr>
        <p:blipFill>
          <a:blip r:embed="rId5"/>
          <a:stretch>
            <a:fillRect/>
          </a:stretch>
        </p:blipFill>
        <p:spPr>
          <a:xfrm>
            <a:off x="3713836" y="3172968"/>
            <a:ext cx="329184" cy="329184"/>
          </a:xfrm>
          <a:prstGeom prst="rect">
            <a:avLst/>
          </a:prstGeom>
        </p:spPr>
      </p:pic>
      <p:pic>
        <p:nvPicPr>
          <p:cNvPr id="18" name="compare-2-3" descr="نعم">    </p:cNvPr>
          <p:cNvPicPr>
            <a:picLocks noChangeAspect="1"/>
          </p:cNvPicPr>
          <p:nvPr/>
        </p:nvPicPr>
        <p:blipFill>
          <a:blip r:embed="rId6"/>
          <a:stretch>
            <a:fillRect/>
          </a:stretch>
        </p:blipFill>
        <p:spPr>
          <a:xfrm>
            <a:off x="1493977" y="3172968"/>
            <a:ext cx="329184" cy="329184"/>
          </a:xfrm>
          <a:prstGeom prst="rect">
            <a:avLst/>
          </a:prstGeom>
        </p:spPr>
      </p:pic>
      <p:sp>
        <p:nvSpPr>
          <p:cNvPr id="19" name="compare-rule-3"/>
          <p:cNvSpPr/>
          <p:nvPr/>
        </p:nvSpPr>
        <p:spPr>
          <a:xfrm>
            <a:off x="777240" y="3621024"/>
            <a:ext cx="10637215" cy="0"/>
          </a:xfrm>
          <a:prstGeom prst="line">
            <a:avLst/>
          </a:prstGeom>
          <a:noFill/>
          <a:ln w="9525">
            <a:solidFill>
              <a:schemeClr val="accent6"/>
            </a:solidFill>
            <a:prstDash val="solid"/>
          </a:ln>
        </p:spPr>
      </p:sp>
      <p:sp>
        <p:nvSpPr>
          <p:cNvPr id="20" name="compare-name-3"/>
          <p:cNvSpPr txBox="1"/>
          <p:nvPr/>
        </p:nvSpPr>
        <p:spPr>
          <a:xfrm>
            <a:off x="7482535" y="3621024"/>
            <a:ext cx="3886200" cy="566928"/>
          </a:xfrm>
          <a:prstGeom prst="rect">
            <a:avLst/>
          </a:prstGeom>
          <a:noFill/>
          <a:ln/>
        </p:spPr>
        <p:txBody>
          <a:bodyPr wrap="square" lIns="0" tIns="0" rIns="0" bIns="0" rtlCol="0" anchor="ctr"/>
          <a:lstStyle/>
          <a:p>
            <a:pPr rtl="1" algn="r" indent="0" marL="0">
              <a:buNone/>
            </a:pPr>
            <a:r>
              <a:rPr lang="ar-SA" altLang="en-US" sz="1700" b="1" dirty="0">
                <a:solidFill>
                  <a:schemeClr val="tx1"/>
                </a:solidFill>
              </a:rPr>
              <a:t>أنظمة الكاشير POS</a:t>
            </a:r>
            <a:r>
              <a:rPr lang="ar-SA" altLang="en-US" sz="1300" dirty="0">
                <a:solidFill>
                  <a:schemeClr val="accent4"/>
                </a:solidFill>
              </a:rPr>
              <a:t>  ·  Foodics · Loyverse</a:t>
            </a:r>
            <a:endParaRPr lang="ar-SA" sz="1700" dirty="0"/>
          </a:p>
        </p:txBody>
      </p:sp>
      <p:pic>
        <p:nvPicPr>
          <p:cNvPr id="21" name="compare-3-1" descr="جزئيًا">    </p:cNvPr>
          <p:cNvPicPr>
            <a:picLocks noChangeAspect="1"/>
          </p:cNvPicPr>
          <p:nvPr/>
        </p:nvPicPr>
        <p:blipFill>
          <a:blip r:embed="rId7"/>
          <a:stretch>
            <a:fillRect/>
          </a:stretch>
        </p:blipFill>
        <p:spPr>
          <a:xfrm>
            <a:off x="5933694" y="3739896"/>
            <a:ext cx="329184" cy="329184"/>
          </a:xfrm>
          <a:prstGeom prst="rect">
            <a:avLst/>
          </a:prstGeom>
        </p:spPr>
      </p:pic>
      <p:pic>
        <p:nvPicPr>
          <p:cNvPr id="22" name="compare-3-2" descr="نعم">    </p:cNvPr>
          <p:cNvPicPr>
            <a:picLocks noChangeAspect="1"/>
          </p:cNvPicPr>
          <p:nvPr/>
        </p:nvPicPr>
        <p:blipFill>
          <a:blip r:embed="rId8"/>
          <a:stretch>
            <a:fillRect/>
          </a:stretch>
        </p:blipFill>
        <p:spPr>
          <a:xfrm>
            <a:off x="3713836" y="3739896"/>
            <a:ext cx="329184" cy="329184"/>
          </a:xfrm>
          <a:prstGeom prst="rect">
            <a:avLst/>
          </a:prstGeom>
        </p:spPr>
      </p:pic>
      <p:pic>
        <p:nvPicPr>
          <p:cNvPr id="23" name="compare-3-3" descr="جزئيًا">    </p:cNvPr>
          <p:cNvPicPr>
            <a:picLocks noChangeAspect="1"/>
          </p:cNvPicPr>
          <p:nvPr/>
        </p:nvPicPr>
        <p:blipFill>
          <a:blip r:embed="rId9"/>
          <a:stretch>
            <a:fillRect/>
          </a:stretch>
        </p:blipFill>
        <p:spPr>
          <a:xfrm>
            <a:off x="1493977" y="3739896"/>
            <a:ext cx="329184" cy="329184"/>
          </a:xfrm>
          <a:prstGeom prst="rect">
            <a:avLst/>
          </a:prstGeom>
        </p:spPr>
      </p:pic>
      <p:sp>
        <p:nvSpPr>
          <p:cNvPr id="24" name="compare-rule-4"/>
          <p:cNvSpPr/>
          <p:nvPr/>
        </p:nvSpPr>
        <p:spPr>
          <a:xfrm>
            <a:off x="777240" y="4187952"/>
            <a:ext cx="10637215" cy="0"/>
          </a:xfrm>
          <a:prstGeom prst="line">
            <a:avLst/>
          </a:prstGeom>
          <a:noFill/>
          <a:ln w="9525">
            <a:solidFill>
              <a:schemeClr val="accent6"/>
            </a:solidFill>
            <a:prstDash val="solid"/>
          </a:ln>
        </p:spPr>
      </p:sp>
      <p:sp>
        <p:nvSpPr>
          <p:cNvPr id="25" name="compare-name-4"/>
          <p:cNvSpPr txBox="1"/>
          <p:nvPr/>
        </p:nvSpPr>
        <p:spPr>
          <a:xfrm>
            <a:off x="7482535" y="4187952"/>
            <a:ext cx="3886200" cy="566928"/>
          </a:xfrm>
          <a:prstGeom prst="rect">
            <a:avLst/>
          </a:prstGeom>
          <a:noFill/>
          <a:ln/>
        </p:spPr>
        <p:txBody>
          <a:bodyPr wrap="square" lIns="0" tIns="0" rIns="0" bIns="0" rtlCol="0" anchor="ctr"/>
          <a:lstStyle/>
          <a:p>
            <a:pPr rtl="1" algn="r" indent="0" marL="0">
              <a:buNone/>
            </a:pPr>
            <a:r>
              <a:rPr lang="ar-SA" altLang="en-US" sz="1700" b="1" dirty="0">
                <a:solidFill>
                  <a:schemeClr val="tx1"/>
                </a:solidFill>
              </a:rPr>
              <a:t>تطبيقات التوصيل</a:t>
            </a:r>
            <a:r>
              <a:rPr lang="ar-SA" altLang="en-US" sz="1300" dirty="0">
                <a:solidFill>
                  <a:schemeClr val="accent4"/>
                </a:solidFill>
              </a:rPr>
              <a:t>  ·  طلبات Talabat</a:t>
            </a:r>
            <a:endParaRPr lang="ar-SA" sz="1700" dirty="0"/>
          </a:p>
        </p:txBody>
      </p:sp>
      <p:pic>
        <p:nvPicPr>
          <p:cNvPr id="26" name="compare-4-1" descr="لا">    </p:cNvPr>
          <p:cNvPicPr>
            <a:picLocks noChangeAspect="1"/>
          </p:cNvPicPr>
          <p:nvPr/>
        </p:nvPicPr>
        <p:blipFill>
          <a:blip r:embed="rId10"/>
          <a:stretch>
            <a:fillRect/>
          </a:stretch>
        </p:blipFill>
        <p:spPr>
          <a:xfrm>
            <a:off x="5933694" y="4306824"/>
            <a:ext cx="329184" cy="329184"/>
          </a:xfrm>
          <a:prstGeom prst="rect">
            <a:avLst/>
          </a:prstGeom>
        </p:spPr>
      </p:pic>
      <p:pic>
        <p:nvPicPr>
          <p:cNvPr id="27" name="compare-4-2" descr="لا">    </p:cNvPr>
          <p:cNvPicPr>
            <a:picLocks noChangeAspect="1"/>
          </p:cNvPicPr>
          <p:nvPr/>
        </p:nvPicPr>
        <p:blipFill>
          <a:blip r:embed="rId11"/>
          <a:stretch>
            <a:fillRect/>
          </a:stretch>
        </p:blipFill>
        <p:spPr>
          <a:xfrm>
            <a:off x="3713836" y="4306824"/>
            <a:ext cx="329184" cy="329184"/>
          </a:xfrm>
          <a:prstGeom prst="rect">
            <a:avLst/>
          </a:prstGeom>
        </p:spPr>
      </p:pic>
      <p:pic>
        <p:nvPicPr>
          <p:cNvPr id="28" name="compare-4-3" descr="لا">    </p:cNvPr>
          <p:cNvPicPr>
            <a:picLocks noChangeAspect="1"/>
          </p:cNvPicPr>
          <p:nvPr/>
        </p:nvPicPr>
        <p:blipFill>
          <a:blip r:embed="rId12"/>
          <a:stretch>
            <a:fillRect/>
          </a:stretch>
        </p:blipFill>
        <p:spPr>
          <a:xfrm>
            <a:off x="1493977" y="4306824"/>
            <a:ext cx="329184" cy="329184"/>
          </a:xfrm>
          <a:prstGeom prst="rect">
            <a:avLst/>
          </a:prstGeom>
        </p:spPr>
      </p:pic>
      <p:sp>
        <p:nvSpPr>
          <p:cNvPr id="29" name="compare-ours"/>
          <p:cNvSpPr/>
          <p:nvPr/>
        </p:nvSpPr>
        <p:spPr>
          <a:xfrm>
            <a:off x="640080" y="4791456"/>
            <a:ext cx="10911535" cy="493776"/>
          </a:xfrm>
          <a:prstGeom prst="roundRect">
            <a:avLst>
              <a:gd name="adj" fmla="val 25926"/>
            </a:avLst>
          </a:prstGeom>
          <a:solidFill>
            <a:schemeClr val="accent1">
              <a:alpha val="14000"/>
            </a:schemeClr>
          </a:solidFill>
          <a:ln/>
        </p:spPr>
      </p:sp>
      <p:sp>
        <p:nvSpPr>
          <p:cNvPr id="30" name="compare-name-5"/>
          <p:cNvSpPr txBox="1"/>
          <p:nvPr/>
        </p:nvSpPr>
        <p:spPr>
          <a:xfrm>
            <a:off x="7482535" y="4754880"/>
            <a:ext cx="3886200" cy="566928"/>
          </a:xfrm>
          <a:prstGeom prst="rect">
            <a:avLst/>
          </a:prstGeom>
          <a:noFill/>
          <a:ln/>
        </p:spPr>
        <p:txBody>
          <a:bodyPr wrap="square" lIns="0" tIns="0" rIns="0" bIns="0" rtlCol="0" anchor="ctr"/>
          <a:lstStyle/>
          <a:p>
            <a:pPr rtl="1" algn="r" indent="0" marL="0">
              <a:buNone/>
            </a:pPr>
            <a:r>
              <a:rPr lang="ar-SA" altLang="en-US" sz="2000" b="1" dirty="0">
                <a:solidFill>
                  <a:schemeClr val="accent3"/>
                </a:solidFill>
              </a:rPr>
              <a:t>menuPilot</a:t>
            </a:r>
            <a:endParaRPr lang="ar-SA" sz="1700" dirty="0"/>
          </a:p>
        </p:txBody>
      </p:sp>
      <p:pic>
        <p:nvPicPr>
          <p:cNvPr id="31" name="compare-5-1" descr="نعم">    </p:cNvPr>
          <p:cNvPicPr>
            <a:picLocks noChangeAspect="1"/>
          </p:cNvPicPr>
          <p:nvPr/>
        </p:nvPicPr>
        <p:blipFill>
          <a:blip r:embed="rId13"/>
          <a:stretch>
            <a:fillRect/>
          </a:stretch>
        </p:blipFill>
        <p:spPr>
          <a:xfrm>
            <a:off x="5933694" y="4873752"/>
            <a:ext cx="329184" cy="329184"/>
          </a:xfrm>
          <a:prstGeom prst="rect">
            <a:avLst/>
          </a:prstGeom>
        </p:spPr>
      </p:pic>
      <p:pic>
        <p:nvPicPr>
          <p:cNvPr id="32" name="compare-5-2" descr="نعم">    </p:cNvPr>
          <p:cNvPicPr>
            <a:picLocks noChangeAspect="1"/>
          </p:cNvPicPr>
          <p:nvPr/>
        </p:nvPicPr>
        <p:blipFill>
          <a:blip r:embed="rId14"/>
          <a:stretch>
            <a:fillRect/>
          </a:stretch>
        </p:blipFill>
        <p:spPr>
          <a:xfrm>
            <a:off x="3713836" y="4873752"/>
            <a:ext cx="329184" cy="329184"/>
          </a:xfrm>
          <a:prstGeom prst="rect">
            <a:avLst/>
          </a:prstGeom>
        </p:spPr>
      </p:pic>
      <p:pic>
        <p:nvPicPr>
          <p:cNvPr id="33" name="compare-5-3" descr="نعم">    </p:cNvPr>
          <p:cNvPicPr>
            <a:picLocks noChangeAspect="1"/>
          </p:cNvPicPr>
          <p:nvPr/>
        </p:nvPicPr>
        <p:blipFill>
          <a:blip r:embed="rId15"/>
          <a:stretch>
            <a:fillRect/>
          </a:stretch>
        </p:blipFill>
        <p:spPr>
          <a:xfrm>
            <a:off x="1493977" y="4873752"/>
            <a:ext cx="329184" cy="329184"/>
          </a:xfrm>
          <a:prstGeom prst="rect">
            <a:avLst/>
          </a:prstGeom>
        </p:spPr>
      </p:pic>
      <p:pic>
        <p:nvPicPr>
          <p:cNvPr id="34" name="legend-yes" descr="preencoded.png">    </p:cNvPr>
          <p:cNvPicPr>
            <a:picLocks noChangeAspect="1"/>
          </p:cNvPicPr>
          <p:nvPr/>
        </p:nvPicPr>
        <p:blipFill>
          <a:blip r:embed="rId16"/>
          <a:stretch>
            <a:fillRect/>
          </a:stretch>
        </p:blipFill>
        <p:spPr>
          <a:xfrm>
            <a:off x="11405311" y="5596128"/>
            <a:ext cx="237744" cy="237744"/>
          </a:xfrm>
          <a:prstGeom prst="rect">
            <a:avLst/>
          </a:prstGeom>
        </p:spPr>
      </p:pic>
      <p:sp>
        <p:nvSpPr>
          <p:cNvPr id="35" name="legend-label-yes"/>
          <p:cNvSpPr txBox="1"/>
          <p:nvPr/>
        </p:nvSpPr>
        <p:spPr>
          <a:xfrm>
            <a:off x="10966399" y="5541264"/>
            <a:ext cx="347472" cy="347472"/>
          </a:xfrm>
          <a:prstGeom prst="rect">
            <a:avLst/>
          </a:prstGeom>
          <a:noFill/>
          <a:ln/>
        </p:spPr>
        <p:txBody>
          <a:bodyPr wrap="square" lIns="0" tIns="0" rIns="0" bIns="0" rtlCol="0" anchor="ctr"/>
          <a:lstStyle/>
          <a:p>
            <a:pPr rtl="1" algn="r" indent="0" marL="0">
              <a:buNone/>
            </a:pPr>
            <a:r>
              <a:rPr lang="ar-SA" altLang="en-US" sz="1300" dirty="0">
                <a:solidFill>
                  <a:schemeClr val="accent4"/>
                </a:solidFill>
              </a:rPr>
              <a:t>نعم</a:t>
            </a:r>
            <a:endParaRPr lang="ar-SA" sz="1300" dirty="0"/>
          </a:p>
        </p:txBody>
      </p:sp>
      <p:pic>
        <p:nvPicPr>
          <p:cNvPr id="36" name="legend-part" descr="preencoded.png">    </p:cNvPr>
          <p:cNvPicPr>
            <a:picLocks noChangeAspect="1"/>
          </p:cNvPicPr>
          <p:nvPr/>
        </p:nvPicPr>
        <p:blipFill>
          <a:blip r:embed="rId17"/>
          <a:stretch>
            <a:fillRect/>
          </a:stretch>
        </p:blipFill>
        <p:spPr>
          <a:xfrm>
            <a:off x="10408615" y="5596128"/>
            <a:ext cx="237744" cy="237744"/>
          </a:xfrm>
          <a:prstGeom prst="rect">
            <a:avLst/>
          </a:prstGeom>
        </p:spPr>
      </p:pic>
      <p:sp>
        <p:nvSpPr>
          <p:cNvPr id="37" name="legend-label-part"/>
          <p:cNvSpPr txBox="1"/>
          <p:nvPr/>
        </p:nvSpPr>
        <p:spPr>
          <a:xfrm>
            <a:off x="8140903" y="5541264"/>
            <a:ext cx="2176272" cy="347472"/>
          </a:xfrm>
          <a:prstGeom prst="rect">
            <a:avLst/>
          </a:prstGeom>
          <a:noFill/>
          <a:ln/>
        </p:spPr>
        <p:txBody>
          <a:bodyPr wrap="square" lIns="0" tIns="0" rIns="0" bIns="0" rtlCol="0" anchor="ctr"/>
          <a:lstStyle/>
          <a:p>
            <a:pPr rtl="1" algn="r" indent="0" marL="0">
              <a:buNone/>
            </a:pPr>
            <a:r>
              <a:rPr lang="ar-SA" altLang="en-US" sz="1300" dirty="0">
                <a:solidFill>
                  <a:schemeClr val="accent4"/>
                </a:solidFill>
              </a:rPr>
              <a:t>جزئيًا أو بإضافة خارجية</a:t>
            </a:r>
            <a:endParaRPr lang="ar-SA" sz="1300" dirty="0"/>
          </a:p>
        </p:txBody>
      </p:sp>
      <p:pic>
        <p:nvPicPr>
          <p:cNvPr id="38" name="legend-no" descr="preencoded.png">    </p:cNvPr>
          <p:cNvPicPr>
            <a:picLocks noChangeAspect="1"/>
          </p:cNvPicPr>
          <p:nvPr/>
        </p:nvPicPr>
        <p:blipFill>
          <a:blip r:embed="rId18"/>
          <a:stretch>
            <a:fillRect/>
          </a:stretch>
        </p:blipFill>
        <p:spPr>
          <a:xfrm>
            <a:off x="7583119" y="5596128"/>
            <a:ext cx="237744" cy="237744"/>
          </a:xfrm>
          <a:prstGeom prst="rect">
            <a:avLst/>
          </a:prstGeom>
        </p:spPr>
      </p:pic>
      <p:sp>
        <p:nvSpPr>
          <p:cNvPr id="39" name="legend-label-no"/>
          <p:cNvSpPr txBox="1"/>
          <p:nvPr/>
        </p:nvSpPr>
        <p:spPr>
          <a:xfrm>
            <a:off x="7235647" y="5541264"/>
            <a:ext cx="256032" cy="347472"/>
          </a:xfrm>
          <a:prstGeom prst="rect">
            <a:avLst/>
          </a:prstGeom>
          <a:noFill/>
          <a:ln/>
        </p:spPr>
        <p:txBody>
          <a:bodyPr wrap="square" lIns="0" tIns="0" rIns="0" bIns="0" rtlCol="0" anchor="ctr"/>
          <a:lstStyle/>
          <a:p>
            <a:pPr rtl="1" algn="r" indent="0" marL="0">
              <a:buNone/>
            </a:pPr>
            <a:r>
              <a:rPr lang="ar-SA" altLang="en-US" sz="1300" dirty="0">
                <a:solidFill>
                  <a:schemeClr val="accent4"/>
                </a:solidFill>
              </a:rPr>
              <a:t>لا</a:t>
            </a:r>
            <a:endParaRPr lang="ar-SA" sz="1300" dirty="0"/>
          </a:p>
        </p:txBody>
      </p:sp>
      <p:pic>
        <p:nvPicPr>
          <p:cNvPr id="40" name="legend-na" descr="preencoded.png">    </p:cNvPr>
          <p:cNvPicPr>
            <a:picLocks noChangeAspect="1"/>
          </p:cNvPicPr>
          <p:nvPr/>
        </p:nvPicPr>
        <p:blipFill>
          <a:blip r:embed="rId19"/>
          <a:stretch>
            <a:fillRect/>
          </a:stretch>
        </p:blipFill>
        <p:spPr>
          <a:xfrm>
            <a:off x="6677863" y="5596128"/>
            <a:ext cx="237744" cy="237744"/>
          </a:xfrm>
          <a:prstGeom prst="rect">
            <a:avLst/>
          </a:prstGeom>
        </p:spPr>
      </p:pic>
      <p:sp>
        <p:nvSpPr>
          <p:cNvPr id="41" name="legend-label-na"/>
          <p:cNvSpPr txBox="1"/>
          <p:nvPr/>
        </p:nvSpPr>
        <p:spPr>
          <a:xfrm>
            <a:off x="5781751" y="5541264"/>
            <a:ext cx="804672" cy="347472"/>
          </a:xfrm>
          <a:prstGeom prst="rect">
            <a:avLst/>
          </a:prstGeom>
          <a:noFill/>
          <a:ln/>
        </p:spPr>
        <p:txBody>
          <a:bodyPr wrap="square" lIns="0" tIns="0" rIns="0" bIns="0" rtlCol="0" anchor="ctr"/>
          <a:lstStyle/>
          <a:p>
            <a:pPr rtl="1" algn="r" indent="0" marL="0">
              <a:buNone/>
            </a:pPr>
            <a:r>
              <a:rPr lang="ar-SA" altLang="en-US" sz="1300" dirty="0">
                <a:solidFill>
                  <a:schemeClr val="accent4"/>
                </a:solidFill>
              </a:rPr>
              <a:t>لا ينطبق</a:t>
            </a:r>
            <a:endParaRPr lang="ar-SA" sz="1300" dirty="0"/>
          </a:p>
        </p:txBody>
      </p:sp>
      <p:sp>
        <p:nvSpPr>
          <p:cNvPr id="42" name="sources"/>
          <p:cNvSpPr txBox="1"/>
          <p:nvPr/>
        </p:nvSpPr>
        <p:spPr>
          <a:xfrm>
            <a:off x="1600200" y="6373368"/>
            <a:ext cx="9418320" cy="274320"/>
          </a:xfrm>
          <a:prstGeom prst="rect">
            <a:avLst/>
          </a:prstGeom>
          <a:noFill/>
          <a:ln/>
        </p:spPr>
        <p:txBody>
          <a:bodyPr wrap="square" lIns="0" tIns="0" rIns="0" bIns="0" rtlCol="0" anchor="ctr"/>
          <a:lstStyle/>
          <a:p>
            <a:pPr rtl="1" algn="r" indent="0" marL="0">
              <a:buNone/>
            </a:pPr>
            <a:r>
              <a:rPr lang="ar-SA" altLang="en-US" sz="1000" dirty="0">
                <a:solidFill>
                  <a:schemeClr val="accent4"/>
                </a:solidFill>
              </a:rPr>
              <a:t>Loyverse: الطلب عبر QR بتكاملات خارجية (MENU TIGER) · Foodics: باقات من ~199 درهمًا شهريًا (G2) · عمولة تطبيقات التوصيل 15–30% (أدلة القطاع)</a:t>
            </a:r>
            <a:endParaRPr lang="ar-SA" sz="1000" dirty="0"/>
          </a:p>
        </p:txBody>
      </p:sp>
      <p:sp>
        <p:nvSpPr>
          <p:cNvPr id="25" name="Slide Number Placeholder 0"/>
          <p:cNvSpPr>
            <a:spLocks noGrp="1"/>
          </p:cNvSpPr>
          <p:nvPr>
            <p:ph type="sldNum" sz="quarter" idx="4294967295"/>
          </p:nvPr>
        </p:nvSpPr>
        <p:spPr>
          <a:xfrm>
            <a:off x="11183112" y="6391656"/>
            <a:ext cx="457200" cy="237744"/>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4"/>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1" type="body" hasCustomPrompt="1"/>
          </p:nvPr>
        </p:nvSpPr>
        <p:spPr>
          <a:xfrm>
            <a:off x="548640" y="384048"/>
            <a:ext cx="11094415" cy="347472"/>
          </a:xfrm>
          <a:prstGeom prst="rect">
            <a:avLst/>
          </a:prstGeom>
          <a:noFill/>
          <a:ln/>
        </p:spPr>
        <p:txBody>
          <a:bodyPr wrap="square" lIns="0" tIns="0" rIns="0" bIns="0" rtlCol="0" anchor="ctr"/>
          <a:lstStyle/>
          <a:p>
            <a:pPr rtl="1" algn="r" indent="0" marL="0">
              <a:buNone/>
            </a:pPr>
            <a:r>
              <a:rPr lang="ar-SA" altLang="en-US" sz="1600" b="1" dirty="0">
                <a:solidFill>
                  <a:schemeClr val="accent3"/>
                </a:solidFill>
              </a:rPr>
              <a:t>الفريق</a:t>
            </a:r>
            <a:endParaRPr lang="ar-SA" sz="1600" dirty="0"/>
          </a:p>
        </p:txBody>
      </p:sp>
      <p:sp>
        <p:nvSpPr>
          <p:cNvPr id="3" name="Text 0"/>
          <p:cNvSpPr/>
          <p:nvPr>
            <p:ph idx="102" type="title" hasCustomPrompt="1"/>
          </p:nvPr>
        </p:nvSpPr>
        <p:spPr>
          <a:xfrm>
            <a:off x="548640" y="749808"/>
            <a:ext cx="11094415" cy="749808"/>
          </a:xfrm>
          <a:prstGeom prst="rect">
            <a:avLst/>
          </a:prstGeom>
          <a:noFill/>
          <a:ln/>
        </p:spPr>
        <p:txBody>
          <a:bodyPr wrap="square" lIns="0" tIns="0" rIns="0" bIns="0" rtlCol="0" anchor="t"/>
          <a:lstStyle/>
          <a:p>
            <a:pPr rtl="1" algn="r" indent="0" marL="0">
              <a:buNone/>
            </a:pPr>
            <a:r>
              <a:rPr lang="ar-SA" altLang="en-US" sz="3600" dirty="0">
                <a:solidFill>
                  <a:schemeClr val="tx1"/>
                </a:solidFill>
              </a:rPr>
              <a:t>5 مطوّرين بنينا menuPilot من الخادم لشاشة الزبون</a:t>
            </a:r>
            <a:endParaRPr lang="ar-SA" sz="3600" dirty="0"/>
          </a:p>
        </p:txBody>
      </p:sp>
      <p:sp>
        <p:nvSpPr>
          <p:cNvPr id="4" name="member-1"/>
          <p:cNvSpPr/>
          <p:nvPr/>
        </p:nvSpPr>
        <p:spPr>
          <a:xfrm>
            <a:off x="9607052" y="1783080"/>
            <a:ext cx="2036003" cy="3291840"/>
          </a:xfrm>
          <a:prstGeom prst="roundRect">
            <a:avLst>
              <a:gd name="adj" fmla="val 7186"/>
            </a:avLst>
          </a:prstGeom>
          <a:solidFill>
            <a:schemeClr val="accent1">
              <a:alpha val="10000"/>
            </a:schemeClr>
          </a:solidFill>
          <a:ln w="9525">
            <a:solidFill>
              <a:schemeClr val="accent1"/>
            </a:solidFill>
            <a:prstDash val="solid"/>
          </a:ln>
          <a:effectLst>
            <a:outerShdw sx="100000" sy="100000" kx="0" ky="0" algn="bl" rotWithShape="0" blurRad="101600" dist="25400" dir="5400000">
              <a:srgbClr val="172331">
                <a:alpha val="8000"/>
              </a:srgbClr>
            </a:outerShdw>
          </a:effectLst>
        </p:spPr>
      </p:sp>
      <p:sp>
        <p:nvSpPr>
          <p:cNvPr id="5" name="member-avatar-1"/>
          <p:cNvSpPr/>
          <p:nvPr/>
        </p:nvSpPr>
        <p:spPr>
          <a:xfrm>
            <a:off x="10122134" y="2167128"/>
            <a:ext cx="1005840" cy="1005840"/>
          </a:xfrm>
          <a:prstGeom prst="ellipse">
            <a:avLst/>
          </a:prstGeom>
          <a:solidFill>
            <a:schemeClr val="accent1"/>
          </a:solidFill>
          <a:ln/>
        </p:spPr>
      </p:sp>
      <p:sp>
        <p:nvSpPr>
          <p:cNvPr id="6" name="member-initials-1"/>
          <p:cNvSpPr txBox="1"/>
          <p:nvPr/>
        </p:nvSpPr>
        <p:spPr>
          <a:xfrm>
            <a:off x="10122134" y="2167128"/>
            <a:ext cx="1005840" cy="1005840"/>
          </a:xfrm>
          <a:prstGeom prst="rect">
            <a:avLst/>
          </a:prstGeom>
          <a:noFill/>
          <a:ln/>
        </p:spPr>
        <p:txBody>
          <a:bodyPr wrap="square" lIns="0" tIns="0" rIns="0" bIns="0" rtlCol="0" anchor="ctr"/>
          <a:lstStyle/>
          <a:p>
            <a:pPr rtl="1" algn="ctr" indent="0" marL="0">
              <a:buNone/>
            </a:pPr>
            <a:r>
              <a:rPr lang="ar-SA" altLang="en-US" sz="2200" b="1" dirty="0">
                <a:solidFill>
                  <a:schemeClr val="tx1"/>
                </a:solidFill>
              </a:rPr>
              <a:t>أ ك</a:t>
            </a:r>
            <a:endParaRPr lang="ar-SA" sz="2200" dirty="0"/>
          </a:p>
        </p:txBody>
      </p:sp>
      <p:sp>
        <p:nvSpPr>
          <p:cNvPr id="7" name="member-name-1"/>
          <p:cNvSpPr txBox="1"/>
          <p:nvPr/>
        </p:nvSpPr>
        <p:spPr>
          <a:xfrm>
            <a:off x="9744212" y="3383280"/>
            <a:ext cx="1761683" cy="731520"/>
          </a:xfrm>
          <a:prstGeom prst="rect">
            <a:avLst/>
          </a:prstGeom>
          <a:noFill/>
          <a:ln/>
        </p:spPr>
        <p:txBody>
          <a:bodyPr wrap="square" lIns="0" tIns="0" rIns="0" bIns="0" rtlCol="0" anchor="ctr"/>
          <a:lstStyle/>
          <a:p>
            <a:pPr rtl="1" algn="ctr" indent="0" marL="0">
              <a:buNone/>
            </a:pPr>
            <a:r>
              <a:rPr lang="ar-SA" altLang="en-US" sz="1900" b="1" dirty="0">
                <a:solidFill>
                  <a:schemeClr val="tx1"/>
                </a:solidFill>
              </a:rPr>
              <a:t>أحمد الكحلوت</a:t>
            </a:r>
            <a:endParaRPr lang="ar-SA" sz="1900" dirty="0"/>
          </a:p>
        </p:txBody>
      </p:sp>
      <p:sp>
        <p:nvSpPr>
          <p:cNvPr id="8" name="member-role-1"/>
          <p:cNvSpPr txBox="1"/>
          <p:nvPr/>
        </p:nvSpPr>
        <p:spPr>
          <a:xfrm>
            <a:off x="9744212" y="4160520"/>
            <a:ext cx="1761683" cy="685800"/>
          </a:xfrm>
          <a:prstGeom prst="rect">
            <a:avLst/>
          </a:prstGeom>
          <a:noFill/>
          <a:ln/>
        </p:spPr>
        <p:txBody>
          <a:bodyPr wrap="square" lIns="0" tIns="0" rIns="0" bIns="0" rtlCol="0" anchor="t"/>
          <a:lstStyle/>
          <a:p>
            <a:pPr rtl="1" algn="ctr" indent="0" marL="0">
              <a:buNone/>
            </a:pPr>
            <a:r>
              <a:rPr lang="ar-SA" altLang="en-US" sz="1500" dirty="0">
                <a:solidFill>
                  <a:schemeClr val="accent4"/>
                </a:solidFill>
              </a:rPr>
              <a:t>صاحب المشروع · قائد الفريق</a:t>
            </a:r>
            <a:endParaRPr lang="ar-SA" sz="1500" dirty="0"/>
          </a:p>
        </p:txBody>
      </p:sp>
      <p:sp>
        <p:nvSpPr>
          <p:cNvPr id="9" name="member-2"/>
          <p:cNvSpPr/>
          <p:nvPr/>
        </p:nvSpPr>
        <p:spPr>
          <a:xfrm>
            <a:off x="7342449" y="1783080"/>
            <a:ext cx="2036003" cy="3291840"/>
          </a:xfrm>
          <a:prstGeom prst="roundRect">
            <a:avLst>
              <a:gd name="adj" fmla="val 7186"/>
            </a:avLst>
          </a:prstGeom>
          <a:solidFill>
            <a:schemeClr val="bg1"/>
          </a:solidFill>
          <a:ln w="9525">
            <a:solidFill>
              <a:schemeClr val="accent6"/>
            </a:solidFill>
            <a:prstDash val="solid"/>
          </a:ln>
          <a:effectLst>
            <a:outerShdw sx="100000" sy="100000" kx="0" ky="0" algn="bl" rotWithShape="0" blurRad="101600" dist="25400" dir="5400000">
              <a:srgbClr val="172331">
                <a:alpha val="8000"/>
              </a:srgbClr>
            </a:outerShdw>
          </a:effectLst>
        </p:spPr>
      </p:sp>
      <p:sp>
        <p:nvSpPr>
          <p:cNvPr id="10" name="member-avatar-2"/>
          <p:cNvSpPr/>
          <p:nvPr/>
        </p:nvSpPr>
        <p:spPr>
          <a:xfrm>
            <a:off x="7857531" y="2167128"/>
            <a:ext cx="1005840" cy="1005840"/>
          </a:xfrm>
          <a:prstGeom prst="ellipse">
            <a:avLst/>
          </a:prstGeom>
          <a:solidFill>
            <a:schemeClr val="tx2"/>
          </a:solidFill>
          <a:ln/>
        </p:spPr>
      </p:sp>
      <p:sp>
        <p:nvSpPr>
          <p:cNvPr id="11" name="member-initials-2"/>
          <p:cNvSpPr txBox="1"/>
          <p:nvPr/>
        </p:nvSpPr>
        <p:spPr>
          <a:xfrm>
            <a:off x="7857531" y="2167128"/>
            <a:ext cx="1005840" cy="1005840"/>
          </a:xfrm>
          <a:prstGeom prst="rect">
            <a:avLst/>
          </a:prstGeom>
          <a:noFill/>
          <a:ln/>
        </p:spPr>
        <p:txBody>
          <a:bodyPr wrap="square" lIns="0" tIns="0" rIns="0" bIns="0" rtlCol="0" anchor="ctr"/>
          <a:lstStyle/>
          <a:p>
            <a:pPr rtl="1" algn="ctr" indent="0" marL="0">
              <a:buNone/>
            </a:pPr>
            <a:r>
              <a:rPr lang="ar-SA" altLang="en-US" sz="2200" b="1" dirty="0">
                <a:solidFill>
                  <a:schemeClr val="bg2"/>
                </a:solidFill>
              </a:rPr>
              <a:t>ع ع</a:t>
            </a:r>
            <a:endParaRPr lang="ar-SA" sz="2200" dirty="0"/>
          </a:p>
        </p:txBody>
      </p:sp>
      <p:sp>
        <p:nvSpPr>
          <p:cNvPr id="12" name="member-name-2"/>
          <p:cNvSpPr txBox="1"/>
          <p:nvPr/>
        </p:nvSpPr>
        <p:spPr>
          <a:xfrm>
            <a:off x="7479609" y="3383280"/>
            <a:ext cx="1761683" cy="731520"/>
          </a:xfrm>
          <a:prstGeom prst="rect">
            <a:avLst/>
          </a:prstGeom>
          <a:noFill/>
          <a:ln/>
        </p:spPr>
        <p:txBody>
          <a:bodyPr wrap="square" lIns="0" tIns="0" rIns="0" bIns="0" rtlCol="0" anchor="ctr"/>
          <a:lstStyle/>
          <a:p>
            <a:pPr rtl="1" algn="ctr" indent="0" marL="0">
              <a:buNone/>
            </a:pPr>
            <a:r>
              <a:rPr lang="ar-SA" altLang="en-US" sz="1900" b="1" dirty="0">
                <a:solidFill>
                  <a:schemeClr val="tx1"/>
                </a:solidFill>
              </a:rPr>
              <a:t>علي عابد</a:t>
            </a:r>
            <a:endParaRPr lang="ar-SA" sz="1900" dirty="0"/>
          </a:p>
        </p:txBody>
      </p:sp>
      <p:sp>
        <p:nvSpPr>
          <p:cNvPr id="13" name="member-role-2"/>
          <p:cNvSpPr txBox="1"/>
          <p:nvPr/>
        </p:nvSpPr>
        <p:spPr>
          <a:xfrm>
            <a:off x="7479609" y="4160520"/>
            <a:ext cx="1761683" cy="685800"/>
          </a:xfrm>
          <a:prstGeom prst="rect">
            <a:avLst/>
          </a:prstGeom>
          <a:noFill/>
          <a:ln/>
        </p:spPr>
        <p:txBody>
          <a:bodyPr wrap="square" lIns="0" tIns="0" rIns="0" bIns="0" rtlCol="0" anchor="t"/>
          <a:lstStyle/>
          <a:p>
            <a:pPr rtl="1" algn="ctr" indent="0" marL="0">
              <a:buNone/>
            </a:pPr>
            <a:r>
              <a:rPr lang="ar-SA" altLang="en-US" sz="1500" dirty="0">
                <a:solidFill>
                  <a:schemeClr val="accent4"/>
                </a:solidFill>
              </a:rPr>
              <a:t>مطوّر الخادم (Laravel)</a:t>
            </a:r>
            <a:endParaRPr lang="ar-SA" sz="1500" dirty="0"/>
          </a:p>
        </p:txBody>
      </p:sp>
      <p:sp>
        <p:nvSpPr>
          <p:cNvPr id="14" name="member-3"/>
          <p:cNvSpPr/>
          <p:nvPr/>
        </p:nvSpPr>
        <p:spPr>
          <a:xfrm>
            <a:off x="5077846" y="1783080"/>
            <a:ext cx="2036003" cy="3291840"/>
          </a:xfrm>
          <a:prstGeom prst="roundRect">
            <a:avLst>
              <a:gd name="adj" fmla="val 7186"/>
            </a:avLst>
          </a:prstGeom>
          <a:solidFill>
            <a:schemeClr val="bg1"/>
          </a:solidFill>
          <a:ln w="9525">
            <a:solidFill>
              <a:schemeClr val="accent6"/>
            </a:solidFill>
            <a:prstDash val="solid"/>
          </a:ln>
          <a:effectLst>
            <a:outerShdw sx="100000" sy="100000" kx="0" ky="0" algn="bl" rotWithShape="0" blurRad="101600" dist="25400" dir="5400000">
              <a:srgbClr val="172331">
                <a:alpha val="8000"/>
              </a:srgbClr>
            </a:outerShdw>
          </a:effectLst>
        </p:spPr>
      </p:sp>
      <p:sp>
        <p:nvSpPr>
          <p:cNvPr id="15" name="member-avatar-3"/>
          <p:cNvSpPr/>
          <p:nvPr/>
        </p:nvSpPr>
        <p:spPr>
          <a:xfrm>
            <a:off x="5592928" y="2167128"/>
            <a:ext cx="1005840" cy="1005840"/>
          </a:xfrm>
          <a:prstGeom prst="ellipse">
            <a:avLst/>
          </a:prstGeom>
          <a:solidFill>
            <a:schemeClr val="tx2"/>
          </a:solidFill>
          <a:ln/>
        </p:spPr>
      </p:sp>
      <p:sp>
        <p:nvSpPr>
          <p:cNvPr id="16" name="member-initials-3"/>
          <p:cNvSpPr txBox="1"/>
          <p:nvPr/>
        </p:nvSpPr>
        <p:spPr>
          <a:xfrm>
            <a:off x="5592928" y="2167128"/>
            <a:ext cx="1005840" cy="1005840"/>
          </a:xfrm>
          <a:prstGeom prst="rect">
            <a:avLst/>
          </a:prstGeom>
          <a:noFill/>
          <a:ln/>
        </p:spPr>
        <p:txBody>
          <a:bodyPr wrap="square" lIns="0" tIns="0" rIns="0" bIns="0" rtlCol="0" anchor="ctr"/>
          <a:lstStyle/>
          <a:p>
            <a:pPr rtl="1" algn="ctr" indent="0" marL="0">
              <a:buNone/>
            </a:pPr>
            <a:r>
              <a:rPr lang="ar-SA" altLang="en-US" sz="2200" b="1" dirty="0">
                <a:solidFill>
                  <a:schemeClr val="bg2"/>
                </a:solidFill>
              </a:rPr>
              <a:t>ع ع</a:t>
            </a:r>
            <a:endParaRPr lang="ar-SA" sz="2200" dirty="0"/>
          </a:p>
        </p:txBody>
      </p:sp>
      <p:sp>
        <p:nvSpPr>
          <p:cNvPr id="17" name="member-name-3"/>
          <p:cNvSpPr txBox="1"/>
          <p:nvPr/>
        </p:nvSpPr>
        <p:spPr>
          <a:xfrm>
            <a:off x="5215006" y="3383280"/>
            <a:ext cx="1761683" cy="731520"/>
          </a:xfrm>
          <a:prstGeom prst="rect">
            <a:avLst/>
          </a:prstGeom>
          <a:noFill/>
          <a:ln/>
        </p:spPr>
        <p:txBody>
          <a:bodyPr wrap="square" lIns="0" tIns="0" rIns="0" bIns="0" rtlCol="0" anchor="ctr"/>
          <a:lstStyle/>
          <a:p>
            <a:pPr rtl="1" algn="ctr" indent="0" marL="0">
              <a:buNone/>
            </a:pPr>
            <a:r>
              <a:rPr lang="ar-SA" altLang="en-US" sz="1900" b="1" dirty="0">
                <a:solidFill>
                  <a:schemeClr val="tx1"/>
                </a:solidFill>
              </a:rPr>
              <a:t>عمار يحيى عمر العرعير</a:t>
            </a:r>
            <a:endParaRPr lang="ar-SA" sz="1900" dirty="0"/>
          </a:p>
        </p:txBody>
      </p:sp>
      <p:sp>
        <p:nvSpPr>
          <p:cNvPr id="18" name="member-role-3"/>
          <p:cNvSpPr txBox="1"/>
          <p:nvPr/>
        </p:nvSpPr>
        <p:spPr>
          <a:xfrm>
            <a:off x="5215006" y="4160520"/>
            <a:ext cx="1761683" cy="685800"/>
          </a:xfrm>
          <a:prstGeom prst="rect">
            <a:avLst/>
          </a:prstGeom>
          <a:noFill/>
          <a:ln/>
        </p:spPr>
        <p:txBody>
          <a:bodyPr wrap="square" lIns="0" tIns="0" rIns="0" bIns="0" rtlCol="0" anchor="t"/>
          <a:lstStyle/>
          <a:p>
            <a:pPr rtl="1" algn="ctr" indent="0" marL="0">
              <a:buNone/>
            </a:pPr>
            <a:r>
              <a:rPr lang="ar-SA" altLang="en-US" sz="1500" dirty="0">
                <a:solidFill>
                  <a:schemeClr val="accent4"/>
                </a:solidFill>
              </a:rPr>
              <a:t>شريك · مطوّر الخادم (Laravel)</a:t>
            </a:r>
            <a:endParaRPr lang="ar-SA" sz="1500" dirty="0"/>
          </a:p>
        </p:txBody>
      </p:sp>
      <p:sp>
        <p:nvSpPr>
          <p:cNvPr id="19" name="member-4"/>
          <p:cNvSpPr/>
          <p:nvPr/>
        </p:nvSpPr>
        <p:spPr>
          <a:xfrm>
            <a:off x="2813243" y="1783080"/>
            <a:ext cx="2036003" cy="3291840"/>
          </a:xfrm>
          <a:prstGeom prst="roundRect">
            <a:avLst>
              <a:gd name="adj" fmla="val 7186"/>
            </a:avLst>
          </a:prstGeom>
          <a:solidFill>
            <a:schemeClr val="bg1"/>
          </a:solidFill>
          <a:ln w="9525">
            <a:solidFill>
              <a:schemeClr val="accent6"/>
            </a:solidFill>
            <a:prstDash val="solid"/>
          </a:ln>
          <a:effectLst>
            <a:outerShdw sx="100000" sy="100000" kx="0" ky="0" algn="bl" rotWithShape="0" blurRad="101600" dist="25400" dir="5400000">
              <a:srgbClr val="172331">
                <a:alpha val="8000"/>
              </a:srgbClr>
            </a:outerShdw>
          </a:effectLst>
        </p:spPr>
      </p:sp>
      <p:sp>
        <p:nvSpPr>
          <p:cNvPr id="20" name="member-avatar-4"/>
          <p:cNvSpPr/>
          <p:nvPr/>
        </p:nvSpPr>
        <p:spPr>
          <a:xfrm>
            <a:off x="3328325" y="2167128"/>
            <a:ext cx="1005840" cy="1005840"/>
          </a:xfrm>
          <a:prstGeom prst="ellipse">
            <a:avLst/>
          </a:prstGeom>
          <a:solidFill>
            <a:schemeClr val="tx2"/>
          </a:solidFill>
          <a:ln/>
        </p:spPr>
      </p:sp>
      <p:sp>
        <p:nvSpPr>
          <p:cNvPr id="21" name="member-initials-4"/>
          <p:cNvSpPr txBox="1"/>
          <p:nvPr/>
        </p:nvSpPr>
        <p:spPr>
          <a:xfrm>
            <a:off x="3328325" y="2167128"/>
            <a:ext cx="1005840" cy="1005840"/>
          </a:xfrm>
          <a:prstGeom prst="rect">
            <a:avLst/>
          </a:prstGeom>
          <a:noFill/>
          <a:ln/>
        </p:spPr>
        <p:txBody>
          <a:bodyPr wrap="square" lIns="0" tIns="0" rIns="0" bIns="0" rtlCol="0" anchor="ctr"/>
          <a:lstStyle/>
          <a:p>
            <a:pPr rtl="1" algn="ctr" indent="0" marL="0">
              <a:buNone/>
            </a:pPr>
            <a:r>
              <a:rPr lang="ar-SA" altLang="en-US" sz="2200" b="1" dirty="0">
                <a:solidFill>
                  <a:schemeClr val="bg2"/>
                </a:solidFill>
              </a:rPr>
              <a:t>س س</a:t>
            </a:r>
            <a:endParaRPr lang="ar-SA" sz="2200" dirty="0"/>
          </a:p>
        </p:txBody>
      </p:sp>
      <p:sp>
        <p:nvSpPr>
          <p:cNvPr id="22" name="member-name-4"/>
          <p:cNvSpPr txBox="1"/>
          <p:nvPr/>
        </p:nvSpPr>
        <p:spPr>
          <a:xfrm>
            <a:off x="2950403" y="3383280"/>
            <a:ext cx="1761683" cy="731520"/>
          </a:xfrm>
          <a:prstGeom prst="rect">
            <a:avLst/>
          </a:prstGeom>
          <a:noFill/>
          <a:ln/>
        </p:spPr>
        <p:txBody>
          <a:bodyPr wrap="square" lIns="0" tIns="0" rIns="0" bIns="0" rtlCol="0" anchor="ctr"/>
          <a:lstStyle/>
          <a:p>
            <a:pPr rtl="1" algn="ctr" indent="0" marL="0">
              <a:buNone/>
            </a:pPr>
            <a:r>
              <a:rPr lang="ar-SA" altLang="en-US" sz="1900" b="1" dirty="0">
                <a:solidFill>
                  <a:schemeClr val="tx1"/>
                </a:solidFill>
              </a:rPr>
              <a:t>سجى سقالله</a:t>
            </a:r>
            <a:endParaRPr lang="ar-SA" sz="1900" dirty="0"/>
          </a:p>
        </p:txBody>
      </p:sp>
      <p:sp>
        <p:nvSpPr>
          <p:cNvPr id="23" name="member-role-4"/>
          <p:cNvSpPr txBox="1"/>
          <p:nvPr/>
        </p:nvSpPr>
        <p:spPr>
          <a:xfrm>
            <a:off x="2950403" y="4160520"/>
            <a:ext cx="1761683" cy="685800"/>
          </a:xfrm>
          <a:prstGeom prst="rect">
            <a:avLst/>
          </a:prstGeom>
          <a:noFill/>
          <a:ln/>
        </p:spPr>
        <p:txBody>
          <a:bodyPr wrap="square" lIns="0" tIns="0" rIns="0" bIns="0" rtlCol="0" anchor="t"/>
          <a:lstStyle/>
          <a:p>
            <a:pPr rtl="1" algn="ctr" indent="0" marL="0">
              <a:buNone/>
            </a:pPr>
            <a:r>
              <a:rPr lang="ar-SA" altLang="en-US" sz="1500" dirty="0">
                <a:solidFill>
                  <a:schemeClr val="accent4"/>
                </a:solidFill>
              </a:rPr>
              <a:t>مطوّرة الواجهات (React)</a:t>
            </a:r>
            <a:endParaRPr lang="ar-SA" sz="1500" dirty="0"/>
          </a:p>
        </p:txBody>
      </p:sp>
      <p:sp>
        <p:nvSpPr>
          <p:cNvPr id="24" name="member-5"/>
          <p:cNvSpPr/>
          <p:nvPr/>
        </p:nvSpPr>
        <p:spPr>
          <a:xfrm>
            <a:off x="548640" y="1783080"/>
            <a:ext cx="2036003" cy="3291840"/>
          </a:xfrm>
          <a:prstGeom prst="roundRect">
            <a:avLst>
              <a:gd name="adj" fmla="val 7186"/>
            </a:avLst>
          </a:prstGeom>
          <a:solidFill>
            <a:schemeClr val="bg1"/>
          </a:solidFill>
          <a:ln w="9525">
            <a:solidFill>
              <a:schemeClr val="accent6"/>
            </a:solidFill>
            <a:prstDash val="solid"/>
          </a:ln>
          <a:effectLst>
            <a:outerShdw sx="100000" sy="100000" kx="0" ky="0" algn="bl" rotWithShape="0" blurRad="101600" dist="25400" dir="5400000">
              <a:srgbClr val="172331">
                <a:alpha val="8000"/>
              </a:srgbClr>
            </a:outerShdw>
          </a:effectLst>
        </p:spPr>
      </p:sp>
      <p:sp>
        <p:nvSpPr>
          <p:cNvPr id="25" name="member-avatar-5"/>
          <p:cNvSpPr/>
          <p:nvPr/>
        </p:nvSpPr>
        <p:spPr>
          <a:xfrm>
            <a:off x="1063722" y="2167128"/>
            <a:ext cx="1005840" cy="1005840"/>
          </a:xfrm>
          <a:prstGeom prst="ellipse">
            <a:avLst/>
          </a:prstGeom>
          <a:solidFill>
            <a:schemeClr val="tx2"/>
          </a:solidFill>
          <a:ln/>
        </p:spPr>
      </p:sp>
      <p:sp>
        <p:nvSpPr>
          <p:cNvPr id="26" name="member-initials-5"/>
          <p:cNvSpPr txBox="1"/>
          <p:nvPr/>
        </p:nvSpPr>
        <p:spPr>
          <a:xfrm>
            <a:off x="1063722" y="2167128"/>
            <a:ext cx="1005840" cy="1005840"/>
          </a:xfrm>
          <a:prstGeom prst="rect">
            <a:avLst/>
          </a:prstGeom>
          <a:noFill/>
          <a:ln/>
        </p:spPr>
        <p:txBody>
          <a:bodyPr wrap="square" lIns="0" tIns="0" rIns="0" bIns="0" rtlCol="0" anchor="ctr"/>
          <a:lstStyle/>
          <a:p>
            <a:pPr rtl="1" algn="ctr" indent="0" marL="0">
              <a:buNone/>
            </a:pPr>
            <a:r>
              <a:rPr lang="ar-SA" altLang="en-US" sz="2200" b="1" dirty="0">
                <a:solidFill>
                  <a:schemeClr val="bg2"/>
                </a:solidFill>
              </a:rPr>
              <a:t>ر ر</a:t>
            </a:r>
            <a:endParaRPr lang="ar-SA" sz="2200" dirty="0"/>
          </a:p>
        </p:txBody>
      </p:sp>
      <p:sp>
        <p:nvSpPr>
          <p:cNvPr id="27" name="member-name-5"/>
          <p:cNvSpPr txBox="1"/>
          <p:nvPr/>
        </p:nvSpPr>
        <p:spPr>
          <a:xfrm>
            <a:off x="685800" y="3383280"/>
            <a:ext cx="1761683" cy="731520"/>
          </a:xfrm>
          <a:prstGeom prst="rect">
            <a:avLst/>
          </a:prstGeom>
          <a:noFill/>
          <a:ln/>
        </p:spPr>
        <p:txBody>
          <a:bodyPr wrap="square" lIns="0" tIns="0" rIns="0" bIns="0" rtlCol="0" anchor="ctr"/>
          <a:lstStyle/>
          <a:p>
            <a:pPr rtl="1" algn="ctr" indent="0" marL="0">
              <a:buNone/>
            </a:pPr>
            <a:r>
              <a:rPr lang="ar-SA" altLang="en-US" sz="1900" b="1" dirty="0">
                <a:solidFill>
                  <a:schemeClr val="tx1"/>
                </a:solidFill>
              </a:rPr>
              <a:t>رنين ريان</a:t>
            </a:r>
            <a:endParaRPr lang="ar-SA" sz="1900" dirty="0"/>
          </a:p>
        </p:txBody>
      </p:sp>
      <p:sp>
        <p:nvSpPr>
          <p:cNvPr id="28" name="member-role-5"/>
          <p:cNvSpPr txBox="1"/>
          <p:nvPr/>
        </p:nvSpPr>
        <p:spPr>
          <a:xfrm>
            <a:off x="685800" y="4160520"/>
            <a:ext cx="1761683" cy="685800"/>
          </a:xfrm>
          <a:prstGeom prst="rect">
            <a:avLst/>
          </a:prstGeom>
          <a:noFill/>
          <a:ln/>
        </p:spPr>
        <p:txBody>
          <a:bodyPr wrap="square" lIns="0" tIns="0" rIns="0" bIns="0" rtlCol="0" anchor="t"/>
          <a:lstStyle/>
          <a:p>
            <a:pPr rtl="1" algn="ctr" indent="0" marL="0">
              <a:buNone/>
            </a:pPr>
            <a:r>
              <a:rPr lang="ar-SA" altLang="en-US" sz="1500" dirty="0">
                <a:solidFill>
                  <a:schemeClr val="accent4"/>
                </a:solidFill>
              </a:rPr>
              <a:t>مطوّرة الواجهات (React)</a:t>
            </a:r>
            <a:endParaRPr lang="ar-SA" sz="1500" dirty="0"/>
          </a:p>
        </p:txBody>
      </p:sp>
      <p:sp>
        <p:nvSpPr>
          <p:cNvPr id="29" name="bridge"/>
          <p:cNvSpPr/>
          <p:nvPr/>
        </p:nvSpPr>
        <p:spPr>
          <a:xfrm>
            <a:off x="548640" y="5504688"/>
            <a:ext cx="11094415" cy="566928"/>
          </a:xfrm>
          <a:prstGeom prst="roundRect">
            <a:avLst>
              <a:gd name="adj" fmla="val 25806"/>
            </a:avLst>
          </a:prstGeom>
          <a:solidFill>
            <a:schemeClr val="accent1">
              <a:alpha val="13000"/>
            </a:schemeClr>
          </a:solidFill>
          <a:ln/>
        </p:spPr>
      </p:sp>
      <p:pic>
        <p:nvPicPr>
          <p:cNvPr id="30" name="bridge-arrow" descr="preencoded.png">    </p:cNvPr>
          <p:cNvPicPr>
            <a:picLocks noChangeAspect="1"/>
          </p:cNvPicPr>
          <p:nvPr/>
        </p:nvPicPr>
        <p:blipFill>
          <a:blip r:embed="rId1"/>
          <a:stretch>
            <a:fillRect/>
          </a:stretch>
        </p:blipFill>
        <p:spPr>
          <a:xfrm>
            <a:off x="841248" y="5650992"/>
            <a:ext cx="274320" cy="274320"/>
          </a:xfrm>
          <a:prstGeom prst="rect">
            <a:avLst/>
          </a:prstGeom>
        </p:spPr>
      </p:pic>
      <p:sp>
        <p:nvSpPr>
          <p:cNvPr id="31" name="bridge-text"/>
          <p:cNvSpPr txBox="1"/>
          <p:nvPr/>
        </p:nvSpPr>
        <p:spPr>
          <a:xfrm>
            <a:off x="1371600" y="5504688"/>
            <a:ext cx="9997135" cy="566928"/>
          </a:xfrm>
          <a:prstGeom prst="rect">
            <a:avLst/>
          </a:prstGeom>
          <a:noFill/>
          <a:ln/>
        </p:spPr>
        <p:txBody>
          <a:bodyPr wrap="square" lIns="0" tIns="0" rIns="0" bIns="0" rtlCol="0" anchor="ctr"/>
          <a:lstStyle/>
          <a:p>
            <a:pPr rtl="1" algn="r" indent="0" marL="0">
              <a:buNone/>
            </a:pPr>
            <a:r>
              <a:rPr lang="ar-SA" altLang="en-US" sz="1900" b="1" dirty="0">
                <a:solidFill>
                  <a:schemeClr val="tx2"/>
                </a:solidFill>
              </a:rPr>
              <a:t>كل سطر في النظام كتبناه بإيدينا — وكل واحد فينا جاهز يجاوب عن جزئه</a:t>
            </a:r>
            <a:endParaRPr lang="ar-SA" sz="1900" dirty="0"/>
          </a:p>
        </p:txBody>
      </p:sp>
      <p:sp>
        <p:nvSpPr>
          <p:cNvPr id="25" name="Slide Number Placeholder 0"/>
          <p:cNvSpPr>
            <a:spLocks noGrp="1"/>
          </p:cNvSpPr>
          <p:nvPr>
            <p:ph type="sldNum" sz="quarter" idx="4294967295"/>
          </p:nvPr>
        </p:nvSpPr>
        <p:spPr>
          <a:xfrm>
            <a:off x="11183112" y="6391656"/>
            <a:ext cx="457200" cy="237744"/>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4"/>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body" hasCustomPrompt="1"/>
          </p:nvPr>
        </p:nvSpPr>
        <p:spPr>
          <a:xfrm>
            <a:off x="5486400" y="1737360"/>
            <a:ext cx="6156655" cy="411480"/>
          </a:xfrm>
          <a:prstGeom prst="rect">
            <a:avLst/>
          </a:prstGeom>
          <a:noFill/>
          <a:ln/>
        </p:spPr>
        <p:txBody>
          <a:bodyPr wrap="square" lIns="0" tIns="0" rIns="0" bIns="0" rtlCol="0" anchor="ctr"/>
          <a:lstStyle/>
          <a:p>
            <a:pPr rtl="1" algn="r" indent="0" marL="0">
              <a:buNone/>
            </a:pPr>
            <a:r>
              <a:rPr lang="ar-SA" altLang="en-US" sz="2000" b="1" dirty="0">
                <a:solidFill>
                  <a:schemeClr val="accent1"/>
                </a:solidFill>
              </a:rPr>
              <a:t>شكرًا لكم</a:t>
            </a:r>
            <a:endParaRPr lang="ar-SA" sz="2000" dirty="0"/>
          </a:p>
        </p:txBody>
      </p:sp>
      <p:sp>
        <p:nvSpPr>
          <p:cNvPr id="3" name="Text 0"/>
          <p:cNvSpPr/>
          <p:nvPr>
            <p:ph idx="101" type="title" hasCustomPrompt="1"/>
          </p:nvPr>
        </p:nvSpPr>
        <p:spPr>
          <a:xfrm>
            <a:off x="5486400" y="2240280"/>
            <a:ext cx="6156655" cy="2194560"/>
          </a:xfrm>
          <a:prstGeom prst="rect">
            <a:avLst/>
          </a:prstGeom>
          <a:noFill/>
          <a:ln/>
        </p:spPr>
        <p:txBody>
          <a:bodyPr wrap="square" lIns="0" tIns="0" rIns="0" bIns="0" rtlCol="0" anchor="t"/>
          <a:lstStyle/>
          <a:p>
            <a:pPr rtl="1" algn="r" indent="0" marL="0">
              <a:buNone/>
            </a:pPr>
            <a:r>
              <a:rPr lang="ar-SA" altLang="en-US" sz="4600" dirty="0">
                <a:solidFill>
                  <a:schemeClr val="bg2"/>
                </a:solidFill>
              </a:rPr>
              <a:t>المرة الجاية اللي بترفع فيها إيدك في مطعم… ما رح تضطر تستنى</a:t>
            </a:r>
            <a:endParaRPr lang="ar-SA" sz="4600" dirty="0"/>
          </a:p>
        </p:txBody>
      </p:sp>
      <p:sp>
        <p:nvSpPr>
          <p:cNvPr id="4" name="Text 0"/>
          <p:cNvSpPr/>
          <p:nvPr>
            <p:ph idx="102" type="body" hasCustomPrompt="1"/>
          </p:nvPr>
        </p:nvSpPr>
        <p:spPr>
          <a:xfrm>
            <a:off x="5486400" y="4572000"/>
            <a:ext cx="6156655" cy="822960"/>
          </a:xfrm>
          <a:prstGeom prst="rect">
            <a:avLst/>
          </a:prstGeom>
          <a:noFill/>
          <a:ln/>
        </p:spPr>
        <p:txBody>
          <a:bodyPr wrap="square" lIns="0" tIns="0" rIns="0" bIns="0" rtlCol="0" anchor="t"/>
          <a:lstStyle/>
          <a:p>
            <a:pPr rtl="1" algn="r" indent="0" marL="0">
              <a:buNone/>
            </a:pPr>
            <a:r>
              <a:rPr lang="ar-SA" altLang="en-US" sz="2000" dirty="0">
                <a:solidFill>
                  <a:schemeClr val="bg2">
                    <a:alpha val="75000"/>
                  </a:schemeClr>
                </a:solidFill>
              </a:rPr>
              <a:t>فريق menuPilot · جاهزين لأسئلتكم</a:t>
            </a:r>
            <a:endParaRPr lang="ar-SA" sz="2000" dirty="0"/>
          </a:p>
        </p:txBody>
      </p:sp>
      <p:pic>
        <p:nvPicPr>
          <p:cNvPr id="5" name="mark" descr="علامة menuPilot">    </p:cNvPr>
          <p:cNvPicPr>
            <a:picLocks noChangeAspect="1"/>
          </p:cNvPicPr>
          <p:nvPr/>
        </p:nvPicPr>
        <p:blipFill>
          <a:blip r:embed="rId1"/>
          <a:stretch>
            <a:fillRect/>
          </a:stretch>
        </p:blipFill>
        <p:spPr>
          <a:xfrm>
            <a:off x="1051560" y="1463040"/>
            <a:ext cx="3657600" cy="3657600"/>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body" hasCustomPrompt="1"/>
          </p:nvPr>
        </p:nvSpPr>
        <p:spPr>
          <a:xfrm>
            <a:off x="5486400" y="1737360"/>
            <a:ext cx="6156655" cy="411480"/>
          </a:xfrm>
          <a:prstGeom prst="rect">
            <a:avLst/>
          </a:prstGeom>
          <a:noFill/>
          <a:ln/>
        </p:spPr>
        <p:txBody>
          <a:bodyPr wrap="square" lIns="0" tIns="0" rIns="0" bIns="0" rtlCol="0" anchor="ctr"/>
          <a:lstStyle/>
          <a:p>
            <a:pPr rtl="1" algn="r" indent="0" marL="0">
              <a:buNone/>
            </a:pPr>
            <a:r>
              <a:rPr lang="ar-SA" altLang="en-US" sz="2000" b="1" dirty="0">
                <a:solidFill>
                  <a:schemeClr val="accent1"/>
                </a:solidFill>
              </a:rPr>
              <a:t>ملحق</a:t>
            </a:r>
            <a:endParaRPr lang="ar-SA" sz="2000" dirty="0"/>
          </a:p>
        </p:txBody>
      </p:sp>
      <p:sp>
        <p:nvSpPr>
          <p:cNvPr id="3" name="Text 0"/>
          <p:cNvSpPr/>
          <p:nvPr>
            <p:ph idx="101" type="title" hasCustomPrompt="1"/>
          </p:nvPr>
        </p:nvSpPr>
        <p:spPr>
          <a:xfrm>
            <a:off x="5486400" y="2240280"/>
            <a:ext cx="6156655" cy="2194560"/>
          </a:xfrm>
          <a:prstGeom prst="rect">
            <a:avLst/>
          </a:prstGeom>
          <a:noFill/>
          <a:ln/>
        </p:spPr>
        <p:txBody>
          <a:bodyPr wrap="square" lIns="0" tIns="0" rIns="0" bIns="0" rtlCol="0" anchor="t"/>
          <a:lstStyle/>
          <a:p>
            <a:pPr rtl="1" algn="r" indent="0" marL="0">
              <a:buNone/>
            </a:pPr>
            <a:r>
              <a:rPr lang="ar-SA" altLang="en-US" sz="4600" dirty="0">
                <a:solidFill>
                  <a:schemeClr val="bg2"/>
                </a:solidFill>
              </a:rPr>
              <a:t>شرائح احتياطية</a:t>
            </a:r>
            <a:endParaRPr lang="ar-SA" sz="4600" dirty="0"/>
          </a:p>
        </p:txBody>
      </p:sp>
      <p:sp>
        <p:nvSpPr>
          <p:cNvPr id="4" name="divider-note"/>
          <p:cNvSpPr txBox="1"/>
          <p:nvPr/>
        </p:nvSpPr>
        <p:spPr>
          <a:xfrm>
            <a:off x="5486400" y="3154680"/>
            <a:ext cx="6156655" cy="457200"/>
          </a:xfrm>
          <a:prstGeom prst="rect">
            <a:avLst/>
          </a:prstGeom>
          <a:noFill/>
          <a:ln/>
        </p:spPr>
        <p:txBody>
          <a:bodyPr wrap="square" lIns="0" tIns="0" rIns="0" bIns="0" rtlCol="0" anchor="t"/>
          <a:lstStyle/>
          <a:p>
            <a:pPr rtl="1" algn="r" indent="0" marL="0">
              <a:buNone/>
            </a:pPr>
            <a:r>
              <a:rPr lang="ar-SA" altLang="en-US" sz="2000" dirty="0">
                <a:solidFill>
                  <a:schemeClr val="bg2">
                    <a:alpha val="75000"/>
                  </a:schemeClr>
                </a:solidFill>
              </a:rPr>
              <a:t>للأسئلة فقط — مش جزء من الخمس دقائق</a:t>
            </a:r>
            <a:endParaRPr lang="ar-SA" sz="2000" dirty="0"/>
          </a:p>
        </p:txBody>
      </p:sp>
      <p:sp>
        <p:nvSpPr>
          <p:cNvPr id="5" name="tile-message-circle-question-mark"/>
          <p:cNvSpPr/>
          <p:nvPr/>
        </p:nvSpPr>
        <p:spPr>
          <a:xfrm>
            <a:off x="1920240" y="1600200"/>
            <a:ext cx="2103120" cy="2103120"/>
          </a:xfrm>
          <a:prstGeom prst="roundRect">
            <a:avLst>
              <a:gd name="adj" fmla="val 26000"/>
            </a:avLst>
          </a:prstGeom>
          <a:solidFill>
            <a:schemeClr val="bg2">
              <a:alpha val="14000"/>
            </a:schemeClr>
          </a:solidFill>
          <a:ln/>
        </p:spPr>
      </p:sp>
      <p:pic>
        <p:nvPicPr>
          <p:cNvPr id="6" name="icon-message-circle-question-mark" descr="preencoded.png">    </p:cNvPr>
          <p:cNvPicPr>
            <a:picLocks noChangeAspect="1"/>
          </p:cNvPicPr>
          <p:nvPr/>
        </p:nvPicPr>
        <p:blipFill>
          <a:blip r:embed="rId1"/>
          <a:stretch>
            <a:fillRect/>
          </a:stretch>
        </p:blipFill>
        <p:spPr>
          <a:xfrm>
            <a:off x="2424989" y="2104949"/>
            <a:ext cx="1093622" cy="1093622"/>
          </a:xfrm>
          <a:prstGeom prst="rect">
            <a:avLst/>
          </a:prstGeom>
        </p:spPr>
      </p:pic>
      <p:sp>
        <p:nvSpPr>
          <p:cNvPr id="8" name="Text 0"/>
          <p:cNvSpPr/>
          <p:nvPr>
            <p:ph idx="102" type="body" hasCustomPrompt="1"/>
          </p:nvPr>
        </p:nvSpPr>
        <p:spPr>
          <a:xfrm>
            <a:off x="5486400" y="4572000"/>
            <a:ext cx="6156655" cy="822960"/>
          </a:xfrm>
          <a:prstGeom prst="rect">
            <a:avLst/>
          </a:prstGeom>
          <a:noFill/>
          <a:ln/>
        </p:spPr>
        <p:txBody>
          <a:bodyPr wrap="square" lIns="0" tIns="0" rIns="0" bIns="0" rtlCol="0" anchor="t"/>
          <a:lstStyle/>
          <a:p>
            <a:pPr algn="r" indent="0" marL="0">
              <a:buNone/>
            </a:pPr>
            <a:endParaRPr lang="en-US" sz="2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1" type="body" hasCustomPrompt="1"/>
          </p:nvPr>
        </p:nvSpPr>
        <p:spPr>
          <a:xfrm>
            <a:off x="548640" y="384048"/>
            <a:ext cx="11094415" cy="347472"/>
          </a:xfrm>
          <a:prstGeom prst="rect">
            <a:avLst/>
          </a:prstGeom>
          <a:noFill/>
          <a:ln/>
        </p:spPr>
        <p:txBody>
          <a:bodyPr wrap="square" lIns="0" tIns="0" rIns="0" bIns="0" rtlCol="0" anchor="ctr"/>
          <a:lstStyle/>
          <a:p>
            <a:pPr rtl="1" algn="r" indent="0" marL="0">
              <a:buNone/>
            </a:pPr>
            <a:r>
              <a:rPr lang="ar-SA" altLang="en-US" sz="1600" b="1" dirty="0">
                <a:solidFill>
                  <a:schemeClr val="accent3"/>
                </a:solidFill>
              </a:rPr>
              <a:t>احتياطي · التقنية</a:t>
            </a:r>
            <a:endParaRPr lang="ar-SA" sz="1600" dirty="0"/>
          </a:p>
        </p:txBody>
      </p:sp>
      <p:sp>
        <p:nvSpPr>
          <p:cNvPr id="3" name="Text 0"/>
          <p:cNvSpPr/>
          <p:nvPr>
            <p:ph idx="102" type="title" hasCustomPrompt="1"/>
          </p:nvPr>
        </p:nvSpPr>
        <p:spPr>
          <a:xfrm>
            <a:off x="548640" y="749808"/>
            <a:ext cx="11094415" cy="749808"/>
          </a:xfrm>
          <a:prstGeom prst="rect">
            <a:avLst/>
          </a:prstGeom>
          <a:noFill/>
          <a:ln/>
        </p:spPr>
        <p:txBody>
          <a:bodyPr wrap="square" lIns="0" tIns="0" rIns="0" bIns="0" rtlCol="0" anchor="t"/>
          <a:lstStyle/>
          <a:p>
            <a:pPr rtl="1" algn="r" indent="0" marL="0">
              <a:buNone/>
            </a:pPr>
            <a:r>
              <a:rPr lang="ar-SA" altLang="en-US" sz="3600" dirty="0">
                <a:solidFill>
                  <a:schemeClr val="tx1"/>
                </a:solidFill>
              </a:rPr>
              <a:t>بنية بسيطة: واجهة، خادم، وقاعدة بيانات</a:t>
            </a:r>
            <a:endParaRPr lang="ar-SA" sz="3600" dirty="0"/>
          </a:p>
        </p:txBody>
      </p:sp>
      <p:sp>
        <p:nvSpPr>
          <p:cNvPr id="4" name="arch-1"/>
          <p:cNvSpPr/>
          <p:nvPr/>
        </p:nvSpPr>
        <p:spPr>
          <a:xfrm>
            <a:off x="8371637" y="1783080"/>
            <a:ext cx="3271418" cy="3063240"/>
          </a:xfrm>
          <a:prstGeom prst="roundRect">
            <a:avLst>
              <a:gd name="adj" fmla="val 4776"/>
            </a:avLst>
          </a:prstGeom>
          <a:solidFill>
            <a:schemeClr val="bg1"/>
          </a:solidFill>
          <a:ln w="9525">
            <a:solidFill>
              <a:schemeClr val="accent6"/>
            </a:solidFill>
            <a:prstDash val="solid"/>
          </a:ln>
          <a:effectLst>
            <a:outerShdw sx="100000" sy="100000" kx="0" ky="0" algn="bl" rotWithShape="0" blurRad="101600" dist="25400" dir="5400000">
              <a:srgbClr val="172331">
                <a:alpha val="8000"/>
              </a:srgbClr>
            </a:outerShdw>
          </a:effectLst>
        </p:spPr>
      </p:sp>
      <p:sp>
        <p:nvSpPr>
          <p:cNvPr id="5" name="tile-monitor-smartphone"/>
          <p:cNvSpPr/>
          <p:nvPr/>
        </p:nvSpPr>
        <p:spPr>
          <a:xfrm>
            <a:off x="10820095" y="2057400"/>
            <a:ext cx="548640" cy="548640"/>
          </a:xfrm>
          <a:prstGeom prst="roundRect">
            <a:avLst>
              <a:gd name="adj" fmla="val 26000"/>
            </a:avLst>
          </a:prstGeom>
          <a:solidFill>
            <a:schemeClr val="tx1">
              <a:alpha val="7000"/>
            </a:schemeClr>
          </a:solidFill>
          <a:ln/>
        </p:spPr>
      </p:sp>
      <p:pic>
        <p:nvPicPr>
          <p:cNvPr id="6" name="icon-monitor-smartphone" descr="preencoded.png">    </p:cNvPr>
          <p:cNvPicPr>
            <a:picLocks noChangeAspect="1"/>
          </p:cNvPicPr>
          <p:nvPr/>
        </p:nvPicPr>
        <p:blipFill>
          <a:blip r:embed="rId1"/>
          <a:stretch>
            <a:fillRect/>
          </a:stretch>
        </p:blipFill>
        <p:spPr>
          <a:xfrm>
            <a:off x="10951769" y="2189074"/>
            <a:ext cx="285293" cy="285293"/>
          </a:xfrm>
          <a:prstGeom prst="rect">
            <a:avLst/>
          </a:prstGeom>
        </p:spPr>
      </p:pic>
      <p:sp>
        <p:nvSpPr>
          <p:cNvPr id="7" name="arch-head-1"/>
          <p:cNvSpPr txBox="1"/>
          <p:nvPr/>
        </p:nvSpPr>
        <p:spPr>
          <a:xfrm>
            <a:off x="8645957" y="2715768"/>
            <a:ext cx="2722778" cy="411480"/>
          </a:xfrm>
          <a:prstGeom prst="rect">
            <a:avLst/>
          </a:prstGeom>
          <a:noFill/>
          <a:ln/>
        </p:spPr>
        <p:txBody>
          <a:bodyPr wrap="square" lIns="0" tIns="0" rIns="0" bIns="0" rtlCol="0" anchor="t"/>
          <a:lstStyle/>
          <a:p>
            <a:pPr rtl="1" algn="r" indent="0" marL="0">
              <a:buNone/>
            </a:pPr>
            <a:r>
              <a:rPr lang="ar-SA" altLang="en-US" sz="1900" b="1" dirty="0">
                <a:solidFill>
                  <a:schemeClr val="tx1"/>
                </a:solidFill>
              </a:rPr>
              <a:t>الواجهات — React PWA</a:t>
            </a:r>
            <a:endParaRPr lang="ar-SA" sz="1900" dirty="0"/>
          </a:p>
        </p:txBody>
      </p:sp>
      <p:sp>
        <p:nvSpPr>
          <p:cNvPr id="8" name="arch-lines-1"/>
          <p:cNvSpPr txBox="1"/>
          <p:nvPr/>
        </p:nvSpPr>
        <p:spPr>
          <a:xfrm>
            <a:off x="8645957" y="3246120"/>
            <a:ext cx="2722778" cy="1463040"/>
          </a:xfrm>
          <a:prstGeom prst="rect">
            <a:avLst/>
          </a:prstGeom>
          <a:noFill/>
          <a:ln/>
        </p:spPr>
        <p:txBody>
          <a:bodyPr wrap="square" lIns="0" tIns="0" rIns="0" bIns="0" rtlCol="0" anchor="t"/>
          <a:lstStyle/>
          <a:p>
            <a:pPr rtl="1" algn="r" marL="177800" indent="-177800">
              <a:spcAft>
                <a:spcPts val="600"/>
              </a:spcAft>
              <a:buSzPct val="100000"/>
              <a:buChar char="•"/>
            </a:pPr>
            <a:r>
              <a:rPr lang="ar-SA" altLang="en-US" sz="1500" dirty="0">
                <a:solidFill>
                  <a:schemeClr val="tx2"/>
                </a:solidFill>
              </a:rPr>
              <a:t>5 شاشات لـ5 أدوار</a:t>
            </a:r>
            <a:endParaRPr lang="ar-SA" sz="1500" dirty="0"/>
          </a:p>
          <a:p>
            <a:pPr rtl="1" algn="r" marL="177800" indent="-177800">
              <a:spcAft>
                <a:spcPts val="600"/>
              </a:spcAft>
              <a:buSzPct val="100000"/>
              <a:buChar char="•"/>
            </a:pPr>
            <a:r>
              <a:rPr lang="ar-SA" altLang="en-US" sz="1500" dirty="0">
                <a:solidFill>
                  <a:schemeClr val="tx2"/>
                </a:solidFill>
              </a:rPr>
              <a:t>على أي جوال أو لابتوب، بلا تثبيت</a:t>
            </a:r>
            <a:endParaRPr lang="ar-SA" sz="1500" dirty="0"/>
          </a:p>
          <a:p>
            <a:pPr rtl="1" algn="r" marL="177800" indent="-177800">
              <a:spcAft>
                <a:spcPts val="600"/>
              </a:spcAft>
              <a:buSzPct val="100000"/>
              <a:buChar char="•"/>
            </a:pPr>
            <a:r>
              <a:rPr lang="ar-SA" altLang="en-US" sz="1500" dirty="0">
                <a:solidFill>
                  <a:schemeClr val="tx2"/>
                </a:solidFill>
              </a:rPr>
              <a:t>طابور محلي يحفظ التغييرات وقت الانقطاع</a:t>
            </a:r>
            <a:endParaRPr lang="ar-SA" sz="1500" dirty="0"/>
          </a:p>
        </p:txBody>
      </p:sp>
      <p:pic>
        <p:nvPicPr>
          <p:cNvPr id="9" name="arch-link-1" descr="preencoded.png">    </p:cNvPr>
          <p:cNvPicPr>
            <a:picLocks noChangeAspect="1"/>
          </p:cNvPicPr>
          <p:nvPr/>
        </p:nvPicPr>
        <p:blipFill>
          <a:blip r:embed="rId2"/>
          <a:stretch>
            <a:fillRect/>
          </a:stretch>
        </p:blipFill>
        <p:spPr>
          <a:xfrm>
            <a:off x="7887005" y="3154680"/>
            <a:ext cx="329184" cy="329184"/>
          </a:xfrm>
          <a:prstGeom prst="rect">
            <a:avLst/>
          </a:prstGeom>
        </p:spPr>
      </p:pic>
      <p:sp>
        <p:nvSpPr>
          <p:cNvPr id="10" name="arch-2"/>
          <p:cNvSpPr/>
          <p:nvPr/>
        </p:nvSpPr>
        <p:spPr>
          <a:xfrm>
            <a:off x="4460138" y="1783080"/>
            <a:ext cx="3271418" cy="3063240"/>
          </a:xfrm>
          <a:prstGeom prst="roundRect">
            <a:avLst>
              <a:gd name="adj" fmla="val 4776"/>
            </a:avLst>
          </a:prstGeom>
          <a:solidFill>
            <a:schemeClr val="bg1"/>
          </a:solidFill>
          <a:ln w="9525">
            <a:solidFill>
              <a:schemeClr val="accent6"/>
            </a:solidFill>
            <a:prstDash val="solid"/>
          </a:ln>
          <a:effectLst>
            <a:outerShdw sx="100000" sy="100000" kx="0" ky="0" algn="bl" rotWithShape="0" blurRad="101600" dist="25400" dir="5400000">
              <a:srgbClr val="172331">
                <a:alpha val="8000"/>
              </a:srgbClr>
            </a:outerShdw>
          </a:effectLst>
        </p:spPr>
      </p:sp>
      <p:sp>
        <p:nvSpPr>
          <p:cNvPr id="11" name="tile-server"/>
          <p:cNvSpPr/>
          <p:nvPr/>
        </p:nvSpPr>
        <p:spPr>
          <a:xfrm>
            <a:off x="6908597" y="2057400"/>
            <a:ext cx="548640" cy="548640"/>
          </a:xfrm>
          <a:prstGeom prst="roundRect">
            <a:avLst>
              <a:gd name="adj" fmla="val 26000"/>
            </a:avLst>
          </a:prstGeom>
          <a:solidFill>
            <a:schemeClr val="tx1">
              <a:alpha val="7000"/>
            </a:schemeClr>
          </a:solidFill>
          <a:ln/>
        </p:spPr>
      </p:sp>
      <p:pic>
        <p:nvPicPr>
          <p:cNvPr id="12" name="icon-server" descr="preencoded.png">    </p:cNvPr>
          <p:cNvPicPr>
            <a:picLocks noChangeAspect="1"/>
          </p:cNvPicPr>
          <p:nvPr/>
        </p:nvPicPr>
        <p:blipFill>
          <a:blip r:embed="rId3"/>
          <a:stretch>
            <a:fillRect/>
          </a:stretch>
        </p:blipFill>
        <p:spPr>
          <a:xfrm>
            <a:off x="7040270" y="2189074"/>
            <a:ext cx="285293" cy="285293"/>
          </a:xfrm>
          <a:prstGeom prst="rect">
            <a:avLst/>
          </a:prstGeom>
        </p:spPr>
      </p:pic>
      <p:sp>
        <p:nvSpPr>
          <p:cNvPr id="13" name="arch-head-2"/>
          <p:cNvSpPr txBox="1"/>
          <p:nvPr/>
        </p:nvSpPr>
        <p:spPr>
          <a:xfrm>
            <a:off x="4734458" y="2715768"/>
            <a:ext cx="2722778" cy="411480"/>
          </a:xfrm>
          <a:prstGeom prst="rect">
            <a:avLst/>
          </a:prstGeom>
          <a:noFill/>
          <a:ln/>
        </p:spPr>
        <p:txBody>
          <a:bodyPr wrap="square" lIns="0" tIns="0" rIns="0" bIns="0" rtlCol="0" anchor="t"/>
          <a:lstStyle/>
          <a:p>
            <a:pPr rtl="1" algn="r" indent="0" marL="0">
              <a:buNone/>
            </a:pPr>
            <a:r>
              <a:rPr lang="ar-SA" altLang="en-US" sz="1900" b="1" dirty="0">
                <a:solidFill>
                  <a:schemeClr val="tx1"/>
                </a:solidFill>
              </a:rPr>
              <a:t>الخادم — Laravel API</a:t>
            </a:r>
            <a:endParaRPr lang="ar-SA" sz="1900" dirty="0"/>
          </a:p>
        </p:txBody>
      </p:sp>
      <p:sp>
        <p:nvSpPr>
          <p:cNvPr id="14" name="arch-lines-2"/>
          <p:cNvSpPr txBox="1"/>
          <p:nvPr/>
        </p:nvSpPr>
        <p:spPr>
          <a:xfrm>
            <a:off x="4734458" y="3246120"/>
            <a:ext cx="2722778" cy="1463040"/>
          </a:xfrm>
          <a:prstGeom prst="rect">
            <a:avLst/>
          </a:prstGeom>
          <a:noFill/>
          <a:ln/>
        </p:spPr>
        <p:txBody>
          <a:bodyPr wrap="square" lIns="0" tIns="0" rIns="0" bIns="0" rtlCol="0" anchor="t"/>
          <a:lstStyle/>
          <a:p>
            <a:pPr rtl="1" algn="r" marL="177800" indent="-177800">
              <a:spcAft>
                <a:spcPts val="600"/>
              </a:spcAft>
              <a:buSzPct val="100000"/>
              <a:buChar char="•"/>
            </a:pPr>
            <a:r>
              <a:rPr lang="ar-SA" altLang="en-US" sz="1500" dirty="0">
                <a:solidFill>
                  <a:schemeClr val="tx2"/>
                </a:solidFill>
              </a:rPr>
              <a:t>أكثر من 110 نقطة API</a:t>
            </a:r>
            <a:endParaRPr lang="ar-SA" sz="1500" dirty="0"/>
          </a:p>
          <a:p>
            <a:pPr rtl="1" algn="r" marL="177800" indent="-177800">
              <a:spcAft>
                <a:spcPts val="600"/>
              </a:spcAft>
              <a:buSzPct val="100000"/>
              <a:buChar char="•"/>
            </a:pPr>
            <a:r>
              <a:rPr lang="ar-SA" altLang="en-US" sz="1500" dirty="0">
                <a:solidFill>
                  <a:schemeClr val="tx2"/>
                </a:solidFill>
              </a:rPr>
              <a:t>الصلاحيات والاشتراكات في الخادم فقط</a:t>
            </a:r>
            <a:endParaRPr lang="ar-SA" sz="1500" dirty="0"/>
          </a:p>
          <a:p>
            <a:pPr rtl="1" algn="r" marL="177800" indent="-177800">
              <a:spcAft>
                <a:spcPts val="600"/>
              </a:spcAft>
              <a:buSzPct val="100000"/>
              <a:buChar char="•"/>
            </a:pPr>
            <a:r>
              <a:rPr lang="ar-SA" altLang="en-US" sz="1500" dirty="0">
                <a:solidFill>
                  <a:schemeClr val="tx2"/>
                </a:solidFill>
              </a:rPr>
              <a:t>إشارات لحظية عبر Laravel Reverb</a:t>
            </a:r>
            <a:endParaRPr lang="ar-SA" sz="1500" dirty="0"/>
          </a:p>
        </p:txBody>
      </p:sp>
      <p:pic>
        <p:nvPicPr>
          <p:cNvPr id="15" name="arch-link-2" descr="preencoded.png">    </p:cNvPr>
          <p:cNvPicPr>
            <a:picLocks noChangeAspect="1"/>
          </p:cNvPicPr>
          <p:nvPr/>
        </p:nvPicPr>
        <p:blipFill>
          <a:blip r:embed="rId4"/>
          <a:stretch>
            <a:fillRect/>
          </a:stretch>
        </p:blipFill>
        <p:spPr>
          <a:xfrm>
            <a:off x="3975506" y="3154680"/>
            <a:ext cx="329184" cy="329184"/>
          </a:xfrm>
          <a:prstGeom prst="rect">
            <a:avLst/>
          </a:prstGeom>
        </p:spPr>
      </p:pic>
      <p:sp>
        <p:nvSpPr>
          <p:cNvPr id="16" name="arch-3"/>
          <p:cNvSpPr/>
          <p:nvPr/>
        </p:nvSpPr>
        <p:spPr>
          <a:xfrm>
            <a:off x="548640" y="1783080"/>
            <a:ext cx="3271418" cy="3063240"/>
          </a:xfrm>
          <a:prstGeom prst="roundRect">
            <a:avLst>
              <a:gd name="adj" fmla="val 4776"/>
            </a:avLst>
          </a:prstGeom>
          <a:solidFill>
            <a:schemeClr val="bg1"/>
          </a:solidFill>
          <a:ln w="9525">
            <a:solidFill>
              <a:schemeClr val="accent6"/>
            </a:solidFill>
            <a:prstDash val="solid"/>
          </a:ln>
          <a:effectLst>
            <a:outerShdw sx="100000" sy="100000" kx="0" ky="0" algn="bl" rotWithShape="0" blurRad="101600" dist="25400" dir="5400000">
              <a:srgbClr val="172331">
                <a:alpha val="8000"/>
              </a:srgbClr>
            </a:outerShdw>
          </a:effectLst>
        </p:spPr>
      </p:sp>
      <p:sp>
        <p:nvSpPr>
          <p:cNvPr id="17" name="tile-database"/>
          <p:cNvSpPr/>
          <p:nvPr/>
        </p:nvSpPr>
        <p:spPr>
          <a:xfrm>
            <a:off x="2997098" y="2057400"/>
            <a:ext cx="548640" cy="548640"/>
          </a:xfrm>
          <a:prstGeom prst="roundRect">
            <a:avLst>
              <a:gd name="adj" fmla="val 26000"/>
            </a:avLst>
          </a:prstGeom>
          <a:solidFill>
            <a:schemeClr val="tx1">
              <a:alpha val="7000"/>
            </a:schemeClr>
          </a:solidFill>
          <a:ln/>
        </p:spPr>
      </p:sp>
      <p:pic>
        <p:nvPicPr>
          <p:cNvPr id="18" name="icon-database" descr="preencoded.png">    </p:cNvPr>
          <p:cNvPicPr>
            <a:picLocks noChangeAspect="1"/>
          </p:cNvPicPr>
          <p:nvPr/>
        </p:nvPicPr>
        <p:blipFill>
          <a:blip r:embed="rId5"/>
          <a:stretch>
            <a:fillRect/>
          </a:stretch>
        </p:blipFill>
        <p:spPr>
          <a:xfrm>
            <a:off x="3128772" y="2189074"/>
            <a:ext cx="285293" cy="285293"/>
          </a:xfrm>
          <a:prstGeom prst="rect">
            <a:avLst/>
          </a:prstGeom>
        </p:spPr>
      </p:pic>
      <p:sp>
        <p:nvSpPr>
          <p:cNvPr id="19" name="arch-head-3"/>
          <p:cNvSpPr txBox="1"/>
          <p:nvPr/>
        </p:nvSpPr>
        <p:spPr>
          <a:xfrm>
            <a:off x="822960" y="2715768"/>
            <a:ext cx="2722778" cy="411480"/>
          </a:xfrm>
          <a:prstGeom prst="rect">
            <a:avLst/>
          </a:prstGeom>
          <a:noFill/>
          <a:ln/>
        </p:spPr>
        <p:txBody>
          <a:bodyPr wrap="square" lIns="0" tIns="0" rIns="0" bIns="0" rtlCol="0" anchor="t"/>
          <a:lstStyle/>
          <a:p>
            <a:pPr rtl="1" algn="r" indent="0" marL="0">
              <a:buNone/>
            </a:pPr>
            <a:r>
              <a:rPr lang="ar-SA" altLang="en-US" sz="1900" b="1" dirty="0">
                <a:solidFill>
                  <a:schemeClr val="tx1"/>
                </a:solidFill>
              </a:rPr>
              <a:t>قاعدة البيانات — MySQL</a:t>
            </a:r>
            <a:endParaRPr lang="ar-SA" sz="1900" dirty="0"/>
          </a:p>
        </p:txBody>
      </p:sp>
      <p:sp>
        <p:nvSpPr>
          <p:cNvPr id="20" name="arch-lines-3"/>
          <p:cNvSpPr txBox="1"/>
          <p:nvPr/>
        </p:nvSpPr>
        <p:spPr>
          <a:xfrm>
            <a:off x="822960" y="3246120"/>
            <a:ext cx="2722778" cy="1463040"/>
          </a:xfrm>
          <a:prstGeom prst="rect">
            <a:avLst/>
          </a:prstGeom>
          <a:noFill/>
          <a:ln/>
        </p:spPr>
        <p:txBody>
          <a:bodyPr wrap="square" lIns="0" tIns="0" rIns="0" bIns="0" rtlCol="0" anchor="t"/>
          <a:lstStyle/>
          <a:p>
            <a:pPr rtl="1" algn="r" marL="177800" indent="-177800">
              <a:spcAft>
                <a:spcPts val="600"/>
              </a:spcAft>
              <a:buSzPct val="100000"/>
              <a:buChar char="•"/>
            </a:pPr>
            <a:r>
              <a:rPr lang="ar-SA" altLang="en-US" sz="1500" dirty="0">
                <a:solidFill>
                  <a:schemeClr val="tx2"/>
                </a:solidFill>
              </a:rPr>
              <a:t>بيانات كل مطعم معزولة عن غيره</a:t>
            </a:r>
            <a:endParaRPr lang="ar-SA" sz="1500" dirty="0"/>
          </a:p>
          <a:p>
            <a:pPr rtl="1" algn="r" marL="177800" indent="-177800">
              <a:spcAft>
                <a:spcPts val="600"/>
              </a:spcAft>
              <a:buSzPct val="100000"/>
              <a:buChar char="•"/>
            </a:pPr>
            <a:r>
              <a:rPr lang="ar-SA" altLang="en-US" sz="1500" dirty="0">
                <a:solidFill>
                  <a:schemeClr val="tx2"/>
                </a:solidFill>
              </a:rPr>
              <a:t>الصور في القاعدة، فلا تضيع عند النشر</a:t>
            </a:r>
            <a:endParaRPr lang="ar-SA" sz="1500" dirty="0"/>
          </a:p>
          <a:p>
            <a:pPr rtl="1" algn="r" marL="177800" indent="-177800">
              <a:spcAft>
                <a:spcPts val="600"/>
              </a:spcAft>
              <a:buSzPct val="100000"/>
              <a:buChar char="•"/>
            </a:pPr>
            <a:r>
              <a:rPr lang="ar-SA" altLang="en-US" sz="1500" dirty="0">
                <a:solidFill>
                  <a:schemeClr val="tx2"/>
                </a:solidFill>
              </a:rPr>
              <a:t>كل تغيير مهم في سجل تدقيق</a:t>
            </a:r>
            <a:endParaRPr lang="ar-SA" sz="1500" dirty="0"/>
          </a:p>
        </p:txBody>
      </p:sp>
      <p:sp>
        <p:nvSpPr>
          <p:cNvPr id="21" name="arch-ops"/>
          <p:cNvSpPr/>
          <p:nvPr/>
        </p:nvSpPr>
        <p:spPr>
          <a:xfrm>
            <a:off x="548640" y="5120640"/>
            <a:ext cx="11094415" cy="685800"/>
          </a:xfrm>
          <a:prstGeom prst="roundRect">
            <a:avLst>
              <a:gd name="adj" fmla="val 18667"/>
            </a:avLst>
          </a:prstGeom>
          <a:solidFill>
            <a:schemeClr val="bg1"/>
          </a:solidFill>
          <a:ln w="9525">
            <a:solidFill>
              <a:schemeClr val="accent6"/>
            </a:solidFill>
            <a:prstDash val="solid"/>
          </a:ln>
        </p:spPr>
      </p:sp>
      <p:sp>
        <p:nvSpPr>
          <p:cNvPr id="22" name="arch-ops-text"/>
          <p:cNvSpPr txBox="1"/>
          <p:nvPr/>
        </p:nvSpPr>
        <p:spPr>
          <a:xfrm>
            <a:off x="868680" y="5120640"/>
            <a:ext cx="10454335" cy="685800"/>
          </a:xfrm>
          <a:prstGeom prst="rect">
            <a:avLst/>
          </a:prstGeom>
          <a:noFill/>
          <a:ln/>
        </p:spPr>
        <p:txBody>
          <a:bodyPr wrap="square" lIns="0" tIns="0" rIns="0" bIns="0" rtlCol="0" anchor="ctr"/>
          <a:lstStyle/>
          <a:p>
            <a:pPr rtl="1" algn="r" indent="0" marL="0">
              <a:buNone/>
            </a:pPr>
            <a:r>
              <a:rPr lang="ar-SA" altLang="en-US" sz="1600" dirty="0">
                <a:solidFill>
                  <a:schemeClr val="tx2"/>
                </a:solidFill>
              </a:rPr>
              <a:t>النشر: Vercel للواجهة وRender للخادم · أكثر من 170 اختبارًا آليًا · فحص إنتاج من 30 نقطة بعد كل نشر (GO / NO-GO)</a:t>
            </a:r>
            <a:endParaRPr lang="ar-SA" sz="1600" dirty="0"/>
          </a:p>
        </p:txBody>
      </p:sp>
      <p:sp>
        <p:nvSpPr>
          <p:cNvPr id="25" name="Slide Number Placeholder 0"/>
          <p:cNvSpPr>
            <a:spLocks noGrp="1"/>
          </p:cNvSpPr>
          <p:nvPr>
            <p:ph type="sldNum" sz="quarter" idx="4294967295"/>
          </p:nvPr>
        </p:nvSpPr>
        <p:spPr>
          <a:xfrm>
            <a:off x="11183112" y="6391656"/>
            <a:ext cx="457200" cy="237744"/>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4"/>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1" type="body" hasCustomPrompt="1"/>
          </p:nvPr>
        </p:nvSpPr>
        <p:spPr>
          <a:xfrm>
            <a:off x="548640" y="384048"/>
            <a:ext cx="11094415" cy="347472"/>
          </a:xfrm>
          <a:prstGeom prst="rect">
            <a:avLst/>
          </a:prstGeom>
          <a:noFill/>
          <a:ln/>
        </p:spPr>
        <p:txBody>
          <a:bodyPr wrap="square" lIns="0" tIns="0" rIns="0" bIns="0" rtlCol="0" anchor="ctr"/>
          <a:lstStyle/>
          <a:p>
            <a:pPr rtl="1" algn="r" indent="0" marL="0">
              <a:buNone/>
            </a:pPr>
            <a:r>
              <a:rPr lang="ar-SA" altLang="en-US" sz="1600" b="1" dirty="0">
                <a:solidFill>
                  <a:schemeClr val="accent3"/>
                </a:solidFill>
              </a:rPr>
              <a:t>احتياطي · بدون إنترنت</a:t>
            </a:r>
            <a:endParaRPr lang="ar-SA" sz="1600" dirty="0"/>
          </a:p>
        </p:txBody>
      </p:sp>
      <p:sp>
        <p:nvSpPr>
          <p:cNvPr id="3" name="Text 0"/>
          <p:cNvSpPr/>
          <p:nvPr>
            <p:ph idx="102" type="title" hasCustomPrompt="1"/>
          </p:nvPr>
        </p:nvSpPr>
        <p:spPr>
          <a:xfrm>
            <a:off x="548640" y="749808"/>
            <a:ext cx="11094415" cy="749808"/>
          </a:xfrm>
          <a:prstGeom prst="rect">
            <a:avLst/>
          </a:prstGeom>
          <a:noFill/>
          <a:ln/>
        </p:spPr>
        <p:txBody>
          <a:bodyPr wrap="square" lIns="0" tIns="0" rIns="0" bIns="0" rtlCol="0" anchor="t"/>
          <a:lstStyle/>
          <a:p>
            <a:pPr rtl="1" algn="r" indent="0" marL="0">
              <a:buNone/>
            </a:pPr>
            <a:r>
              <a:rPr lang="ar-SA" altLang="en-US" sz="3600" dirty="0">
                <a:solidFill>
                  <a:schemeClr val="tx1"/>
                </a:solidFill>
              </a:rPr>
              <a:t>انقطاع النت ما بيوقف المطبخ ولا الكاشير</a:t>
            </a:r>
            <a:endParaRPr lang="ar-SA" sz="3600" dirty="0"/>
          </a:p>
        </p:txBody>
      </p:sp>
      <p:sp>
        <p:nvSpPr>
          <p:cNvPr id="4" name="offline-1"/>
          <p:cNvSpPr/>
          <p:nvPr/>
        </p:nvSpPr>
        <p:spPr>
          <a:xfrm>
            <a:off x="6255868" y="1783080"/>
            <a:ext cx="5387188" cy="3200400"/>
          </a:xfrm>
          <a:prstGeom prst="roundRect">
            <a:avLst>
              <a:gd name="adj" fmla="val 4571"/>
            </a:avLst>
          </a:prstGeom>
          <a:solidFill>
            <a:schemeClr val="bg1"/>
          </a:solidFill>
          <a:ln w="9525">
            <a:solidFill>
              <a:schemeClr val="accent6"/>
            </a:solidFill>
            <a:prstDash val="solid"/>
          </a:ln>
          <a:effectLst>
            <a:outerShdw sx="100000" sy="100000" kx="0" ky="0" algn="bl" rotWithShape="0" blurRad="101600" dist="25400" dir="5400000">
              <a:srgbClr val="172331">
                <a:alpha val="8000"/>
              </a:srgbClr>
            </a:outerShdw>
          </a:effectLst>
        </p:spPr>
      </p:sp>
      <p:sp>
        <p:nvSpPr>
          <p:cNvPr id="5" name="tile-circle-check"/>
          <p:cNvSpPr/>
          <p:nvPr/>
        </p:nvSpPr>
        <p:spPr>
          <a:xfrm>
            <a:off x="10801807" y="2057400"/>
            <a:ext cx="548640" cy="548640"/>
          </a:xfrm>
          <a:prstGeom prst="roundRect">
            <a:avLst>
              <a:gd name="adj" fmla="val 26000"/>
            </a:avLst>
          </a:prstGeom>
          <a:solidFill>
            <a:schemeClr val="accent2">
              <a:alpha val="12000"/>
            </a:schemeClr>
          </a:solidFill>
          <a:ln/>
        </p:spPr>
      </p:sp>
      <p:pic>
        <p:nvPicPr>
          <p:cNvPr id="6" name="icon-circle-check" descr="preencoded.png">    </p:cNvPr>
          <p:cNvPicPr>
            <a:picLocks noChangeAspect="1"/>
          </p:cNvPicPr>
          <p:nvPr/>
        </p:nvPicPr>
        <p:blipFill>
          <a:blip r:embed="rId1"/>
          <a:stretch>
            <a:fillRect/>
          </a:stretch>
        </p:blipFill>
        <p:spPr>
          <a:xfrm>
            <a:off x="10933481" y="2189074"/>
            <a:ext cx="285293" cy="285293"/>
          </a:xfrm>
          <a:prstGeom prst="rect">
            <a:avLst/>
          </a:prstGeom>
        </p:spPr>
      </p:pic>
      <p:sp>
        <p:nvSpPr>
          <p:cNvPr id="7" name="offline-head-1"/>
          <p:cNvSpPr txBox="1"/>
          <p:nvPr/>
        </p:nvSpPr>
        <p:spPr>
          <a:xfrm>
            <a:off x="6548476" y="2057400"/>
            <a:ext cx="4198468" cy="548640"/>
          </a:xfrm>
          <a:prstGeom prst="rect">
            <a:avLst/>
          </a:prstGeom>
          <a:noFill/>
          <a:ln/>
        </p:spPr>
        <p:txBody>
          <a:bodyPr wrap="square" lIns="0" tIns="0" rIns="0" bIns="0" rtlCol="0" anchor="ctr"/>
          <a:lstStyle/>
          <a:p>
            <a:pPr rtl="1" algn="r" indent="0" marL="0">
              <a:buNone/>
            </a:pPr>
            <a:r>
              <a:rPr lang="ar-SA" altLang="en-US" sz="2100" b="1" dirty="0">
                <a:solidFill>
                  <a:schemeClr val="tx1"/>
                </a:solidFill>
              </a:rPr>
              <a:t>يكمل بدون إنترنت</a:t>
            </a:r>
            <a:endParaRPr lang="ar-SA" sz="2100" dirty="0"/>
          </a:p>
        </p:txBody>
      </p:sp>
      <p:pic>
        <p:nvPicPr>
          <p:cNvPr id="8" name="offline-mark-1-1" descr="preencoded.png">    </p:cNvPr>
          <p:cNvPicPr>
            <a:picLocks noChangeAspect="1"/>
          </p:cNvPicPr>
          <p:nvPr/>
        </p:nvPicPr>
        <p:blipFill>
          <a:blip r:embed="rId2"/>
          <a:stretch>
            <a:fillRect/>
          </a:stretch>
        </p:blipFill>
        <p:spPr>
          <a:xfrm>
            <a:off x="11076127" y="2926080"/>
            <a:ext cx="274320" cy="274320"/>
          </a:xfrm>
          <a:prstGeom prst="rect">
            <a:avLst/>
          </a:prstGeom>
        </p:spPr>
      </p:pic>
      <p:sp>
        <p:nvSpPr>
          <p:cNvPr id="9" name="offline-item-1-1"/>
          <p:cNvSpPr txBox="1"/>
          <p:nvPr/>
        </p:nvSpPr>
        <p:spPr>
          <a:xfrm>
            <a:off x="6548476" y="2834640"/>
            <a:ext cx="4381348" cy="457200"/>
          </a:xfrm>
          <a:prstGeom prst="rect">
            <a:avLst/>
          </a:prstGeom>
          <a:noFill/>
          <a:ln/>
        </p:spPr>
        <p:txBody>
          <a:bodyPr wrap="square" lIns="0" tIns="0" rIns="0" bIns="0" rtlCol="0" anchor="ctr"/>
          <a:lstStyle/>
          <a:p>
            <a:pPr rtl="1" algn="r" indent="0" marL="0">
              <a:buNone/>
            </a:pPr>
            <a:r>
              <a:rPr lang="ar-SA" altLang="en-US" sz="1700" dirty="0">
                <a:solidFill>
                  <a:schemeClr val="tx2"/>
                </a:solidFill>
              </a:rPr>
              <a:t>التطبيق وكل الشاشات تفتح عادي</a:t>
            </a:r>
            <a:endParaRPr lang="ar-SA" sz="1700" dirty="0"/>
          </a:p>
        </p:txBody>
      </p:sp>
      <p:pic>
        <p:nvPicPr>
          <p:cNvPr id="10" name="offline-mark-1-2" descr="preencoded.png">    </p:cNvPr>
          <p:cNvPicPr>
            <a:picLocks noChangeAspect="1"/>
          </p:cNvPicPr>
          <p:nvPr/>
        </p:nvPicPr>
        <p:blipFill>
          <a:blip r:embed="rId3"/>
          <a:stretch>
            <a:fillRect/>
          </a:stretch>
        </p:blipFill>
        <p:spPr>
          <a:xfrm>
            <a:off x="11076127" y="3438144"/>
            <a:ext cx="274320" cy="274320"/>
          </a:xfrm>
          <a:prstGeom prst="rect">
            <a:avLst/>
          </a:prstGeom>
        </p:spPr>
      </p:pic>
      <p:sp>
        <p:nvSpPr>
          <p:cNvPr id="11" name="offline-item-1-2"/>
          <p:cNvSpPr txBox="1"/>
          <p:nvPr/>
        </p:nvSpPr>
        <p:spPr>
          <a:xfrm>
            <a:off x="6548476" y="3346704"/>
            <a:ext cx="4381348" cy="457200"/>
          </a:xfrm>
          <a:prstGeom prst="rect">
            <a:avLst/>
          </a:prstGeom>
          <a:noFill/>
          <a:ln/>
        </p:spPr>
        <p:txBody>
          <a:bodyPr wrap="square" lIns="0" tIns="0" rIns="0" bIns="0" rtlCol="0" anchor="ctr"/>
          <a:lstStyle/>
          <a:p>
            <a:pPr rtl="1" algn="r" indent="0" marL="0">
              <a:buNone/>
            </a:pPr>
            <a:r>
              <a:rPr lang="ar-SA" altLang="en-US" sz="1700" dirty="0">
                <a:solidFill>
                  <a:schemeClr val="tx2"/>
                </a:solidFill>
              </a:rPr>
              <a:t>آخر نسخة من الطلبات والطاولات والفواتير</a:t>
            </a:r>
            <a:endParaRPr lang="ar-SA" sz="1700" dirty="0"/>
          </a:p>
        </p:txBody>
      </p:sp>
      <p:pic>
        <p:nvPicPr>
          <p:cNvPr id="12" name="offline-mark-1-3" descr="preencoded.png">    </p:cNvPr>
          <p:cNvPicPr>
            <a:picLocks noChangeAspect="1"/>
          </p:cNvPicPr>
          <p:nvPr/>
        </p:nvPicPr>
        <p:blipFill>
          <a:blip r:embed="rId4"/>
          <a:stretch>
            <a:fillRect/>
          </a:stretch>
        </p:blipFill>
        <p:spPr>
          <a:xfrm>
            <a:off x="11076127" y="3950208"/>
            <a:ext cx="274320" cy="274320"/>
          </a:xfrm>
          <a:prstGeom prst="rect">
            <a:avLst/>
          </a:prstGeom>
        </p:spPr>
      </p:pic>
      <p:sp>
        <p:nvSpPr>
          <p:cNvPr id="13" name="offline-item-1-3"/>
          <p:cNvSpPr txBox="1"/>
          <p:nvPr/>
        </p:nvSpPr>
        <p:spPr>
          <a:xfrm>
            <a:off x="6548476" y="3858768"/>
            <a:ext cx="4381348" cy="457200"/>
          </a:xfrm>
          <a:prstGeom prst="rect">
            <a:avLst/>
          </a:prstGeom>
          <a:noFill/>
          <a:ln/>
        </p:spPr>
        <p:txBody>
          <a:bodyPr wrap="square" lIns="0" tIns="0" rIns="0" bIns="0" rtlCol="0" anchor="ctr"/>
          <a:lstStyle/>
          <a:p>
            <a:pPr rtl="1" algn="r" indent="0" marL="0">
              <a:buNone/>
            </a:pPr>
            <a:r>
              <a:rPr lang="ar-SA" altLang="en-US" sz="1700" dirty="0">
                <a:solidFill>
                  <a:schemeClr val="tx2"/>
                </a:solidFill>
              </a:rPr>
              <a:t>المطبخ يغيّر حالة الطلب</a:t>
            </a:r>
            <a:endParaRPr lang="ar-SA" sz="1700" dirty="0"/>
          </a:p>
        </p:txBody>
      </p:sp>
      <p:pic>
        <p:nvPicPr>
          <p:cNvPr id="14" name="offline-mark-1-4" descr="preencoded.png">    </p:cNvPr>
          <p:cNvPicPr>
            <a:picLocks noChangeAspect="1"/>
          </p:cNvPicPr>
          <p:nvPr/>
        </p:nvPicPr>
        <p:blipFill>
          <a:blip r:embed="rId5"/>
          <a:stretch>
            <a:fillRect/>
          </a:stretch>
        </p:blipFill>
        <p:spPr>
          <a:xfrm>
            <a:off x="11076127" y="4462272"/>
            <a:ext cx="274320" cy="274320"/>
          </a:xfrm>
          <a:prstGeom prst="rect">
            <a:avLst/>
          </a:prstGeom>
        </p:spPr>
      </p:pic>
      <p:sp>
        <p:nvSpPr>
          <p:cNvPr id="15" name="offline-item-1-4"/>
          <p:cNvSpPr txBox="1"/>
          <p:nvPr/>
        </p:nvSpPr>
        <p:spPr>
          <a:xfrm>
            <a:off x="6548476" y="4370832"/>
            <a:ext cx="4381348" cy="457200"/>
          </a:xfrm>
          <a:prstGeom prst="rect">
            <a:avLst/>
          </a:prstGeom>
          <a:noFill/>
          <a:ln/>
        </p:spPr>
        <p:txBody>
          <a:bodyPr wrap="square" lIns="0" tIns="0" rIns="0" bIns="0" rtlCol="0" anchor="ctr"/>
          <a:lstStyle/>
          <a:p>
            <a:pPr rtl="1" algn="r" indent="0" marL="0">
              <a:buNone/>
            </a:pPr>
            <a:r>
              <a:rPr lang="ar-SA" altLang="en-US" sz="1700" dirty="0">
                <a:solidFill>
                  <a:schemeClr val="tx2"/>
                </a:solidFill>
              </a:rPr>
              <a:t>الكاشير يسجّل دفعة ويغلق جلسة</a:t>
            </a:r>
            <a:endParaRPr lang="ar-SA" sz="1700" dirty="0"/>
          </a:p>
        </p:txBody>
      </p:sp>
      <p:sp>
        <p:nvSpPr>
          <p:cNvPr id="16" name="offline-2"/>
          <p:cNvSpPr/>
          <p:nvPr/>
        </p:nvSpPr>
        <p:spPr>
          <a:xfrm>
            <a:off x="548640" y="1783080"/>
            <a:ext cx="5387188" cy="3200400"/>
          </a:xfrm>
          <a:prstGeom prst="roundRect">
            <a:avLst>
              <a:gd name="adj" fmla="val 4571"/>
            </a:avLst>
          </a:prstGeom>
          <a:solidFill>
            <a:schemeClr val="bg1"/>
          </a:solidFill>
          <a:ln w="9525">
            <a:solidFill>
              <a:schemeClr val="accent6"/>
            </a:solidFill>
            <a:prstDash val="solid"/>
          </a:ln>
          <a:effectLst>
            <a:outerShdw sx="100000" sy="100000" kx="0" ky="0" algn="bl" rotWithShape="0" blurRad="101600" dist="25400" dir="5400000">
              <a:srgbClr val="172331">
                <a:alpha val="8000"/>
              </a:srgbClr>
            </a:outerShdw>
          </a:effectLst>
        </p:spPr>
      </p:sp>
      <p:sp>
        <p:nvSpPr>
          <p:cNvPr id="17" name="tile-hourglass"/>
          <p:cNvSpPr/>
          <p:nvPr/>
        </p:nvSpPr>
        <p:spPr>
          <a:xfrm>
            <a:off x="5094580" y="2057400"/>
            <a:ext cx="548640" cy="548640"/>
          </a:xfrm>
          <a:prstGeom prst="roundRect">
            <a:avLst>
              <a:gd name="adj" fmla="val 26000"/>
            </a:avLst>
          </a:prstGeom>
          <a:solidFill>
            <a:schemeClr val="accent1">
              <a:alpha val="15000"/>
            </a:schemeClr>
          </a:solidFill>
          <a:ln/>
        </p:spPr>
      </p:sp>
      <p:pic>
        <p:nvPicPr>
          <p:cNvPr id="18" name="icon-hourglass" descr="preencoded.png">    </p:cNvPr>
          <p:cNvPicPr>
            <a:picLocks noChangeAspect="1"/>
          </p:cNvPicPr>
          <p:nvPr/>
        </p:nvPicPr>
        <p:blipFill>
          <a:blip r:embed="rId6"/>
          <a:stretch>
            <a:fillRect/>
          </a:stretch>
        </p:blipFill>
        <p:spPr>
          <a:xfrm>
            <a:off x="5226253" y="2189074"/>
            <a:ext cx="285293" cy="285293"/>
          </a:xfrm>
          <a:prstGeom prst="rect">
            <a:avLst/>
          </a:prstGeom>
        </p:spPr>
      </p:pic>
      <p:sp>
        <p:nvSpPr>
          <p:cNvPr id="19" name="offline-head-2"/>
          <p:cNvSpPr txBox="1"/>
          <p:nvPr/>
        </p:nvSpPr>
        <p:spPr>
          <a:xfrm>
            <a:off x="841248" y="2057400"/>
            <a:ext cx="4198468" cy="548640"/>
          </a:xfrm>
          <a:prstGeom prst="rect">
            <a:avLst/>
          </a:prstGeom>
          <a:noFill/>
          <a:ln/>
        </p:spPr>
        <p:txBody>
          <a:bodyPr wrap="square" lIns="0" tIns="0" rIns="0" bIns="0" rtlCol="0" anchor="ctr"/>
          <a:lstStyle/>
          <a:p>
            <a:pPr rtl="1" algn="r" indent="0" marL="0">
              <a:buNone/>
            </a:pPr>
            <a:r>
              <a:rPr lang="ar-SA" altLang="en-US" sz="2100" b="1" dirty="0">
                <a:solidFill>
                  <a:schemeClr val="tx1"/>
                </a:solidFill>
              </a:rPr>
              <a:t>يستنى رجوع الاتصال</a:t>
            </a:r>
            <a:endParaRPr lang="ar-SA" sz="2100" dirty="0"/>
          </a:p>
        </p:txBody>
      </p:sp>
      <p:pic>
        <p:nvPicPr>
          <p:cNvPr id="20" name="offline-mark-2-1" descr="preencoded.png">    </p:cNvPr>
          <p:cNvPicPr>
            <a:picLocks noChangeAspect="1"/>
          </p:cNvPicPr>
          <p:nvPr/>
        </p:nvPicPr>
        <p:blipFill>
          <a:blip r:embed="rId7"/>
          <a:stretch>
            <a:fillRect/>
          </a:stretch>
        </p:blipFill>
        <p:spPr>
          <a:xfrm>
            <a:off x="5368900" y="2926080"/>
            <a:ext cx="274320" cy="274320"/>
          </a:xfrm>
          <a:prstGeom prst="rect">
            <a:avLst/>
          </a:prstGeom>
        </p:spPr>
      </p:pic>
      <p:sp>
        <p:nvSpPr>
          <p:cNvPr id="21" name="offline-item-2-1"/>
          <p:cNvSpPr txBox="1"/>
          <p:nvPr/>
        </p:nvSpPr>
        <p:spPr>
          <a:xfrm>
            <a:off x="841248" y="2834640"/>
            <a:ext cx="4381348" cy="457200"/>
          </a:xfrm>
          <a:prstGeom prst="rect">
            <a:avLst/>
          </a:prstGeom>
          <a:noFill/>
          <a:ln/>
        </p:spPr>
        <p:txBody>
          <a:bodyPr wrap="square" lIns="0" tIns="0" rIns="0" bIns="0" rtlCol="0" anchor="ctr"/>
          <a:lstStyle/>
          <a:p>
            <a:pPr rtl="1" algn="r" indent="0" marL="0">
              <a:buNone/>
            </a:pPr>
            <a:r>
              <a:rPr lang="ar-SA" altLang="en-US" sz="1700" dirty="0">
                <a:solidFill>
                  <a:schemeClr val="tx2"/>
                </a:solidFill>
              </a:rPr>
              <a:t>طلبات جديدة من جوالات الزبائن</a:t>
            </a:r>
            <a:endParaRPr lang="ar-SA" sz="1700" dirty="0"/>
          </a:p>
        </p:txBody>
      </p:sp>
      <p:pic>
        <p:nvPicPr>
          <p:cNvPr id="22" name="offline-mark-2-2" descr="preencoded.png">    </p:cNvPr>
          <p:cNvPicPr>
            <a:picLocks noChangeAspect="1"/>
          </p:cNvPicPr>
          <p:nvPr/>
        </p:nvPicPr>
        <p:blipFill>
          <a:blip r:embed="rId8"/>
          <a:stretch>
            <a:fillRect/>
          </a:stretch>
        </p:blipFill>
        <p:spPr>
          <a:xfrm>
            <a:off x="5368900" y="3438144"/>
            <a:ext cx="274320" cy="274320"/>
          </a:xfrm>
          <a:prstGeom prst="rect">
            <a:avLst/>
          </a:prstGeom>
        </p:spPr>
      </p:pic>
      <p:sp>
        <p:nvSpPr>
          <p:cNvPr id="23" name="offline-item-2-2"/>
          <p:cNvSpPr txBox="1"/>
          <p:nvPr/>
        </p:nvSpPr>
        <p:spPr>
          <a:xfrm>
            <a:off x="841248" y="3346704"/>
            <a:ext cx="4381348" cy="457200"/>
          </a:xfrm>
          <a:prstGeom prst="rect">
            <a:avLst/>
          </a:prstGeom>
          <a:noFill/>
          <a:ln/>
        </p:spPr>
        <p:txBody>
          <a:bodyPr wrap="square" lIns="0" tIns="0" rIns="0" bIns="0" rtlCol="0" anchor="ctr"/>
          <a:lstStyle/>
          <a:p>
            <a:pPr rtl="1" algn="r" indent="0" marL="0">
              <a:buNone/>
            </a:pPr>
            <a:r>
              <a:rPr lang="ar-SA" altLang="en-US" sz="1700" dirty="0">
                <a:solidFill>
                  <a:schemeClr val="tx2"/>
                </a:solidFill>
              </a:rPr>
              <a:t>تسجيل الدخول وتعديل المنيو</a:t>
            </a:r>
            <a:endParaRPr lang="ar-SA" sz="1700" dirty="0"/>
          </a:p>
        </p:txBody>
      </p:sp>
      <p:sp>
        <p:nvSpPr>
          <p:cNvPr id="24" name="offline-how"/>
          <p:cNvSpPr/>
          <p:nvPr/>
        </p:nvSpPr>
        <p:spPr>
          <a:xfrm>
            <a:off x="548640" y="5166360"/>
            <a:ext cx="11094415" cy="685800"/>
          </a:xfrm>
          <a:prstGeom prst="roundRect">
            <a:avLst>
              <a:gd name="adj" fmla="val 18667"/>
            </a:avLst>
          </a:prstGeom>
          <a:solidFill>
            <a:schemeClr val="bg1"/>
          </a:solidFill>
          <a:ln w="9525">
            <a:solidFill>
              <a:schemeClr val="accent6"/>
            </a:solidFill>
            <a:prstDash val="solid"/>
          </a:ln>
        </p:spPr>
      </p:sp>
      <p:sp>
        <p:nvSpPr>
          <p:cNvPr id="25" name="offline-how-text"/>
          <p:cNvSpPr txBox="1"/>
          <p:nvPr/>
        </p:nvSpPr>
        <p:spPr>
          <a:xfrm>
            <a:off x="868680" y="5166360"/>
            <a:ext cx="10454335" cy="685800"/>
          </a:xfrm>
          <a:prstGeom prst="rect">
            <a:avLst/>
          </a:prstGeom>
          <a:noFill/>
          <a:ln/>
        </p:spPr>
        <p:txBody>
          <a:bodyPr wrap="square" lIns="0" tIns="0" rIns="0" bIns="0" rtlCol="0" anchor="ctr"/>
          <a:lstStyle/>
          <a:p>
            <a:pPr rtl="1" algn="r" indent="0" marL="0">
              <a:buNone/>
            </a:pPr>
            <a:r>
              <a:rPr lang="ar-SA" altLang="en-US" sz="1600" dirty="0">
                <a:solidFill>
                  <a:schemeClr val="tx2"/>
                </a:solidFill>
              </a:rPr>
              <a:t>كل تغيير بيتحفظ بطابور على الجهاز مع مفتاح Idempotency — فالدفعة ما بتنحسب مرتين حتى لو انبعتت مرتين</a:t>
            </a:r>
            <a:endParaRPr lang="ar-SA" sz="1600" dirty="0"/>
          </a:p>
        </p:txBody>
      </p:sp>
      <p:sp>
        <p:nvSpPr>
          <p:cNvPr id="25" name="Slide Number Placeholder 0"/>
          <p:cNvSpPr>
            <a:spLocks noGrp="1"/>
          </p:cNvSpPr>
          <p:nvPr>
            <p:ph type="sldNum" sz="quarter" idx="4294967295"/>
          </p:nvPr>
        </p:nvSpPr>
        <p:spPr>
          <a:xfrm>
            <a:off x="11183112" y="6391656"/>
            <a:ext cx="457200" cy="237744"/>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4"/>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1" type="body" hasCustomPrompt="1"/>
          </p:nvPr>
        </p:nvSpPr>
        <p:spPr>
          <a:xfrm>
            <a:off x="548640" y="384048"/>
            <a:ext cx="11094415" cy="347472"/>
          </a:xfrm>
          <a:prstGeom prst="rect">
            <a:avLst/>
          </a:prstGeom>
          <a:noFill/>
          <a:ln/>
        </p:spPr>
        <p:txBody>
          <a:bodyPr wrap="square" lIns="0" tIns="0" rIns="0" bIns="0" rtlCol="0" anchor="ctr"/>
          <a:lstStyle/>
          <a:p>
            <a:pPr rtl="1" algn="r" indent="0" marL="0">
              <a:buNone/>
            </a:pPr>
            <a:r>
              <a:rPr lang="ar-SA" altLang="en-US" sz="1600" b="1" dirty="0">
                <a:solidFill>
                  <a:schemeClr val="accent3"/>
                </a:solidFill>
              </a:rPr>
              <a:t>احتياطي · الأمان</a:t>
            </a:r>
            <a:endParaRPr lang="ar-SA" sz="1600" dirty="0"/>
          </a:p>
        </p:txBody>
      </p:sp>
      <p:sp>
        <p:nvSpPr>
          <p:cNvPr id="3" name="Text 0"/>
          <p:cNvSpPr/>
          <p:nvPr>
            <p:ph idx="102" type="title" hasCustomPrompt="1"/>
          </p:nvPr>
        </p:nvSpPr>
        <p:spPr>
          <a:xfrm>
            <a:off x="548640" y="749808"/>
            <a:ext cx="11094415" cy="749808"/>
          </a:xfrm>
          <a:prstGeom prst="rect">
            <a:avLst/>
          </a:prstGeom>
          <a:noFill/>
          <a:ln/>
        </p:spPr>
        <p:txBody>
          <a:bodyPr wrap="square" lIns="0" tIns="0" rIns="0" bIns="0" rtlCol="0" anchor="t"/>
          <a:lstStyle/>
          <a:p>
            <a:pPr rtl="1" algn="r" indent="0" marL="0">
              <a:buNone/>
            </a:pPr>
            <a:r>
              <a:rPr lang="ar-SA" altLang="en-US" sz="3600" dirty="0">
                <a:solidFill>
                  <a:schemeClr val="tx1"/>
                </a:solidFill>
              </a:rPr>
              <a:t>كل مطعم معزول، وكل جلسة إلها مفتاح</a:t>
            </a:r>
            <a:endParaRPr lang="ar-SA" sz="3600" dirty="0"/>
          </a:p>
        </p:txBody>
      </p:sp>
      <p:sp>
        <p:nvSpPr>
          <p:cNvPr id="4" name="security-1"/>
          <p:cNvSpPr/>
          <p:nvPr/>
        </p:nvSpPr>
        <p:spPr>
          <a:xfrm>
            <a:off x="6255868" y="1783080"/>
            <a:ext cx="5387188" cy="1691640"/>
          </a:xfrm>
          <a:prstGeom prst="roundRect">
            <a:avLst>
              <a:gd name="adj" fmla="val 8649"/>
            </a:avLst>
          </a:prstGeom>
          <a:solidFill>
            <a:schemeClr val="bg1"/>
          </a:solidFill>
          <a:ln w="9525">
            <a:solidFill>
              <a:schemeClr val="accent6"/>
            </a:solidFill>
            <a:prstDash val="solid"/>
          </a:ln>
          <a:effectLst>
            <a:outerShdw sx="100000" sy="100000" kx="0" ky="0" algn="bl" rotWithShape="0" blurRad="101600" dist="25400" dir="5400000">
              <a:srgbClr val="172331">
                <a:alpha val="8000"/>
              </a:srgbClr>
            </a:outerShdw>
          </a:effectLst>
        </p:spPr>
      </p:sp>
      <p:sp>
        <p:nvSpPr>
          <p:cNvPr id="5" name="tile-lock"/>
          <p:cNvSpPr/>
          <p:nvPr/>
        </p:nvSpPr>
        <p:spPr>
          <a:xfrm>
            <a:off x="10765231" y="2075688"/>
            <a:ext cx="585216" cy="585216"/>
          </a:xfrm>
          <a:prstGeom prst="roundRect">
            <a:avLst>
              <a:gd name="adj" fmla="val 26000"/>
            </a:avLst>
          </a:prstGeom>
          <a:solidFill>
            <a:schemeClr val="tx1">
              <a:alpha val="7000"/>
            </a:schemeClr>
          </a:solidFill>
          <a:ln/>
        </p:spPr>
      </p:sp>
      <p:pic>
        <p:nvPicPr>
          <p:cNvPr id="6" name="icon-lock" descr="preencoded.png">    </p:cNvPr>
          <p:cNvPicPr>
            <a:picLocks noChangeAspect="1"/>
          </p:cNvPicPr>
          <p:nvPr/>
        </p:nvPicPr>
        <p:blipFill>
          <a:blip r:embed="rId1"/>
          <a:stretch>
            <a:fillRect/>
          </a:stretch>
        </p:blipFill>
        <p:spPr>
          <a:xfrm>
            <a:off x="10905683" y="2216140"/>
            <a:ext cx="304312" cy="304312"/>
          </a:xfrm>
          <a:prstGeom prst="rect">
            <a:avLst/>
          </a:prstGeom>
        </p:spPr>
      </p:pic>
      <p:sp>
        <p:nvSpPr>
          <p:cNvPr id="7" name="security-head-1"/>
          <p:cNvSpPr txBox="1"/>
          <p:nvPr/>
        </p:nvSpPr>
        <p:spPr>
          <a:xfrm>
            <a:off x="6548476" y="2057400"/>
            <a:ext cx="4152748" cy="457200"/>
          </a:xfrm>
          <a:prstGeom prst="rect">
            <a:avLst/>
          </a:prstGeom>
          <a:noFill/>
          <a:ln/>
        </p:spPr>
        <p:txBody>
          <a:bodyPr wrap="square" lIns="0" tIns="0" rIns="0" bIns="0" rtlCol="0" anchor="ctr"/>
          <a:lstStyle/>
          <a:p>
            <a:pPr rtl="1" algn="r" indent="0" marL="0">
              <a:buNone/>
            </a:pPr>
            <a:r>
              <a:rPr lang="ar-SA" altLang="en-US" sz="2100" b="1" dirty="0">
                <a:solidFill>
                  <a:schemeClr val="tx1"/>
                </a:solidFill>
              </a:rPr>
              <a:t>مفتاح سري لكل جلسة زبون</a:t>
            </a:r>
            <a:endParaRPr lang="ar-SA" sz="2100" dirty="0"/>
          </a:p>
        </p:txBody>
      </p:sp>
      <p:sp>
        <p:nvSpPr>
          <p:cNvPr id="8" name="security-body-1"/>
          <p:cNvSpPr txBox="1"/>
          <p:nvPr/>
        </p:nvSpPr>
        <p:spPr>
          <a:xfrm>
            <a:off x="6548476" y="2606040"/>
            <a:ext cx="4152748" cy="731520"/>
          </a:xfrm>
          <a:prstGeom prst="rect">
            <a:avLst/>
          </a:prstGeom>
          <a:noFill/>
          <a:ln/>
        </p:spPr>
        <p:txBody>
          <a:bodyPr wrap="square" lIns="0" tIns="0" rIns="0" bIns="0" rtlCol="0" anchor="t"/>
          <a:lstStyle/>
          <a:p>
            <a:pPr rtl="1" algn="r" indent="0" marL="0">
              <a:buNone/>
            </a:pPr>
            <a:r>
              <a:rPr lang="ar-SA" altLang="en-US" sz="1700" dirty="0">
                <a:solidFill>
                  <a:schemeClr val="tx2"/>
                </a:solidFill>
              </a:rPr>
              <a:t>رقم الجلسة وحده ما بيكفي للوصول إليها</a:t>
            </a:r>
            <a:endParaRPr lang="ar-SA" sz="1700" dirty="0"/>
          </a:p>
        </p:txBody>
      </p:sp>
      <p:sp>
        <p:nvSpPr>
          <p:cNvPr id="9" name="security-2"/>
          <p:cNvSpPr/>
          <p:nvPr/>
        </p:nvSpPr>
        <p:spPr>
          <a:xfrm>
            <a:off x="548640" y="1783080"/>
            <a:ext cx="5387188" cy="1691640"/>
          </a:xfrm>
          <a:prstGeom prst="roundRect">
            <a:avLst>
              <a:gd name="adj" fmla="val 8649"/>
            </a:avLst>
          </a:prstGeom>
          <a:solidFill>
            <a:schemeClr val="bg1"/>
          </a:solidFill>
          <a:ln w="9525">
            <a:solidFill>
              <a:schemeClr val="accent6"/>
            </a:solidFill>
            <a:prstDash val="solid"/>
          </a:ln>
          <a:effectLst>
            <a:outerShdw sx="100000" sy="100000" kx="0" ky="0" algn="bl" rotWithShape="0" blurRad="101600" dist="25400" dir="5400000">
              <a:srgbClr val="172331">
                <a:alpha val="8000"/>
              </a:srgbClr>
            </a:outerShdw>
          </a:effectLst>
        </p:spPr>
      </p:sp>
      <p:sp>
        <p:nvSpPr>
          <p:cNvPr id="10" name="tile-map-pin"/>
          <p:cNvSpPr/>
          <p:nvPr/>
        </p:nvSpPr>
        <p:spPr>
          <a:xfrm>
            <a:off x="5058004" y="2075688"/>
            <a:ext cx="585216" cy="585216"/>
          </a:xfrm>
          <a:prstGeom prst="roundRect">
            <a:avLst>
              <a:gd name="adj" fmla="val 26000"/>
            </a:avLst>
          </a:prstGeom>
          <a:solidFill>
            <a:schemeClr val="tx1">
              <a:alpha val="7000"/>
            </a:schemeClr>
          </a:solidFill>
          <a:ln/>
        </p:spPr>
      </p:sp>
      <p:pic>
        <p:nvPicPr>
          <p:cNvPr id="11" name="icon-map-pin" descr="preencoded.png">    </p:cNvPr>
          <p:cNvPicPr>
            <a:picLocks noChangeAspect="1"/>
          </p:cNvPicPr>
          <p:nvPr/>
        </p:nvPicPr>
        <p:blipFill>
          <a:blip r:embed="rId2"/>
          <a:stretch>
            <a:fillRect/>
          </a:stretch>
        </p:blipFill>
        <p:spPr>
          <a:xfrm>
            <a:off x="5198455" y="2216140"/>
            <a:ext cx="304312" cy="304312"/>
          </a:xfrm>
          <a:prstGeom prst="rect">
            <a:avLst/>
          </a:prstGeom>
        </p:spPr>
      </p:pic>
      <p:sp>
        <p:nvSpPr>
          <p:cNvPr id="12" name="security-head-2"/>
          <p:cNvSpPr txBox="1"/>
          <p:nvPr/>
        </p:nvSpPr>
        <p:spPr>
          <a:xfrm>
            <a:off x="841248" y="2057400"/>
            <a:ext cx="4152748" cy="457200"/>
          </a:xfrm>
          <a:prstGeom prst="rect">
            <a:avLst/>
          </a:prstGeom>
          <a:noFill/>
          <a:ln/>
        </p:spPr>
        <p:txBody>
          <a:bodyPr wrap="square" lIns="0" tIns="0" rIns="0" bIns="0" rtlCol="0" anchor="ctr"/>
          <a:lstStyle/>
          <a:p>
            <a:pPr rtl="1" algn="r" indent="0" marL="0">
              <a:buNone/>
            </a:pPr>
            <a:r>
              <a:rPr lang="ar-SA" altLang="en-US" sz="2100" b="1" dirty="0">
                <a:solidFill>
                  <a:schemeClr val="tx1"/>
                </a:solidFill>
              </a:rPr>
              <a:t>تحقق من الموقع</a:t>
            </a:r>
            <a:endParaRPr lang="ar-SA" sz="2100" dirty="0"/>
          </a:p>
        </p:txBody>
      </p:sp>
      <p:sp>
        <p:nvSpPr>
          <p:cNvPr id="13" name="security-body-2"/>
          <p:cNvSpPr txBox="1"/>
          <p:nvPr/>
        </p:nvSpPr>
        <p:spPr>
          <a:xfrm>
            <a:off x="841248" y="2606040"/>
            <a:ext cx="4152748" cy="731520"/>
          </a:xfrm>
          <a:prstGeom prst="rect">
            <a:avLst/>
          </a:prstGeom>
          <a:noFill/>
          <a:ln/>
        </p:spPr>
        <p:txBody>
          <a:bodyPr wrap="square" lIns="0" tIns="0" rIns="0" bIns="0" rtlCol="0" anchor="t"/>
          <a:lstStyle/>
          <a:p>
            <a:pPr rtl="1" algn="r" indent="0" marL="0">
              <a:buNone/>
            </a:pPr>
            <a:r>
              <a:rPr lang="ar-SA" altLang="en-US" sz="1700" dirty="0">
                <a:solidFill>
                  <a:schemeClr val="tx2"/>
                </a:solidFill>
              </a:rPr>
              <a:t>الطلب من الطاولة بس من داخل 200 متر من المطعم — فما في طلبات وهمية</a:t>
            </a:r>
            <a:endParaRPr lang="ar-SA" sz="1700" dirty="0"/>
          </a:p>
        </p:txBody>
      </p:sp>
      <p:sp>
        <p:nvSpPr>
          <p:cNvPr id="14" name="security-3"/>
          <p:cNvSpPr/>
          <p:nvPr/>
        </p:nvSpPr>
        <p:spPr>
          <a:xfrm>
            <a:off x="6255868" y="3703320"/>
            <a:ext cx="5387188" cy="1691640"/>
          </a:xfrm>
          <a:prstGeom prst="roundRect">
            <a:avLst>
              <a:gd name="adj" fmla="val 8649"/>
            </a:avLst>
          </a:prstGeom>
          <a:solidFill>
            <a:schemeClr val="bg1"/>
          </a:solidFill>
          <a:ln w="9525">
            <a:solidFill>
              <a:schemeClr val="accent6"/>
            </a:solidFill>
            <a:prstDash val="solid"/>
          </a:ln>
          <a:effectLst>
            <a:outerShdw sx="100000" sy="100000" kx="0" ky="0" algn="bl" rotWithShape="0" blurRad="101600" dist="25400" dir="5400000">
              <a:srgbClr val="172331">
                <a:alpha val="8000"/>
              </a:srgbClr>
            </a:outerShdw>
          </a:effectLst>
        </p:spPr>
      </p:sp>
      <p:sp>
        <p:nvSpPr>
          <p:cNvPr id="15" name="tile-shield-check"/>
          <p:cNvSpPr/>
          <p:nvPr/>
        </p:nvSpPr>
        <p:spPr>
          <a:xfrm>
            <a:off x="10765231" y="3995928"/>
            <a:ext cx="585216" cy="585216"/>
          </a:xfrm>
          <a:prstGeom prst="roundRect">
            <a:avLst>
              <a:gd name="adj" fmla="val 26000"/>
            </a:avLst>
          </a:prstGeom>
          <a:solidFill>
            <a:schemeClr val="tx1">
              <a:alpha val="7000"/>
            </a:schemeClr>
          </a:solidFill>
          <a:ln/>
        </p:spPr>
      </p:sp>
      <p:pic>
        <p:nvPicPr>
          <p:cNvPr id="16" name="icon-shield-check" descr="preencoded.png">    </p:cNvPr>
          <p:cNvPicPr>
            <a:picLocks noChangeAspect="1"/>
          </p:cNvPicPr>
          <p:nvPr/>
        </p:nvPicPr>
        <p:blipFill>
          <a:blip r:embed="rId3"/>
          <a:stretch>
            <a:fillRect/>
          </a:stretch>
        </p:blipFill>
        <p:spPr>
          <a:xfrm>
            <a:off x="10905683" y="4136380"/>
            <a:ext cx="304312" cy="304312"/>
          </a:xfrm>
          <a:prstGeom prst="rect">
            <a:avLst/>
          </a:prstGeom>
        </p:spPr>
      </p:pic>
      <p:sp>
        <p:nvSpPr>
          <p:cNvPr id="17" name="security-head-3"/>
          <p:cNvSpPr txBox="1"/>
          <p:nvPr/>
        </p:nvSpPr>
        <p:spPr>
          <a:xfrm>
            <a:off x="6548476" y="3977640"/>
            <a:ext cx="4152748" cy="457200"/>
          </a:xfrm>
          <a:prstGeom prst="rect">
            <a:avLst/>
          </a:prstGeom>
          <a:noFill/>
          <a:ln/>
        </p:spPr>
        <p:txBody>
          <a:bodyPr wrap="square" lIns="0" tIns="0" rIns="0" bIns="0" rtlCol="0" anchor="ctr"/>
          <a:lstStyle/>
          <a:p>
            <a:pPr rtl="1" algn="r" indent="0" marL="0">
              <a:buNone/>
            </a:pPr>
            <a:r>
              <a:rPr lang="ar-SA" altLang="en-US" sz="2100" b="1" dirty="0">
                <a:solidFill>
                  <a:schemeClr val="tx1"/>
                </a:solidFill>
              </a:rPr>
              <a:t>صلاحيات لكل دور</a:t>
            </a:r>
            <a:endParaRPr lang="ar-SA" sz="2100" dirty="0"/>
          </a:p>
        </p:txBody>
      </p:sp>
      <p:sp>
        <p:nvSpPr>
          <p:cNvPr id="18" name="security-body-3"/>
          <p:cNvSpPr txBox="1"/>
          <p:nvPr/>
        </p:nvSpPr>
        <p:spPr>
          <a:xfrm>
            <a:off x="6548476" y="4526280"/>
            <a:ext cx="4152748" cy="731520"/>
          </a:xfrm>
          <a:prstGeom prst="rect">
            <a:avLst/>
          </a:prstGeom>
          <a:noFill/>
          <a:ln/>
        </p:spPr>
        <p:txBody>
          <a:bodyPr wrap="square" lIns="0" tIns="0" rIns="0" bIns="0" rtlCol="0" anchor="t"/>
          <a:lstStyle/>
          <a:p>
            <a:pPr rtl="1" algn="r" indent="0" marL="0">
              <a:buNone/>
            </a:pPr>
            <a:r>
              <a:rPr lang="ar-SA" altLang="en-US" sz="1700" dirty="0">
                <a:solidFill>
                  <a:schemeClr val="tx2"/>
                </a:solidFill>
              </a:rPr>
              <a:t>كل موظف بيشوف ويعدّل اللي بيخص دوره فقط، والمالك بيتحكم</a:t>
            </a:r>
            <a:endParaRPr lang="ar-SA" sz="1700" dirty="0"/>
          </a:p>
        </p:txBody>
      </p:sp>
      <p:sp>
        <p:nvSpPr>
          <p:cNvPr id="19" name="security-4"/>
          <p:cNvSpPr/>
          <p:nvPr/>
        </p:nvSpPr>
        <p:spPr>
          <a:xfrm>
            <a:off x="548640" y="3703320"/>
            <a:ext cx="5387188" cy="1691640"/>
          </a:xfrm>
          <a:prstGeom prst="roundRect">
            <a:avLst>
              <a:gd name="adj" fmla="val 8649"/>
            </a:avLst>
          </a:prstGeom>
          <a:solidFill>
            <a:schemeClr val="bg1"/>
          </a:solidFill>
          <a:ln w="9525">
            <a:solidFill>
              <a:schemeClr val="accent6"/>
            </a:solidFill>
            <a:prstDash val="solid"/>
          </a:ln>
          <a:effectLst>
            <a:outerShdw sx="100000" sy="100000" kx="0" ky="0" algn="bl" rotWithShape="0" blurRad="101600" dist="25400" dir="5400000">
              <a:srgbClr val="172331">
                <a:alpha val="8000"/>
              </a:srgbClr>
            </a:outerShdw>
          </a:effectLst>
        </p:spPr>
      </p:sp>
      <p:sp>
        <p:nvSpPr>
          <p:cNvPr id="20" name="tile-building-2"/>
          <p:cNvSpPr/>
          <p:nvPr/>
        </p:nvSpPr>
        <p:spPr>
          <a:xfrm>
            <a:off x="5058004" y="3995928"/>
            <a:ext cx="585216" cy="585216"/>
          </a:xfrm>
          <a:prstGeom prst="roundRect">
            <a:avLst>
              <a:gd name="adj" fmla="val 26000"/>
            </a:avLst>
          </a:prstGeom>
          <a:solidFill>
            <a:schemeClr val="tx1">
              <a:alpha val="7000"/>
            </a:schemeClr>
          </a:solidFill>
          <a:ln/>
        </p:spPr>
      </p:sp>
      <p:pic>
        <p:nvPicPr>
          <p:cNvPr id="21" name="icon-building-2" descr="preencoded.png">    </p:cNvPr>
          <p:cNvPicPr>
            <a:picLocks noChangeAspect="1"/>
          </p:cNvPicPr>
          <p:nvPr/>
        </p:nvPicPr>
        <p:blipFill>
          <a:blip r:embed="rId4"/>
          <a:stretch>
            <a:fillRect/>
          </a:stretch>
        </p:blipFill>
        <p:spPr>
          <a:xfrm>
            <a:off x="5198455" y="4136380"/>
            <a:ext cx="304312" cy="304312"/>
          </a:xfrm>
          <a:prstGeom prst="rect">
            <a:avLst/>
          </a:prstGeom>
        </p:spPr>
      </p:pic>
      <p:sp>
        <p:nvSpPr>
          <p:cNvPr id="22" name="security-head-4"/>
          <p:cNvSpPr txBox="1"/>
          <p:nvPr/>
        </p:nvSpPr>
        <p:spPr>
          <a:xfrm>
            <a:off x="841248" y="3977640"/>
            <a:ext cx="4152748" cy="457200"/>
          </a:xfrm>
          <a:prstGeom prst="rect">
            <a:avLst/>
          </a:prstGeom>
          <a:noFill/>
          <a:ln/>
        </p:spPr>
        <p:txBody>
          <a:bodyPr wrap="square" lIns="0" tIns="0" rIns="0" bIns="0" rtlCol="0" anchor="ctr"/>
          <a:lstStyle/>
          <a:p>
            <a:pPr rtl="1" algn="r" indent="0" marL="0">
              <a:buNone/>
            </a:pPr>
            <a:r>
              <a:rPr lang="ar-SA" altLang="en-US" sz="2100" b="1" dirty="0">
                <a:solidFill>
                  <a:schemeClr val="tx1"/>
                </a:solidFill>
              </a:rPr>
              <a:t>عزل بين المطاعم</a:t>
            </a:r>
            <a:endParaRPr lang="ar-SA" sz="2100" dirty="0"/>
          </a:p>
        </p:txBody>
      </p:sp>
      <p:sp>
        <p:nvSpPr>
          <p:cNvPr id="23" name="security-body-4"/>
          <p:cNvSpPr txBox="1"/>
          <p:nvPr/>
        </p:nvSpPr>
        <p:spPr>
          <a:xfrm>
            <a:off x="841248" y="4526280"/>
            <a:ext cx="4152748" cy="731520"/>
          </a:xfrm>
          <a:prstGeom prst="rect">
            <a:avLst/>
          </a:prstGeom>
          <a:noFill/>
          <a:ln/>
        </p:spPr>
        <p:txBody>
          <a:bodyPr wrap="square" lIns="0" tIns="0" rIns="0" bIns="0" rtlCol="0" anchor="t"/>
          <a:lstStyle/>
          <a:p>
            <a:pPr rtl="1" algn="r" indent="0" marL="0">
              <a:buNone/>
            </a:pPr>
            <a:r>
              <a:rPr lang="ar-SA" altLang="en-US" sz="1700" dirty="0">
                <a:solidFill>
                  <a:schemeClr val="tx2"/>
                </a:solidFill>
              </a:rPr>
              <a:t>بيانات كل مطعم معزولة، ومغطّاة باختبارات آلية</a:t>
            </a:r>
            <a:endParaRPr lang="ar-SA" sz="1700" dirty="0"/>
          </a:p>
        </p:txBody>
      </p:sp>
      <p:sp>
        <p:nvSpPr>
          <p:cNvPr id="25" name="Slide Number Placeholder 0"/>
          <p:cNvSpPr>
            <a:spLocks noGrp="1"/>
          </p:cNvSpPr>
          <p:nvPr>
            <p:ph type="sldNum" sz="quarter" idx="4294967295"/>
          </p:nvPr>
        </p:nvSpPr>
        <p:spPr>
          <a:xfrm>
            <a:off x="11183112" y="6391656"/>
            <a:ext cx="457200" cy="237744"/>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4"/>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1" type="body" hasCustomPrompt="1"/>
          </p:nvPr>
        </p:nvSpPr>
        <p:spPr>
          <a:xfrm>
            <a:off x="548640" y="384048"/>
            <a:ext cx="11094415" cy="347472"/>
          </a:xfrm>
          <a:prstGeom prst="rect">
            <a:avLst/>
          </a:prstGeom>
          <a:noFill/>
          <a:ln/>
        </p:spPr>
        <p:txBody>
          <a:bodyPr wrap="square" lIns="0" tIns="0" rIns="0" bIns="0" rtlCol="0" anchor="ctr"/>
          <a:lstStyle/>
          <a:p>
            <a:pPr rtl="1" algn="r" indent="0" marL="0">
              <a:buNone/>
            </a:pPr>
            <a:r>
              <a:rPr lang="ar-SA" altLang="en-US" sz="1600" b="1" dirty="0">
                <a:solidFill>
                  <a:schemeClr val="accent3"/>
                </a:solidFill>
              </a:rPr>
              <a:t>احتياطي · الباقات</a:t>
            </a:r>
            <a:endParaRPr lang="ar-SA" sz="1600" dirty="0"/>
          </a:p>
        </p:txBody>
      </p:sp>
      <p:sp>
        <p:nvSpPr>
          <p:cNvPr id="3" name="Text 0"/>
          <p:cNvSpPr/>
          <p:nvPr>
            <p:ph idx="102" type="title" hasCustomPrompt="1"/>
          </p:nvPr>
        </p:nvSpPr>
        <p:spPr>
          <a:xfrm>
            <a:off x="548640" y="749808"/>
            <a:ext cx="11094415" cy="749808"/>
          </a:xfrm>
          <a:prstGeom prst="rect">
            <a:avLst/>
          </a:prstGeom>
          <a:noFill/>
          <a:ln/>
        </p:spPr>
        <p:txBody>
          <a:bodyPr wrap="square" lIns="0" tIns="0" rIns="0" bIns="0" rtlCol="0" anchor="t"/>
          <a:lstStyle/>
          <a:p>
            <a:pPr rtl="1" algn="r" indent="0" marL="0">
              <a:buNone/>
            </a:pPr>
            <a:r>
              <a:rPr lang="ar-SA" altLang="en-US" sz="3600" dirty="0">
                <a:solidFill>
                  <a:schemeClr val="tx1"/>
                </a:solidFill>
              </a:rPr>
              <a:t>الباقات والإضافات بالتفصيل</a:t>
            </a:r>
            <a:endParaRPr lang="ar-SA" sz="3600" dirty="0"/>
          </a:p>
        </p:txBody>
      </p:sp>
      <p:sp>
        <p:nvSpPr>
          <p:cNvPr id="4" name="plans-table"/>
          <p:cNvSpPr/>
          <p:nvPr/>
        </p:nvSpPr>
        <p:spPr>
          <a:xfrm>
            <a:off x="548640" y="1737360"/>
            <a:ext cx="11094415" cy="3712464"/>
          </a:xfrm>
          <a:prstGeom prst="roundRect">
            <a:avLst>
              <a:gd name="adj" fmla="val 3941"/>
            </a:avLst>
          </a:prstGeom>
          <a:solidFill>
            <a:schemeClr val="bg1"/>
          </a:solidFill>
          <a:ln w="9525">
            <a:solidFill>
              <a:schemeClr val="accent6"/>
            </a:solidFill>
            <a:prstDash val="solid"/>
          </a:ln>
          <a:effectLst>
            <a:outerShdw sx="100000" sy="100000" kx="0" ky="0" algn="bl" rotWithShape="0" blurRad="101600" dist="25400" dir="5400000">
              <a:srgbClr val="172331">
                <a:alpha val="8000"/>
              </a:srgbClr>
            </a:outerShdw>
          </a:effectLst>
        </p:spPr>
      </p:sp>
      <p:sp>
        <p:nvSpPr>
          <p:cNvPr id="5" name="plans-head-bg"/>
          <p:cNvSpPr/>
          <p:nvPr/>
        </p:nvSpPr>
        <p:spPr>
          <a:xfrm>
            <a:off x="621792" y="1810512"/>
            <a:ext cx="10948111" cy="530352"/>
          </a:xfrm>
          <a:prstGeom prst="roundRect">
            <a:avLst>
              <a:gd name="adj" fmla="val 20690"/>
            </a:avLst>
          </a:prstGeom>
          <a:solidFill>
            <a:schemeClr val="bg2"/>
          </a:solidFill>
          <a:ln/>
        </p:spPr>
      </p:sp>
      <p:sp>
        <p:nvSpPr>
          <p:cNvPr id="6" name="plans-head-1"/>
          <p:cNvSpPr txBox="1"/>
          <p:nvPr/>
        </p:nvSpPr>
        <p:spPr>
          <a:xfrm>
            <a:off x="9265615" y="1783080"/>
            <a:ext cx="2240280" cy="603504"/>
          </a:xfrm>
          <a:prstGeom prst="rect">
            <a:avLst/>
          </a:prstGeom>
          <a:noFill/>
          <a:ln/>
        </p:spPr>
        <p:txBody>
          <a:bodyPr wrap="square" lIns="0" tIns="0" rIns="0" bIns="0" rtlCol="0" anchor="ctr"/>
          <a:lstStyle/>
          <a:p>
            <a:pPr rtl="1" algn="r" indent="0" marL="0">
              <a:buNone/>
            </a:pPr>
            <a:r>
              <a:rPr lang="ar-SA" altLang="en-US" sz="1500" b="1" dirty="0">
                <a:solidFill>
                  <a:schemeClr val="accent4"/>
                </a:solidFill>
              </a:rPr>
              <a:t>الباقة</a:t>
            </a:r>
            <a:endParaRPr lang="ar-SA" sz="1500" dirty="0"/>
          </a:p>
        </p:txBody>
      </p:sp>
      <p:sp>
        <p:nvSpPr>
          <p:cNvPr id="7" name="plans-head-2"/>
          <p:cNvSpPr txBox="1"/>
          <p:nvPr/>
        </p:nvSpPr>
        <p:spPr>
          <a:xfrm>
            <a:off x="7848295" y="1783080"/>
            <a:ext cx="1143000" cy="603504"/>
          </a:xfrm>
          <a:prstGeom prst="rect">
            <a:avLst/>
          </a:prstGeom>
          <a:noFill/>
          <a:ln/>
        </p:spPr>
        <p:txBody>
          <a:bodyPr wrap="square" lIns="0" tIns="0" rIns="0" bIns="0" rtlCol="0" anchor="ctr"/>
          <a:lstStyle/>
          <a:p>
            <a:pPr rtl="1" algn="r" indent="0" marL="0">
              <a:buNone/>
            </a:pPr>
            <a:r>
              <a:rPr lang="ar-SA" altLang="en-US" sz="1500" b="1" dirty="0">
                <a:solidFill>
                  <a:schemeClr val="accent4"/>
                </a:solidFill>
              </a:rPr>
              <a:t>السعر شهريًا</a:t>
            </a:r>
            <a:endParaRPr lang="ar-SA" sz="1500" dirty="0"/>
          </a:p>
        </p:txBody>
      </p:sp>
      <p:sp>
        <p:nvSpPr>
          <p:cNvPr id="8" name="plans-head-3"/>
          <p:cNvSpPr txBox="1"/>
          <p:nvPr/>
        </p:nvSpPr>
        <p:spPr>
          <a:xfrm>
            <a:off x="6430975" y="1783080"/>
            <a:ext cx="1143000" cy="603504"/>
          </a:xfrm>
          <a:prstGeom prst="rect">
            <a:avLst/>
          </a:prstGeom>
          <a:noFill/>
          <a:ln/>
        </p:spPr>
        <p:txBody>
          <a:bodyPr wrap="square" lIns="0" tIns="0" rIns="0" bIns="0" rtlCol="0" anchor="ctr"/>
          <a:lstStyle/>
          <a:p>
            <a:pPr rtl="1" algn="r" indent="0" marL="0">
              <a:buNone/>
            </a:pPr>
            <a:r>
              <a:rPr lang="ar-SA" altLang="en-US" sz="1500" b="1" dirty="0">
                <a:solidFill>
                  <a:schemeClr val="accent4"/>
                </a:solidFill>
              </a:rPr>
              <a:t>الطاولات</a:t>
            </a:r>
            <a:endParaRPr lang="ar-SA" sz="1500" dirty="0"/>
          </a:p>
        </p:txBody>
      </p:sp>
      <p:sp>
        <p:nvSpPr>
          <p:cNvPr id="9" name="plans-head-4"/>
          <p:cNvSpPr txBox="1"/>
          <p:nvPr/>
        </p:nvSpPr>
        <p:spPr>
          <a:xfrm>
            <a:off x="5013655" y="1783080"/>
            <a:ext cx="1143000" cy="603504"/>
          </a:xfrm>
          <a:prstGeom prst="rect">
            <a:avLst/>
          </a:prstGeom>
          <a:noFill/>
          <a:ln/>
        </p:spPr>
        <p:txBody>
          <a:bodyPr wrap="square" lIns="0" tIns="0" rIns="0" bIns="0" rtlCol="0" anchor="ctr"/>
          <a:lstStyle/>
          <a:p>
            <a:pPr rtl="1" algn="r" indent="0" marL="0">
              <a:buNone/>
            </a:pPr>
            <a:r>
              <a:rPr lang="ar-SA" altLang="en-US" sz="1500" b="1" dirty="0">
                <a:solidFill>
                  <a:schemeClr val="accent4"/>
                </a:solidFill>
              </a:rPr>
              <a:t>الأصناف</a:t>
            </a:r>
            <a:endParaRPr lang="ar-SA" sz="1500" dirty="0"/>
          </a:p>
        </p:txBody>
      </p:sp>
      <p:sp>
        <p:nvSpPr>
          <p:cNvPr id="10" name="plans-head-5"/>
          <p:cNvSpPr txBox="1"/>
          <p:nvPr/>
        </p:nvSpPr>
        <p:spPr>
          <a:xfrm>
            <a:off x="685800" y="1783080"/>
            <a:ext cx="4053535" cy="603504"/>
          </a:xfrm>
          <a:prstGeom prst="rect">
            <a:avLst/>
          </a:prstGeom>
          <a:noFill/>
          <a:ln/>
        </p:spPr>
        <p:txBody>
          <a:bodyPr wrap="square" lIns="0" tIns="0" rIns="0" bIns="0" rtlCol="0" anchor="ctr"/>
          <a:lstStyle/>
          <a:p>
            <a:pPr rtl="1" algn="r" indent="0" marL="0">
              <a:buNone/>
            </a:pPr>
            <a:r>
              <a:rPr lang="ar-SA" altLang="en-US" sz="1500" b="1" dirty="0">
                <a:solidFill>
                  <a:schemeClr val="accent4"/>
                </a:solidFill>
              </a:rPr>
              <a:t>أبرز ما فيها</a:t>
            </a:r>
            <a:endParaRPr lang="ar-SA" sz="1500" dirty="0"/>
          </a:p>
        </p:txBody>
      </p:sp>
      <p:sp>
        <p:nvSpPr>
          <p:cNvPr id="11" name="plans-1-1"/>
          <p:cNvSpPr txBox="1"/>
          <p:nvPr/>
        </p:nvSpPr>
        <p:spPr>
          <a:xfrm>
            <a:off x="9265615" y="2386584"/>
            <a:ext cx="2240280" cy="603504"/>
          </a:xfrm>
          <a:prstGeom prst="rect">
            <a:avLst/>
          </a:prstGeom>
          <a:noFill/>
          <a:ln/>
        </p:spPr>
        <p:txBody>
          <a:bodyPr wrap="square" lIns="0" tIns="0" rIns="0" bIns="0" rtlCol="0" anchor="ctr"/>
          <a:lstStyle/>
          <a:p>
            <a:pPr rtl="1" algn="r" indent="0" marL="0">
              <a:buNone/>
            </a:pPr>
            <a:r>
              <a:rPr lang="ar-SA" altLang="en-US" sz="1700" b="1" dirty="0">
                <a:solidFill>
                  <a:schemeClr val="tx1"/>
                </a:solidFill>
              </a:rPr>
              <a:t>الأساسية</a:t>
            </a:r>
            <a:endParaRPr lang="ar-SA" sz="1700" dirty="0"/>
          </a:p>
        </p:txBody>
      </p:sp>
      <p:sp>
        <p:nvSpPr>
          <p:cNvPr id="12" name="plans-1-2"/>
          <p:cNvSpPr txBox="1"/>
          <p:nvPr/>
        </p:nvSpPr>
        <p:spPr>
          <a:xfrm>
            <a:off x="7848295" y="2386584"/>
            <a:ext cx="1143000" cy="603504"/>
          </a:xfrm>
          <a:prstGeom prst="rect">
            <a:avLst/>
          </a:prstGeom>
          <a:noFill/>
          <a:ln/>
        </p:spPr>
        <p:txBody>
          <a:bodyPr wrap="square" lIns="0" tIns="0" rIns="0" bIns="0" rtlCol="0" anchor="ctr"/>
          <a:lstStyle/>
          <a:p>
            <a:pPr algn="r" indent="0" marL="0">
              <a:buNone/>
            </a:pPr>
            <a:r>
              <a:rPr lang="en-US" sz="1800" b="1" dirty="0">
                <a:solidFill>
                  <a:schemeClr val="accent3"/>
                </a:solidFill>
              </a:rPr>
              <a:t>‎$15</a:t>
            </a:r>
            <a:endParaRPr lang="en-US" sz="1800" dirty="0"/>
          </a:p>
        </p:txBody>
      </p:sp>
      <p:sp>
        <p:nvSpPr>
          <p:cNvPr id="13" name="plans-1-3"/>
          <p:cNvSpPr txBox="1"/>
          <p:nvPr/>
        </p:nvSpPr>
        <p:spPr>
          <a:xfrm>
            <a:off x="6430975" y="2386584"/>
            <a:ext cx="1143000" cy="603504"/>
          </a:xfrm>
          <a:prstGeom prst="rect">
            <a:avLst/>
          </a:prstGeom>
          <a:noFill/>
          <a:ln/>
        </p:spPr>
        <p:txBody>
          <a:bodyPr wrap="square" lIns="0" tIns="0" rIns="0" bIns="0" rtlCol="0" anchor="ctr"/>
          <a:lstStyle/>
          <a:p>
            <a:pPr rtl="1" algn="r" indent="0" marL="0">
              <a:buNone/>
            </a:pPr>
            <a:r>
              <a:rPr lang="ar-SA" altLang="en-US" sz="1500" dirty="0">
                <a:solidFill>
                  <a:schemeClr val="tx2"/>
                </a:solidFill>
              </a:rPr>
              <a:t>حتى 10</a:t>
            </a:r>
            <a:endParaRPr lang="ar-SA" sz="1500" dirty="0"/>
          </a:p>
        </p:txBody>
      </p:sp>
      <p:sp>
        <p:nvSpPr>
          <p:cNvPr id="14" name="plans-1-4"/>
          <p:cNvSpPr txBox="1"/>
          <p:nvPr/>
        </p:nvSpPr>
        <p:spPr>
          <a:xfrm>
            <a:off x="5013655" y="2386584"/>
            <a:ext cx="1143000" cy="603504"/>
          </a:xfrm>
          <a:prstGeom prst="rect">
            <a:avLst/>
          </a:prstGeom>
          <a:noFill/>
          <a:ln/>
        </p:spPr>
        <p:txBody>
          <a:bodyPr wrap="square" lIns="0" tIns="0" rIns="0" bIns="0" rtlCol="0" anchor="ctr"/>
          <a:lstStyle/>
          <a:p>
            <a:pPr rtl="1" algn="r" indent="0" marL="0">
              <a:buNone/>
            </a:pPr>
            <a:r>
              <a:rPr lang="ar-SA" altLang="en-US" sz="1500" dirty="0">
                <a:solidFill>
                  <a:schemeClr val="tx2"/>
                </a:solidFill>
              </a:rPr>
              <a:t>حتى 50</a:t>
            </a:r>
            <a:endParaRPr lang="ar-SA" sz="1500" dirty="0"/>
          </a:p>
        </p:txBody>
      </p:sp>
      <p:sp>
        <p:nvSpPr>
          <p:cNvPr id="15" name="plans-1-5"/>
          <p:cNvSpPr txBox="1"/>
          <p:nvPr/>
        </p:nvSpPr>
        <p:spPr>
          <a:xfrm>
            <a:off x="685800" y="2386584"/>
            <a:ext cx="4053535" cy="603504"/>
          </a:xfrm>
          <a:prstGeom prst="rect">
            <a:avLst/>
          </a:prstGeom>
          <a:noFill/>
          <a:ln/>
        </p:spPr>
        <p:txBody>
          <a:bodyPr wrap="square" lIns="0" tIns="0" rIns="0" bIns="0" rtlCol="0" anchor="ctr"/>
          <a:lstStyle/>
          <a:p>
            <a:pPr rtl="1" algn="r" indent="0" marL="0">
              <a:buNone/>
            </a:pPr>
            <a:r>
              <a:rPr lang="ar-SA" altLang="en-US" sz="1500" dirty="0">
                <a:solidFill>
                  <a:schemeClr val="tx2"/>
                </a:solidFill>
              </a:rPr>
              <a:t>التشغيل كامل: منيو، QR، مطبخ، نادل، كاشير، فريق</a:t>
            </a:r>
            <a:endParaRPr lang="ar-SA" sz="1500" dirty="0"/>
          </a:p>
        </p:txBody>
      </p:sp>
      <p:sp>
        <p:nvSpPr>
          <p:cNvPr id="16" name="plans-rule-2"/>
          <p:cNvSpPr/>
          <p:nvPr/>
        </p:nvSpPr>
        <p:spPr>
          <a:xfrm>
            <a:off x="777240" y="2990088"/>
            <a:ext cx="10637215" cy="0"/>
          </a:xfrm>
          <a:prstGeom prst="line">
            <a:avLst/>
          </a:prstGeom>
          <a:noFill/>
          <a:ln w="9525">
            <a:solidFill>
              <a:schemeClr val="accent6"/>
            </a:solidFill>
            <a:prstDash val="solid"/>
          </a:ln>
        </p:spPr>
      </p:sp>
      <p:sp>
        <p:nvSpPr>
          <p:cNvPr id="17" name="plans-2-1"/>
          <p:cNvSpPr txBox="1"/>
          <p:nvPr/>
        </p:nvSpPr>
        <p:spPr>
          <a:xfrm>
            <a:off x="9265615" y="2990088"/>
            <a:ext cx="2240280" cy="603504"/>
          </a:xfrm>
          <a:prstGeom prst="rect">
            <a:avLst/>
          </a:prstGeom>
          <a:noFill/>
          <a:ln/>
        </p:spPr>
        <p:txBody>
          <a:bodyPr wrap="square" lIns="0" tIns="0" rIns="0" bIns="0" rtlCol="0" anchor="ctr"/>
          <a:lstStyle/>
          <a:p>
            <a:pPr rtl="1" algn="r" indent="0" marL="0">
              <a:buNone/>
            </a:pPr>
            <a:r>
              <a:rPr lang="ar-SA" altLang="en-US" sz="1700" b="1" dirty="0">
                <a:solidFill>
                  <a:schemeClr val="tx1"/>
                </a:solidFill>
              </a:rPr>
              <a:t>الاحترافية</a:t>
            </a:r>
            <a:endParaRPr lang="ar-SA" sz="1700" dirty="0"/>
          </a:p>
        </p:txBody>
      </p:sp>
      <p:sp>
        <p:nvSpPr>
          <p:cNvPr id="18" name="plans-2-2"/>
          <p:cNvSpPr txBox="1"/>
          <p:nvPr/>
        </p:nvSpPr>
        <p:spPr>
          <a:xfrm>
            <a:off x="7848295" y="2990088"/>
            <a:ext cx="1143000" cy="603504"/>
          </a:xfrm>
          <a:prstGeom prst="rect">
            <a:avLst/>
          </a:prstGeom>
          <a:noFill/>
          <a:ln/>
        </p:spPr>
        <p:txBody>
          <a:bodyPr wrap="square" lIns="0" tIns="0" rIns="0" bIns="0" rtlCol="0" anchor="ctr"/>
          <a:lstStyle/>
          <a:p>
            <a:pPr algn="r" indent="0" marL="0">
              <a:buNone/>
            </a:pPr>
            <a:r>
              <a:rPr lang="en-US" sz="1800" b="1" dirty="0">
                <a:solidFill>
                  <a:schemeClr val="accent3"/>
                </a:solidFill>
              </a:rPr>
              <a:t>‎$29</a:t>
            </a:r>
            <a:endParaRPr lang="en-US" sz="1800" dirty="0"/>
          </a:p>
        </p:txBody>
      </p:sp>
      <p:sp>
        <p:nvSpPr>
          <p:cNvPr id="19" name="plans-2-3"/>
          <p:cNvSpPr txBox="1"/>
          <p:nvPr/>
        </p:nvSpPr>
        <p:spPr>
          <a:xfrm>
            <a:off x="6430975" y="2990088"/>
            <a:ext cx="1143000" cy="603504"/>
          </a:xfrm>
          <a:prstGeom prst="rect">
            <a:avLst/>
          </a:prstGeom>
          <a:noFill/>
          <a:ln/>
        </p:spPr>
        <p:txBody>
          <a:bodyPr wrap="square" lIns="0" tIns="0" rIns="0" bIns="0" rtlCol="0" anchor="ctr"/>
          <a:lstStyle/>
          <a:p>
            <a:pPr rtl="1" algn="r" indent="0" marL="0">
              <a:buNone/>
            </a:pPr>
            <a:r>
              <a:rPr lang="ar-SA" altLang="en-US" sz="1500" dirty="0">
                <a:solidFill>
                  <a:schemeClr val="tx2"/>
                </a:solidFill>
              </a:rPr>
              <a:t>بلا حدود</a:t>
            </a:r>
            <a:endParaRPr lang="ar-SA" sz="1500" dirty="0"/>
          </a:p>
        </p:txBody>
      </p:sp>
      <p:sp>
        <p:nvSpPr>
          <p:cNvPr id="20" name="plans-2-4"/>
          <p:cNvSpPr txBox="1"/>
          <p:nvPr/>
        </p:nvSpPr>
        <p:spPr>
          <a:xfrm>
            <a:off x="5013655" y="2990088"/>
            <a:ext cx="1143000" cy="603504"/>
          </a:xfrm>
          <a:prstGeom prst="rect">
            <a:avLst/>
          </a:prstGeom>
          <a:noFill/>
          <a:ln/>
        </p:spPr>
        <p:txBody>
          <a:bodyPr wrap="square" lIns="0" tIns="0" rIns="0" bIns="0" rtlCol="0" anchor="ctr"/>
          <a:lstStyle/>
          <a:p>
            <a:pPr rtl="1" algn="r" indent="0" marL="0">
              <a:buNone/>
            </a:pPr>
            <a:r>
              <a:rPr lang="ar-SA" altLang="en-US" sz="1500" dirty="0">
                <a:solidFill>
                  <a:schemeClr val="tx2"/>
                </a:solidFill>
              </a:rPr>
              <a:t>بلا حدود</a:t>
            </a:r>
            <a:endParaRPr lang="ar-SA" sz="1500" dirty="0"/>
          </a:p>
        </p:txBody>
      </p:sp>
      <p:sp>
        <p:nvSpPr>
          <p:cNvPr id="21" name="plans-2-5"/>
          <p:cNvSpPr txBox="1"/>
          <p:nvPr/>
        </p:nvSpPr>
        <p:spPr>
          <a:xfrm>
            <a:off x="685800" y="2990088"/>
            <a:ext cx="4053535" cy="603504"/>
          </a:xfrm>
          <a:prstGeom prst="rect">
            <a:avLst/>
          </a:prstGeom>
          <a:noFill/>
          <a:ln/>
        </p:spPr>
        <p:txBody>
          <a:bodyPr wrap="square" lIns="0" tIns="0" rIns="0" bIns="0" rtlCol="0" anchor="ctr"/>
          <a:lstStyle/>
          <a:p>
            <a:pPr rtl="1" algn="r" indent="0" marL="0">
              <a:buNone/>
            </a:pPr>
            <a:r>
              <a:rPr lang="ar-SA" altLang="en-US" sz="1500" dirty="0">
                <a:solidFill>
                  <a:schemeClr val="tx2"/>
                </a:solidFill>
              </a:rPr>
              <a:t>+ تقارير، سجل الطلبات، تنبيهات ذكية، هوية المنيو</a:t>
            </a:r>
            <a:endParaRPr lang="ar-SA" sz="1500" dirty="0"/>
          </a:p>
        </p:txBody>
      </p:sp>
      <p:sp>
        <p:nvSpPr>
          <p:cNvPr id="22" name="plans-rule-3"/>
          <p:cNvSpPr/>
          <p:nvPr/>
        </p:nvSpPr>
        <p:spPr>
          <a:xfrm>
            <a:off x="777240" y="3593592"/>
            <a:ext cx="10637215" cy="0"/>
          </a:xfrm>
          <a:prstGeom prst="line">
            <a:avLst/>
          </a:prstGeom>
          <a:noFill/>
          <a:ln w="9525">
            <a:solidFill>
              <a:schemeClr val="accent6"/>
            </a:solidFill>
            <a:prstDash val="solid"/>
          </a:ln>
        </p:spPr>
      </p:sp>
      <p:sp>
        <p:nvSpPr>
          <p:cNvPr id="23" name="plans-3-1"/>
          <p:cNvSpPr txBox="1"/>
          <p:nvPr/>
        </p:nvSpPr>
        <p:spPr>
          <a:xfrm>
            <a:off x="9265615" y="3593592"/>
            <a:ext cx="2240280" cy="603504"/>
          </a:xfrm>
          <a:prstGeom prst="rect">
            <a:avLst/>
          </a:prstGeom>
          <a:noFill/>
          <a:ln/>
        </p:spPr>
        <p:txBody>
          <a:bodyPr wrap="square" lIns="0" tIns="0" rIns="0" bIns="0" rtlCol="0" anchor="ctr"/>
          <a:lstStyle/>
          <a:p>
            <a:pPr rtl="1" algn="r" indent="0" marL="0">
              <a:buNone/>
            </a:pPr>
            <a:r>
              <a:rPr lang="ar-SA" altLang="en-US" sz="1700" b="1" dirty="0">
                <a:solidFill>
                  <a:schemeClr val="tx1"/>
                </a:solidFill>
              </a:rPr>
              <a:t>التوصيل فقط</a:t>
            </a:r>
            <a:endParaRPr lang="ar-SA" sz="1700" dirty="0"/>
          </a:p>
        </p:txBody>
      </p:sp>
      <p:sp>
        <p:nvSpPr>
          <p:cNvPr id="24" name="plans-3-2"/>
          <p:cNvSpPr txBox="1"/>
          <p:nvPr/>
        </p:nvSpPr>
        <p:spPr>
          <a:xfrm>
            <a:off x="7848295" y="3593592"/>
            <a:ext cx="1143000" cy="603504"/>
          </a:xfrm>
          <a:prstGeom prst="rect">
            <a:avLst/>
          </a:prstGeom>
          <a:noFill/>
          <a:ln/>
        </p:spPr>
        <p:txBody>
          <a:bodyPr wrap="square" lIns="0" tIns="0" rIns="0" bIns="0" rtlCol="0" anchor="ctr"/>
          <a:lstStyle/>
          <a:p>
            <a:pPr algn="r" indent="0" marL="0">
              <a:buNone/>
            </a:pPr>
            <a:r>
              <a:rPr lang="en-US" sz="1800" b="1" dirty="0">
                <a:solidFill>
                  <a:schemeClr val="accent3"/>
                </a:solidFill>
              </a:rPr>
              <a:t>‎$15</a:t>
            </a:r>
            <a:endParaRPr lang="en-US" sz="1800" dirty="0"/>
          </a:p>
        </p:txBody>
      </p:sp>
      <p:sp>
        <p:nvSpPr>
          <p:cNvPr id="25" name="plans-3-3"/>
          <p:cNvSpPr txBox="1"/>
          <p:nvPr/>
        </p:nvSpPr>
        <p:spPr>
          <a:xfrm>
            <a:off x="6430975" y="3593592"/>
            <a:ext cx="1143000" cy="603504"/>
          </a:xfrm>
          <a:prstGeom prst="rect">
            <a:avLst/>
          </a:prstGeom>
          <a:noFill/>
          <a:ln/>
        </p:spPr>
        <p:txBody>
          <a:bodyPr wrap="square" lIns="0" tIns="0" rIns="0" bIns="0" rtlCol="0" anchor="ctr"/>
          <a:lstStyle/>
          <a:p>
            <a:pPr rtl="1" algn="r" indent="0" marL="0">
              <a:buNone/>
            </a:pPr>
            <a:r>
              <a:rPr lang="ar-SA" altLang="en-US" sz="1500" dirty="0">
                <a:solidFill>
                  <a:schemeClr val="tx2"/>
                </a:solidFill>
              </a:rPr>
              <a:t>—</a:t>
            </a:r>
            <a:endParaRPr lang="ar-SA" sz="1500" dirty="0"/>
          </a:p>
        </p:txBody>
      </p:sp>
      <p:sp>
        <p:nvSpPr>
          <p:cNvPr id="26" name="plans-3-4"/>
          <p:cNvSpPr txBox="1"/>
          <p:nvPr/>
        </p:nvSpPr>
        <p:spPr>
          <a:xfrm>
            <a:off x="5013655" y="3593592"/>
            <a:ext cx="1143000" cy="603504"/>
          </a:xfrm>
          <a:prstGeom prst="rect">
            <a:avLst/>
          </a:prstGeom>
          <a:noFill/>
          <a:ln/>
        </p:spPr>
        <p:txBody>
          <a:bodyPr wrap="square" lIns="0" tIns="0" rIns="0" bIns="0" rtlCol="0" anchor="ctr"/>
          <a:lstStyle/>
          <a:p>
            <a:pPr rtl="1" algn="r" indent="0" marL="0">
              <a:buNone/>
            </a:pPr>
            <a:r>
              <a:rPr lang="ar-SA" altLang="en-US" sz="1500" dirty="0">
                <a:solidFill>
                  <a:schemeClr val="tx2"/>
                </a:solidFill>
              </a:rPr>
              <a:t>حتى 50</a:t>
            </a:r>
            <a:endParaRPr lang="ar-SA" sz="1500" dirty="0"/>
          </a:p>
        </p:txBody>
      </p:sp>
      <p:sp>
        <p:nvSpPr>
          <p:cNvPr id="27" name="plans-3-5"/>
          <p:cNvSpPr txBox="1"/>
          <p:nvPr/>
        </p:nvSpPr>
        <p:spPr>
          <a:xfrm>
            <a:off x="685800" y="3593592"/>
            <a:ext cx="4053535" cy="603504"/>
          </a:xfrm>
          <a:prstGeom prst="rect">
            <a:avLst/>
          </a:prstGeom>
          <a:noFill/>
          <a:ln/>
        </p:spPr>
        <p:txBody>
          <a:bodyPr wrap="square" lIns="0" tIns="0" rIns="0" bIns="0" rtlCol="0" anchor="ctr"/>
          <a:lstStyle/>
          <a:p>
            <a:pPr rtl="1" algn="r" indent="0" marL="0">
              <a:buNone/>
            </a:pPr>
            <a:r>
              <a:rPr lang="ar-SA" altLang="en-US" sz="1500" dirty="0">
                <a:solidFill>
                  <a:schemeClr val="tx2"/>
                </a:solidFill>
              </a:rPr>
              <a:t>طلب أونلاين (استلام وتوصيل) لمطعم بلا صالة</a:t>
            </a:r>
            <a:endParaRPr lang="ar-SA" sz="1500" dirty="0"/>
          </a:p>
        </p:txBody>
      </p:sp>
      <p:sp>
        <p:nvSpPr>
          <p:cNvPr id="28" name="plans-rule-4"/>
          <p:cNvSpPr/>
          <p:nvPr/>
        </p:nvSpPr>
        <p:spPr>
          <a:xfrm>
            <a:off x="777240" y="4197096"/>
            <a:ext cx="10637215" cy="0"/>
          </a:xfrm>
          <a:prstGeom prst="line">
            <a:avLst/>
          </a:prstGeom>
          <a:noFill/>
          <a:ln w="9525">
            <a:solidFill>
              <a:schemeClr val="accent6"/>
            </a:solidFill>
            <a:prstDash val="solid"/>
          </a:ln>
        </p:spPr>
      </p:sp>
      <p:sp>
        <p:nvSpPr>
          <p:cNvPr id="29" name="plans-4-1"/>
          <p:cNvSpPr txBox="1"/>
          <p:nvPr/>
        </p:nvSpPr>
        <p:spPr>
          <a:xfrm>
            <a:off x="9265615" y="4197096"/>
            <a:ext cx="2240280" cy="603504"/>
          </a:xfrm>
          <a:prstGeom prst="rect">
            <a:avLst/>
          </a:prstGeom>
          <a:noFill/>
          <a:ln/>
        </p:spPr>
        <p:txBody>
          <a:bodyPr wrap="square" lIns="0" tIns="0" rIns="0" bIns="0" rtlCol="0" anchor="ctr"/>
          <a:lstStyle/>
          <a:p>
            <a:pPr rtl="1" algn="r" indent="0" marL="0">
              <a:buNone/>
            </a:pPr>
            <a:r>
              <a:rPr lang="ar-SA" altLang="en-US" sz="1700" b="1" dirty="0">
                <a:solidFill>
                  <a:schemeClr val="tx1"/>
                </a:solidFill>
              </a:rPr>
              <a:t>إضافة التوصيل</a:t>
            </a:r>
            <a:endParaRPr lang="ar-SA" sz="1700" dirty="0"/>
          </a:p>
        </p:txBody>
      </p:sp>
      <p:sp>
        <p:nvSpPr>
          <p:cNvPr id="30" name="plans-4-2"/>
          <p:cNvSpPr txBox="1"/>
          <p:nvPr/>
        </p:nvSpPr>
        <p:spPr>
          <a:xfrm>
            <a:off x="7848295" y="4197096"/>
            <a:ext cx="1143000" cy="603504"/>
          </a:xfrm>
          <a:prstGeom prst="rect">
            <a:avLst/>
          </a:prstGeom>
          <a:noFill/>
          <a:ln/>
        </p:spPr>
        <p:txBody>
          <a:bodyPr wrap="square" lIns="0" tIns="0" rIns="0" bIns="0" rtlCol="0" anchor="ctr"/>
          <a:lstStyle/>
          <a:p>
            <a:pPr algn="r" indent="0" marL="0">
              <a:buNone/>
            </a:pPr>
            <a:r>
              <a:rPr lang="en-US" sz="1800" b="1" dirty="0">
                <a:solidFill>
                  <a:schemeClr val="accent3"/>
                </a:solidFill>
              </a:rPr>
              <a:t>‎$15</a:t>
            </a:r>
            <a:endParaRPr lang="en-US" sz="1800" dirty="0"/>
          </a:p>
        </p:txBody>
      </p:sp>
      <p:sp>
        <p:nvSpPr>
          <p:cNvPr id="31" name="plans-4-5"/>
          <p:cNvSpPr txBox="1"/>
          <p:nvPr/>
        </p:nvSpPr>
        <p:spPr>
          <a:xfrm>
            <a:off x="685800" y="4197096"/>
            <a:ext cx="4053535" cy="603504"/>
          </a:xfrm>
          <a:prstGeom prst="rect">
            <a:avLst/>
          </a:prstGeom>
          <a:noFill/>
          <a:ln/>
        </p:spPr>
        <p:txBody>
          <a:bodyPr wrap="square" lIns="0" tIns="0" rIns="0" bIns="0" rtlCol="0" anchor="ctr"/>
          <a:lstStyle/>
          <a:p>
            <a:pPr rtl="1" algn="r" indent="0" marL="0">
              <a:buNone/>
            </a:pPr>
            <a:r>
              <a:rPr lang="ar-SA" altLang="en-US" sz="1500" dirty="0">
                <a:solidFill>
                  <a:schemeClr val="tx2"/>
                </a:solidFill>
              </a:rPr>
              <a:t>طلب أونلاين، مع الأساسية أو الاحترافية</a:t>
            </a:r>
            <a:endParaRPr lang="ar-SA" sz="1500" dirty="0"/>
          </a:p>
        </p:txBody>
      </p:sp>
      <p:sp>
        <p:nvSpPr>
          <p:cNvPr id="32" name="plans-rule-5"/>
          <p:cNvSpPr/>
          <p:nvPr/>
        </p:nvSpPr>
        <p:spPr>
          <a:xfrm>
            <a:off x="777240" y="4800600"/>
            <a:ext cx="10637215" cy="0"/>
          </a:xfrm>
          <a:prstGeom prst="line">
            <a:avLst/>
          </a:prstGeom>
          <a:noFill/>
          <a:ln w="9525">
            <a:solidFill>
              <a:schemeClr val="accent6"/>
            </a:solidFill>
            <a:prstDash val="solid"/>
          </a:ln>
        </p:spPr>
      </p:sp>
      <p:sp>
        <p:nvSpPr>
          <p:cNvPr id="33" name="plans-5-1"/>
          <p:cNvSpPr txBox="1"/>
          <p:nvPr/>
        </p:nvSpPr>
        <p:spPr>
          <a:xfrm>
            <a:off x="9265615" y="4800600"/>
            <a:ext cx="2240280" cy="603504"/>
          </a:xfrm>
          <a:prstGeom prst="rect">
            <a:avLst/>
          </a:prstGeom>
          <a:noFill/>
          <a:ln/>
        </p:spPr>
        <p:txBody>
          <a:bodyPr wrap="square" lIns="0" tIns="0" rIns="0" bIns="0" rtlCol="0" anchor="ctr"/>
          <a:lstStyle/>
          <a:p>
            <a:pPr rtl="1" algn="r" indent="0" marL="0">
              <a:buNone/>
            </a:pPr>
            <a:r>
              <a:rPr lang="ar-SA" altLang="en-US" sz="1700" b="1" dirty="0">
                <a:solidFill>
                  <a:schemeClr val="tx1"/>
                </a:solidFill>
              </a:rPr>
              <a:t>إضافة الهوية الكاملة</a:t>
            </a:r>
            <a:endParaRPr lang="ar-SA" sz="1700" dirty="0"/>
          </a:p>
        </p:txBody>
      </p:sp>
      <p:sp>
        <p:nvSpPr>
          <p:cNvPr id="34" name="plans-5-2"/>
          <p:cNvSpPr txBox="1"/>
          <p:nvPr/>
        </p:nvSpPr>
        <p:spPr>
          <a:xfrm>
            <a:off x="7848295" y="4800600"/>
            <a:ext cx="1143000" cy="603504"/>
          </a:xfrm>
          <a:prstGeom prst="rect">
            <a:avLst/>
          </a:prstGeom>
          <a:noFill/>
          <a:ln/>
        </p:spPr>
        <p:txBody>
          <a:bodyPr wrap="square" lIns="0" tIns="0" rIns="0" bIns="0" rtlCol="0" anchor="ctr"/>
          <a:lstStyle/>
          <a:p>
            <a:pPr algn="r" indent="0" marL="0">
              <a:buNone/>
            </a:pPr>
            <a:r>
              <a:rPr lang="en-US" sz="1800" b="1" dirty="0">
                <a:solidFill>
                  <a:schemeClr val="accent3"/>
                </a:solidFill>
              </a:rPr>
              <a:t>‎$5</a:t>
            </a:r>
            <a:endParaRPr lang="en-US" sz="1800" dirty="0"/>
          </a:p>
        </p:txBody>
      </p:sp>
      <p:sp>
        <p:nvSpPr>
          <p:cNvPr id="35" name="plans-5-5"/>
          <p:cNvSpPr txBox="1"/>
          <p:nvPr/>
        </p:nvSpPr>
        <p:spPr>
          <a:xfrm>
            <a:off x="685800" y="4800600"/>
            <a:ext cx="4053535" cy="603504"/>
          </a:xfrm>
          <a:prstGeom prst="rect">
            <a:avLst/>
          </a:prstGeom>
          <a:noFill/>
          <a:ln/>
        </p:spPr>
        <p:txBody>
          <a:bodyPr wrap="square" lIns="0" tIns="0" rIns="0" bIns="0" rtlCol="0" anchor="ctr"/>
          <a:lstStyle/>
          <a:p>
            <a:pPr rtl="1" algn="r" indent="0" marL="0">
              <a:buNone/>
            </a:pPr>
            <a:r>
              <a:rPr lang="ar-SA" altLang="en-US" sz="1500" dirty="0">
                <a:solidFill>
                  <a:schemeClr val="tx2"/>
                </a:solidFill>
              </a:rPr>
              <a:t>مع الاحترافية: خط وألوان خاصة وإخفاء الشعار</a:t>
            </a:r>
            <a:endParaRPr lang="ar-SA" sz="1500" dirty="0"/>
          </a:p>
        </p:txBody>
      </p:sp>
      <p:sp>
        <p:nvSpPr>
          <p:cNvPr id="36" name="plans-note"/>
          <p:cNvSpPr txBox="1"/>
          <p:nvPr/>
        </p:nvSpPr>
        <p:spPr>
          <a:xfrm>
            <a:off x="548640" y="5577840"/>
            <a:ext cx="11094415" cy="548640"/>
          </a:xfrm>
          <a:prstGeom prst="rect">
            <a:avLst/>
          </a:prstGeom>
          <a:noFill/>
          <a:ln/>
        </p:spPr>
        <p:txBody>
          <a:bodyPr wrap="square" lIns="0" tIns="0" rIns="0" bIns="0" rtlCol="0" anchor="ctr"/>
          <a:lstStyle/>
          <a:p>
            <a:pPr rtl="1" algn="r" indent="0" marL="0">
              <a:buNone/>
            </a:pPr>
            <a:r>
              <a:rPr lang="ar-SA" altLang="en-US" sz="1500" dirty="0">
                <a:solidFill>
                  <a:schemeClr val="tx2"/>
                </a:solidFill>
              </a:rPr>
              <a:t>السنوي: ادفع 10 أشهر واحصل على 12 · تجربة مجانية 14 يومًا بلا صفحة دفع · بعدها مهلة 3 أيام، ثم وضع مقيّد تبقى فيه القراءة متاحة</a:t>
            </a:r>
            <a:endParaRPr lang="ar-SA" sz="1500" dirty="0"/>
          </a:p>
        </p:txBody>
      </p:sp>
      <p:sp>
        <p:nvSpPr>
          <p:cNvPr id="25" name="Slide Number Placeholder 0"/>
          <p:cNvSpPr>
            <a:spLocks noGrp="1"/>
          </p:cNvSpPr>
          <p:nvPr>
            <p:ph type="sldNum" sz="quarter" idx="4294967295"/>
          </p:nvPr>
        </p:nvSpPr>
        <p:spPr>
          <a:xfrm>
            <a:off x="11183112" y="6391656"/>
            <a:ext cx="457200" cy="237744"/>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4"/>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1" type="body" hasCustomPrompt="1"/>
          </p:nvPr>
        </p:nvSpPr>
        <p:spPr>
          <a:xfrm>
            <a:off x="548640" y="384048"/>
            <a:ext cx="11094415" cy="347472"/>
          </a:xfrm>
          <a:prstGeom prst="rect">
            <a:avLst/>
          </a:prstGeom>
          <a:noFill/>
          <a:ln/>
        </p:spPr>
        <p:txBody>
          <a:bodyPr wrap="square" lIns="0" tIns="0" rIns="0" bIns="0" rtlCol="0" anchor="ctr"/>
          <a:lstStyle/>
          <a:p>
            <a:pPr rtl="1" algn="r" indent="0" marL="0">
              <a:buNone/>
            </a:pPr>
            <a:r>
              <a:rPr lang="ar-SA" altLang="en-US" sz="1600" b="1" dirty="0">
                <a:solidFill>
                  <a:schemeClr val="accent3"/>
                </a:solidFill>
              </a:rPr>
              <a:t>احتياطي · خطة الوصول</a:t>
            </a:r>
            <a:endParaRPr lang="ar-SA" sz="1600" dirty="0"/>
          </a:p>
        </p:txBody>
      </p:sp>
      <p:sp>
        <p:nvSpPr>
          <p:cNvPr id="3" name="Text 0"/>
          <p:cNvSpPr/>
          <p:nvPr>
            <p:ph idx="102" type="title" hasCustomPrompt="1"/>
          </p:nvPr>
        </p:nvSpPr>
        <p:spPr>
          <a:xfrm>
            <a:off x="548640" y="749808"/>
            <a:ext cx="11094415" cy="749808"/>
          </a:xfrm>
          <a:prstGeom prst="rect">
            <a:avLst/>
          </a:prstGeom>
          <a:noFill/>
          <a:ln/>
        </p:spPr>
        <p:txBody>
          <a:bodyPr wrap="square" lIns="0" tIns="0" rIns="0" bIns="0" rtlCol="0" anchor="t"/>
          <a:lstStyle/>
          <a:p>
            <a:pPr rtl="1" algn="r" indent="0" marL="0">
              <a:buNone/>
            </a:pPr>
            <a:r>
              <a:rPr lang="ar-SA" altLang="en-US" sz="3600" dirty="0">
                <a:solidFill>
                  <a:schemeClr val="tx1"/>
                </a:solidFill>
              </a:rPr>
              <a:t>من التجربة للاشتراك في 3 خطوات</a:t>
            </a:r>
            <a:endParaRPr lang="ar-SA" sz="3600" dirty="0"/>
          </a:p>
        </p:txBody>
      </p:sp>
      <p:sp>
        <p:nvSpPr>
          <p:cNvPr id="4" name="step-1"/>
          <p:cNvSpPr/>
          <p:nvPr/>
        </p:nvSpPr>
        <p:spPr>
          <a:xfrm>
            <a:off x="8371637" y="1783080"/>
            <a:ext cx="3271418" cy="2743200"/>
          </a:xfrm>
          <a:prstGeom prst="roundRect">
            <a:avLst>
              <a:gd name="adj" fmla="val 5333"/>
            </a:avLst>
          </a:prstGeom>
          <a:solidFill>
            <a:schemeClr val="bg1"/>
          </a:solidFill>
          <a:ln w="9525">
            <a:solidFill>
              <a:schemeClr val="accent6"/>
            </a:solidFill>
            <a:prstDash val="solid"/>
          </a:ln>
          <a:effectLst>
            <a:outerShdw sx="100000" sy="100000" kx="0" ky="0" algn="bl" rotWithShape="0" blurRad="101600" dist="25400" dir="5400000">
              <a:srgbClr val="172331">
                <a:alpha val="8000"/>
              </a:srgbClr>
            </a:outerShdw>
          </a:effectLst>
        </p:spPr>
      </p:sp>
      <p:sp>
        <p:nvSpPr>
          <p:cNvPr id="5" name="step-num-bg-1"/>
          <p:cNvSpPr/>
          <p:nvPr/>
        </p:nvSpPr>
        <p:spPr>
          <a:xfrm>
            <a:off x="10710367" y="2075688"/>
            <a:ext cx="640080" cy="640080"/>
          </a:xfrm>
          <a:prstGeom prst="ellipse">
            <a:avLst/>
          </a:prstGeom>
          <a:solidFill>
            <a:schemeClr val="accent1"/>
          </a:solidFill>
          <a:ln/>
        </p:spPr>
      </p:sp>
      <p:sp>
        <p:nvSpPr>
          <p:cNvPr id="6" name="step-num-1"/>
          <p:cNvSpPr txBox="1"/>
          <p:nvPr/>
        </p:nvSpPr>
        <p:spPr>
          <a:xfrm>
            <a:off x="10710367" y="2075688"/>
            <a:ext cx="640080" cy="640080"/>
          </a:xfrm>
          <a:prstGeom prst="rect">
            <a:avLst/>
          </a:prstGeom>
          <a:noFill/>
          <a:ln/>
        </p:spPr>
        <p:txBody>
          <a:bodyPr wrap="square" lIns="0" tIns="0" rIns="0" bIns="0" rtlCol="0" anchor="ctr"/>
          <a:lstStyle/>
          <a:p>
            <a:pPr algn="ctr" indent="0" marL="0">
              <a:buNone/>
            </a:pPr>
            <a:r>
              <a:rPr lang="en-US" sz="2600" b="1" dirty="0">
                <a:solidFill>
                  <a:schemeClr val="tx1"/>
                </a:solidFill>
              </a:rPr>
              <a:t>‎1</a:t>
            </a:r>
            <a:endParaRPr lang="en-US" sz="2600" dirty="0"/>
          </a:p>
        </p:txBody>
      </p:sp>
      <p:pic>
        <p:nvPicPr>
          <p:cNvPr id="7" name="step-icon-1" descr="preencoded.png">    </p:cNvPr>
          <p:cNvPicPr>
            <a:picLocks noChangeAspect="1"/>
          </p:cNvPicPr>
          <p:nvPr/>
        </p:nvPicPr>
        <p:blipFill>
          <a:blip r:embed="rId1"/>
          <a:stretch>
            <a:fillRect/>
          </a:stretch>
        </p:blipFill>
        <p:spPr>
          <a:xfrm>
            <a:off x="8664245" y="2194560"/>
            <a:ext cx="402336" cy="402336"/>
          </a:xfrm>
          <a:prstGeom prst="rect">
            <a:avLst/>
          </a:prstGeom>
        </p:spPr>
      </p:pic>
      <p:sp>
        <p:nvSpPr>
          <p:cNvPr id="8" name="step-head-1"/>
          <p:cNvSpPr txBox="1"/>
          <p:nvPr/>
        </p:nvSpPr>
        <p:spPr>
          <a:xfrm>
            <a:off x="8664245" y="2926080"/>
            <a:ext cx="2686202" cy="457200"/>
          </a:xfrm>
          <a:prstGeom prst="rect">
            <a:avLst/>
          </a:prstGeom>
          <a:noFill/>
          <a:ln/>
        </p:spPr>
        <p:txBody>
          <a:bodyPr wrap="square" lIns="0" tIns="0" rIns="0" bIns="0" rtlCol="0" anchor="t"/>
          <a:lstStyle/>
          <a:p>
            <a:pPr rtl="1" algn="r" indent="0" marL="0">
              <a:buNone/>
            </a:pPr>
            <a:r>
              <a:rPr lang="ar-SA" altLang="en-US" sz="2100" b="1" dirty="0">
                <a:solidFill>
                  <a:schemeClr val="tx1"/>
                </a:solidFill>
              </a:rPr>
              <a:t>جرّبه بدون تسجيل</a:t>
            </a:r>
            <a:endParaRPr lang="ar-SA" sz="2100" dirty="0"/>
          </a:p>
        </p:txBody>
      </p:sp>
      <p:sp>
        <p:nvSpPr>
          <p:cNvPr id="9" name="step-body-1"/>
          <p:cNvSpPr txBox="1"/>
          <p:nvPr/>
        </p:nvSpPr>
        <p:spPr>
          <a:xfrm>
            <a:off x="8664245" y="3474720"/>
            <a:ext cx="2686202" cy="914400"/>
          </a:xfrm>
          <a:prstGeom prst="rect">
            <a:avLst/>
          </a:prstGeom>
          <a:noFill/>
          <a:ln/>
        </p:spPr>
        <p:txBody>
          <a:bodyPr wrap="square" lIns="0" tIns="0" rIns="0" bIns="0" rtlCol="0" anchor="t"/>
          <a:lstStyle/>
          <a:p>
            <a:pPr rtl="1" algn="r" indent="0" marL="0">
              <a:buNone/>
            </a:pPr>
            <a:r>
              <a:rPr lang="ar-SA" altLang="en-US" sz="1700" dirty="0">
                <a:solidFill>
                  <a:schemeClr val="tx2"/>
                </a:solidFill>
              </a:rPr>
              <a:t>مطعم تجريبي حي لكل دور: مالك، مطبخ، كاشير، نادل، وزبون</a:t>
            </a:r>
            <a:endParaRPr lang="ar-SA" sz="1700" dirty="0"/>
          </a:p>
        </p:txBody>
      </p:sp>
      <p:pic>
        <p:nvPicPr>
          <p:cNvPr id="10" name="step-link-1" descr="preencoded.png">    </p:cNvPr>
          <p:cNvPicPr>
            <a:picLocks noChangeAspect="1"/>
          </p:cNvPicPr>
          <p:nvPr/>
        </p:nvPicPr>
        <p:blipFill>
          <a:blip r:embed="rId2"/>
          <a:stretch>
            <a:fillRect/>
          </a:stretch>
        </p:blipFill>
        <p:spPr>
          <a:xfrm>
            <a:off x="7887005" y="2990088"/>
            <a:ext cx="329184" cy="329184"/>
          </a:xfrm>
          <a:prstGeom prst="rect">
            <a:avLst/>
          </a:prstGeom>
        </p:spPr>
      </p:pic>
      <p:sp>
        <p:nvSpPr>
          <p:cNvPr id="11" name="step-2"/>
          <p:cNvSpPr/>
          <p:nvPr/>
        </p:nvSpPr>
        <p:spPr>
          <a:xfrm>
            <a:off x="4460138" y="1783080"/>
            <a:ext cx="3271418" cy="2743200"/>
          </a:xfrm>
          <a:prstGeom prst="roundRect">
            <a:avLst>
              <a:gd name="adj" fmla="val 5333"/>
            </a:avLst>
          </a:prstGeom>
          <a:solidFill>
            <a:schemeClr val="bg1"/>
          </a:solidFill>
          <a:ln w="9525">
            <a:solidFill>
              <a:schemeClr val="accent6"/>
            </a:solidFill>
            <a:prstDash val="solid"/>
          </a:ln>
          <a:effectLst>
            <a:outerShdw sx="100000" sy="100000" kx="0" ky="0" algn="bl" rotWithShape="0" blurRad="101600" dist="25400" dir="5400000">
              <a:srgbClr val="172331">
                <a:alpha val="8000"/>
              </a:srgbClr>
            </a:outerShdw>
          </a:effectLst>
        </p:spPr>
      </p:sp>
      <p:sp>
        <p:nvSpPr>
          <p:cNvPr id="12" name="step-num-bg-2"/>
          <p:cNvSpPr/>
          <p:nvPr/>
        </p:nvSpPr>
        <p:spPr>
          <a:xfrm>
            <a:off x="6798869" y="2075688"/>
            <a:ext cx="640080" cy="640080"/>
          </a:xfrm>
          <a:prstGeom prst="ellipse">
            <a:avLst/>
          </a:prstGeom>
          <a:solidFill>
            <a:schemeClr val="accent1"/>
          </a:solidFill>
          <a:ln/>
        </p:spPr>
      </p:sp>
      <p:sp>
        <p:nvSpPr>
          <p:cNvPr id="13" name="step-num-2"/>
          <p:cNvSpPr txBox="1"/>
          <p:nvPr/>
        </p:nvSpPr>
        <p:spPr>
          <a:xfrm>
            <a:off x="6798869" y="2075688"/>
            <a:ext cx="640080" cy="640080"/>
          </a:xfrm>
          <a:prstGeom prst="rect">
            <a:avLst/>
          </a:prstGeom>
          <a:noFill/>
          <a:ln/>
        </p:spPr>
        <p:txBody>
          <a:bodyPr wrap="square" lIns="0" tIns="0" rIns="0" bIns="0" rtlCol="0" anchor="ctr"/>
          <a:lstStyle/>
          <a:p>
            <a:pPr algn="ctr" indent="0" marL="0">
              <a:buNone/>
            </a:pPr>
            <a:r>
              <a:rPr lang="en-US" sz="2600" b="1" dirty="0">
                <a:solidFill>
                  <a:schemeClr val="tx1"/>
                </a:solidFill>
              </a:rPr>
              <a:t>‎2</a:t>
            </a:r>
            <a:endParaRPr lang="en-US" sz="2600" dirty="0"/>
          </a:p>
        </p:txBody>
      </p:sp>
      <p:pic>
        <p:nvPicPr>
          <p:cNvPr id="14" name="step-icon-2" descr="preencoded.png">    </p:cNvPr>
          <p:cNvPicPr>
            <a:picLocks noChangeAspect="1"/>
          </p:cNvPicPr>
          <p:nvPr/>
        </p:nvPicPr>
        <p:blipFill>
          <a:blip r:embed="rId3"/>
          <a:stretch>
            <a:fillRect/>
          </a:stretch>
        </p:blipFill>
        <p:spPr>
          <a:xfrm>
            <a:off x="4752746" y="2194560"/>
            <a:ext cx="402336" cy="402336"/>
          </a:xfrm>
          <a:prstGeom prst="rect">
            <a:avLst/>
          </a:prstGeom>
        </p:spPr>
      </p:pic>
      <p:sp>
        <p:nvSpPr>
          <p:cNvPr id="15" name="step-head-2"/>
          <p:cNvSpPr txBox="1"/>
          <p:nvPr/>
        </p:nvSpPr>
        <p:spPr>
          <a:xfrm>
            <a:off x="4752746" y="2926080"/>
            <a:ext cx="2686202" cy="457200"/>
          </a:xfrm>
          <a:prstGeom prst="rect">
            <a:avLst/>
          </a:prstGeom>
          <a:noFill/>
          <a:ln/>
        </p:spPr>
        <p:txBody>
          <a:bodyPr wrap="square" lIns="0" tIns="0" rIns="0" bIns="0" rtlCol="0" anchor="t"/>
          <a:lstStyle/>
          <a:p>
            <a:pPr rtl="1" algn="r" indent="0" marL="0">
              <a:buNone/>
            </a:pPr>
            <a:r>
              <a:rPr lang="ar-SA" altLang="en-US" sz="2100" b="1" dirty="0">
                <a:solidFill>
                  <a:schemeClr val="tx1"/>
                </a:solidFill>
              </a:rPr>
              <a:t>14 يومًا مجانًا</a:t>
            </a:r>
            <a:endParaRPr lang="ar-SA" sz="2100" dirty="0"/>
          </a:p>
        </p:txBody>
      </p:sp>
      <p:sp>
        <p:nvSpPr>
          <p:cNvPr id="16" name="step-body-2"/>
          <p:cNvSpPr txBox="1"/>
          <p:nvPr/>
        </p:nvSpPr>
        <p:spPr>
          <a:xfrm>
            <a:off x="4752746" y="3474720"/>
            <a:ext cx="2686202" cy="914400"/>
          </a:xfrm>
          <a:prstGeom prst="rect">
            <a:avLst/>
          </a:prstGeom>
          <a:noFill/>
          <a:ln/>
        </p:spPr>
        <p:txBody>
          <a:bodyPr wrap="square" lIns="0" tIns="0" rIns="0" bIns="0" rtlCol="0" anchor="t"/>
          <a:lstStyle/>
          <a:p>
            <a:pPr rtl="1" algn="r" indent="0" marL="0">
              <a:buNone/>
            </a:pPr>
            <a:r>
              <a:rPr lang="ar-SA" altLang="en-US" sz="1700" dirty="0">
                <a:solidFill>
                  <a:schemeClr val="tx2"/>
                </a:solidFill>
              </a:rPr>
              <a:t>كل الميزات مفتوحة، وبلا صفحة دفع عند التسجيل</a:t>
            </a:r>
            <a:endParaRPr lang="ar-SA" sz="1700" dirty="0"/>
          </a:p>
        </p:txBody>
      </p:sp>
      <p:pic>
        <p:nvPicPr>
          <p:cNvPr id="17" name="step-link-2" descr="preencoded.png">    </p:cNvPr>
          <p:cNvPicPr>
            <a:picLocks noChangeAspect="1"/>
          </p:cNvPicPr>
          <p:nvPr/>
        </p:nvPicPr>
        <p:blipFill>
          <a:blip r:embed="rId4"/>
          <a:stretch>
            <a:fillRect/>
          </a:stretch>
        </p:blipFill>
        <p:spPr>
          <a:xfrm>
            <a:off x="3975506" y="2990088"/>
            <a:ext cx="329184" cy="329184"/>
          </a:xfrm>
          <a:prstGeom prst="rect">
            <a:avLst/>
          </a:prstGeom>
        </p:spPr>
      </p:pic>
      <p:sp>
        <p:nvSpPr>
          <p:cNvPr id="18" name="step-3"/>
          <p:cNvSpPr/>
          <p:nvPr/>
        </p:nvSpPr>
        <p:spPr>
          <a:xfrm>
            <a:off x="548640" y="1783080"/>
            <a:ext cx="3271418" cy="2743200"/>
          </a:xfrm>
          <a:prstGeom prst="roundRect">
            <a:avLst>
              <a:gd name="adj" fmla="val 5333"/>
            </a:avLst>
          </a:prstGeom>
          <a:solidFill>
            <a:schemeClr val="bg1"/>
          </a:solidFill>
          <a:ln w="9525">
            <a:solidFill>
              <a:schemeClr val="accent6"/>
            </a:solidFill>
            <a:prstDash val="solid"/>
          </a:ln>
          <a:effectLst>
            <a:outerShdw sx="100000" sy="100000" kx="0" ky="0" algn="bl" rotWithShape="0" blurRad="101600" dist="25400" dir="5400000">
              <a:srgbClr val="172331">
                <a:alpha val="8000"/>
              </a:srgbClr>
            </a:outerShdw>
          </a:effectLst>
        </p:spPr>
      </p:sp>
      <p:sp>
        <p:nvSpPr>
          <p:cNvPr id="19" name="step-num-bg-3"/>
          <p:cNvSpPr/>
          <p:nvPr/>
        </p:nvSpPr>
        <p:spPr>
          <a:xfrm>
            <a:off x="2887370" y="2075688"/>
            <a:ext cx="640080" cy="640080"/>
          </a:xfrm>
          <a:prstGeom prst="ellipse">
            <a:avLst/>
          </a:prstGeom>
          <a:solidFill>
            <a:schemeClr val="accent1"/>
          </a:solidFill>
          <a:ln/>
        </p:spPr>
      </p:sp>
      <p:sp>
        <p:nvSpPr>
          <p:cNvPr id="20" name="step-num-3"/>
          <p:cNvSpPr txBox="1"/>
          <p:nvPr/>
        </p:nvSpPr>
        <p:spPr>
          <a:xfrm>
            <a:off x="2887370" y="2075688"/>
            <a:ext cx="640080" cy="640080"/>
          </a:xfrm>
          <a:prstGeom prst="rect">
            <a:avLst/>
          </a:prstGeom>
          <a:noFill/>
          <a:ln/>
        </p:spPr>
        <p:txBody>
          <a:bodyPr wrap="square" lIns="0" tIns="0" rIns="0" bIns="0" rtlCol="0" anchor="ctr"/>
          <a:lstStyle/>
          <a:p>
            <a:pPr algn="ctr" indent="0" marL="0">
              <a:buNone/>
            </a:pPr>
            <a:r>
              <a:rPr lang="en-US" sz="2600" b="1" dirty="0">
                <a:solidFill>
                  <a:schemeClr val="tx1"/>
                </a:solidFill>
              </a:rPr>
              <a:t>‎3</a:t>
            </a:r>
            <a:endParaRPr lang="en-US" sz="2600" dirty="0"/>
          </a:p>
        </p:txBody>
      </p:sp>
      <p:pic>
        <p:nvPicPr>
          <p:cNvPr id="21" name="step-icon-3" descr="preencoded.png">    </p:cNvPr>
          <p:cNvPicPr>
            <a:picLocks noChangeAspect="1"/>
          </p:cNvPicPr>
          <p:nvPr/>
        </p:nvPicPr>
        <p:blipFill>
          <a:blip r:embed="rId5"/>
          <a:stretch>
            <a:fillRect/>
          </a:stretch>
        </p:blipFill>
        <p:spPr>
          <a:xfrm>
            <a:off x="841248" y="2194560"/>
            <a:ext cx="402336" cy="402336"/>
          </a:xfrm>
          <a:prstGeom prst="rect">
            <a:avLst/>
          </a:prstGeom>
        </p:spPr>
      </p:pic>
      <p:sp>
        <p:nvSpPr>
          <p:cNvPr id="22" name="step-head-3"/>
          <p:cNvSpPr txBox="1"/>
          <p:nvPr/>
        </p:nvSpPr>
        <p:spPr>
          <a:xfrm>
            <a:off x="841248" y="2926080"/>
            <a:ext cx="2686202" cy="457200"/>
          </a:xfrm>
          <a:prstGeom prst="rect">
            <a:avLst/>
          </a:prstGeom>
          <a:noFill/>
          <a:ln/>
        </p:spPr>
        <p:txBody>
          <a:bodyPr wrap="square" lIns="0" tIns="0" rIns="0" bIns="0" rtlCol="0" anchor="t"/>
          <a:lstStyle/>
          <a:p>
            <a:pPr rtl="1" algn="r" indent="0" marL="0">
              <a:buNone/>
            </a:pPr>
            <a:r>
              <a:rPr lang="ar-SA" altLang="en-US" sz="2100" b="1" dirty="0">
                <a:solidFill>
                  <a:schemeClr val="tx1"/>
                </a:solidFill>
              </a:rPr>
              <a:t>الاشتراك</a:t>
            </a:r>
            <a:endParaRPr lang="ar-SA" sz="2100" dirty="0"/>
          </a:p>
        </p:txBody>
      </p:sp>
      <p:sp>
        <p:nvSpPr>
          <p:cNvPr id="23" name="step-body-3"/>
          <p:cNvSpPr txBox="1"/>
          <p:nvPr/>
        </p:nvSpPr>
        <p:spPr>
          <a:xfrm>
            <a:off x="841248" y="3474720"/>
            <a:ext cx="2686202" cy="914400"/>
          </a:xfrm>
          <a:prstGeom prst="rect">
            <a:avLst/>
          </a:prstGeom>
          <a:noFill/>
          <a:ln/>
        </p:spPr>
        <p:txBody>
          <a:bodyPr wrap="square" lIns="0" tIns="0" rIns="0" bIns="0" rtlCol="0" anchor="t"/>
          <a:lstStyle/>
          <a:p>
            <a:pPr rtl="1" algn="r" indent="0" marL="0">
              <a:buNone/>
            </a:pPr>
            <a:r>
              <a:rPr lang="ar-SA" altLang="en-US" sz="1700" dirty="0">
                <a:solidFill>
                  <a:schemeClr val="tx2"/>
                </a:solidFill>
              </a:rPr>
              <a:t>شهري أو سنوي — والسنوي 10 أشهر بسعر 12</a:t>
            </a:r>
            <a:endParaRPr lang="ar-SA" sz="1700" dirty="0"/>
          </a:p>
        </p:txBody>
      </p:sp>
      <p:sp>
        <p:nvSpPr>
          <p:cNvPr id="24" name="bridge"/>
          <p:cNvSpPr/>
          <p:nvPr/>
        </p:nvSpPr>
        <p:spPr>
          <a:xfrm>
            <a:off x="548640" y="4937760"/>
            <a:ext cx="11094415" cy="566928"/>
          </a:xfrm>
          <a:prstGeom prst="roundRect">
            <a:avLst>
              <a:gd name="adj" fmla="val 25806"/>
            </a:avLst>
          </a:prstGeom>
          <a:solidFill>
            <a:schemeClr val="accent1">
              <a:alpha val="13000"/>
            </a:schemeClr>
          </a:solidFill>
          <a:ln/>
        </p:spPr>
      </p:sp>
      <p:pic>
        <p:nvPicPr>
          <p:cNvPr id="25" name="bridge-arrow" descr="preencoded.png">    </p:cNvPr>
          <p:cNvPicPr>
            <a:picLocks noChangeAspect="1"/>
          </p:cNvPicPr>
          <p:nvPr/>
        </p:nvPicPr>
        <p:blipFill>
          <a:blip r:embed="rId6"/>
          <a:stretch>
            <a:fillRect/>
          </a:stretch>
        </p:blipFill>
        <p:spPr>
          <a:xfrm>
            <a:off x="841248" y="5084064"/>
            <a:ext cx="274320" cy="274320"/>
          </a:xfrm>
          <a:prstGeom prst="rect">
            <a:avLst/>
          </a:prstGeom>
        </p:spPr>
      </p:pic>
      <p:sp>
        <p:nvSpPr>
          <p:cNvPr id="26" name="bridge-text"/>
          <p:cNvSpPr txBox="1"/>
          <p:nvPr/>
        </p:nvSpPr>
        <p:spPr>
          <a:xfrm>
            <a:off x="1371600" y="4937760"/>
            <a:ext cx="9997135" cy="566928"/>
          </a:xfrm>
          <a:prstGeom prst="rect">
            <a:avLst/>
          </a:prstGeom>
          <a:noFill/>
          <a:ln/>
        </p:spPr>
        <p:txBody>
          <a:bodyPr wrap="square" lIns="0" tIns="0" rIns="0" bIns="0" rtlCol="0" anchor="ctr"/>
          <a:lstStyle/>
          <a:p>
            <a:pPr rtl="1" algn="r" indent="0" marL="0">
              <a:buNone/>
            </a:pPr>
            <a:r>
              <a:rPr lang="ar-SA" altLang="en-US" sz="1900" b="1" dirty="0">
                <a:solidFill>
                  <a:schemeClr val="tx2"/>
                </a:solidFill>
              </a:rPr>
              <a:t>أول هدف: المطاعم والمقاهي اللي بتعيد افتتاحها في غزة، والمطابخ اللي بتشتغل توصيل فقط</a:t>
            </a:r>
            <a:endParaRPr lang="ar-SA" sz="1900" dirty="0"/>
          </a:p>
        </p:txBody>
      </p:sp>
      <p:sp>
        <p:nvSpPr>
          <p:cNvPr id="25" name="Slide Number Placeholder 0"/>
          <p:cNvSpPr>
            <a:spLocks noGrp="1"/>
          </p:cNvSpPr>
          <p:nvPr>
            <p:ph type="sldNum" sz="quarter" idx="4294967295"/>
          </p:nvPr>
        </p:nvSpPr>
        <p:spPr>
          <a:xfrm>
            <a:off x="11183112" y="6391656"/>
            <a:ext cx="457200" cy="237744"/>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4"/>
                </a:solidFill>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ph idx="101" type="body" hasCustomPrompt="1"/>
          </p:nvPr>
        </p:nvSpPr>
        <p:spPr>
          <a:xfrm>
            <a:off x="548640" y="384048"/>
            <a:ext cx="11094415" cy="347472"/>
          </a:xfrm>
          <a:prstGeom prst="rect">
            <a:avLst/>
          </a:prstGeom>
          <a:noFill/>
          <a:ln/>
        </p:spPr>
        <p:txBody>
          <a:bodyPr wrap="square" lIns="0" tIns="0" rIns="0" bIns="0" rtlCol="0" anchor="ctr"/>
          <a:lstStyle/>
          <a:p>
            <a:pPr rtl="1" algn="r" indent="0" marL="0">
              <a:buNone/>
            </a:pPr>
            <a:r>
              <a:rPr lang="ar-SA" altLang="en-US" sz="1600" b="1" dirty="0">
                <a:solidFill>
                  <a:schemeClr val="accent3"/>
                </a:solidFill>
              </a:rPr>
              <a:t>احتياطي · المصادر</a:t>
            </a:r>
            <a:endParaRPr lang="ar-SA" sz="1600" dirty="0"/>
          </a:p>
        </p:txBody>
      </p:sp>
      <p:sp>
        <p:nvSpPr>
          <p:cNvPr id="3" name="Text 0"/>
          <p:cNvSpPr/>
          <p:nvPr>
            <p:ph idx="102" type="title" hasCustomPrompt="1"/>
          </p:nvPr>
        </p:nvSpPr>
        <p:spPr>
          <a:xfrm>
            <a:off x="548640" y="749808"/>
            <a:ext cx="11094415" cy="749808"/>
          </a:xfrm>
          <a:prstGeom prst="rect">
            <a:avLst/>
          </a:prstGeom>
          <a:noFill/>
          <a:ln/>
        </p:spPr>
        <p:txBody>
          <a:bodyPr wrap="square" lIns="0" tIns="0" rIns="0" bIns="0" rtlCol="0" anchor="t"/>
          <a:lstStyle/>
          <a:p>
            <a:pPr rtl="1" algn="r" indent="0" marL="0">
              <a:buNone/>
            </a:pPr>
            <a:r>
              <a:rPr lang="ar-SA" altLang="en-US" sz="3600" dirty="0">
                <a:solidFill>
                  <a:schemeClr val="tx1"/>
                </a:solidFill>
              </a:rPr>
              <a:t>مصدر كل رقم في العرض</a:t>
            </a:r>
            <a:endParaRPr lang="ar-SA" sz="3600" dirty="0"/>
          </a:p>
        </p:txBody>
      </p:sp>
      <p:sp>
        <p:nvSpPr>
          <p:cNvPr id="4" name="refs"/>
          <p:cNvSpPr/>
          <p:nvPr/>
        </p:nvSpPr>
        <p:spPr>
          <a:xfrm>
            <a:off x="548640" y="1737360"/>
            <a:ext cx="11094415" cy="4462272"/>
          </a:xfrm>
          <a:prstGeom prst="roundRect">
            <a:avLst>
              <a:gd name="adj" fmla="val 3279"/>
            </a:avLst>
          </a:prstGeom>
          <a:solidFill>
            <a:schemeClr val="bg1"/>
          </a:solidFill>
          <a:ln w="9525">
            <a:solidFill>
              <a:schemeClr val="accent6"/>
            </a:solidFill>
            <a:prstDash val="solid"/>
          </a:ln>
          <a:effectLst>
            <a:outerShdw sx="100000" sy="100000" kx="0" ky="0" algn="bl" rotWithShape="0" blurRad="101600" dist="25400" dir="5400000">
              <a:srgbClr val="172331">
                <a:alpha val="8000"/>
              </a:srgbClr>
            </a:outerShdw>
          </a:effectLst>
        </p:spPr>
      </p:sp>
      <p:sp>
        <p:nvSpPr>
          <p:cNvPr id="5" name="ref-num-1"/>
          <p:cNvSpPr txBox="1"/>
          <p:nvPr/>
        </p:nvSpPr>
        <p:spPr>
          <a:xfrm>
            <a:off x="11048695" y="1828800"/>
            <a:ext cx="320040" cy="384048"/>
          </a:xfrm>
          <a:prstGeom prst="rect">
            <a:avLst/>
          </a:prstGeom>
          <a:noFill/>
          <a:ln/>
        </p:spPr>
        <p:txBody>
          <a:bodyPr wrap="square" lIns="0" tIns="0" rIns="0" bIns="0" rtlCol="0" anchor="ctr"/>
          <a:lstStyle/>
          <a:p>
            <a:pPr algn="ctr" indent="0" marL="0">
              <a:buNone/>
            </a:pPr>
            <a:r>
              <a:rPr lang="en-US" sz="1600" b="1" dirty="0">
                <a:solidFill>
                  <a:schemeClr val="accent3"/>
                </a:solidFill>
              </a:rPr>
              <a:t>‎1</a:t>
            </a:r>
            <a:endParaRPr lang="en-US" sz="1600" dirty="0"/>
          </a:p>
        </p:txBody>
      </p:sp>
      <p:sp>
        <p:nvSpPr>
          <p:cNvPr id="6" name="ref-title-1"/>
          <p:cNvSpPr txBox="1"/>
          <p:nvPr/>
        </p:nvSpPr>
        <p:spPr>
          <a:xfrm>
            <a:off x="822960" y="1828800"/>
            <a:ext cx="10134295" cy="384048"/>
          </a:xfrm>
          <a:prstGeom prst="rect">
            <a:avLst/>
          </a:prstGeom>
          <a:noFill/>
          <a:ln/>
        </p:spPr>
        <p:txBody>
          <a:bodyPr wrap="square" lIns="0" tIns="0" rIns="0" bIns="0" rtlCol="0" anchor="ctr"/>
          <a:lstStyle/>
          <a:p>
            <a:pPr rtl="1" algn="r" indent="0" marL="0">
              <a:buNone/>
            </a:pPr>
            <a:r>
              <a:rPr lang="ar-SA" altLang="en-US" sz="1400" b="1" dirty="0">
                <a:solidFill>
                  <a:schemeClr val="tx1"/>
                </a:solidFill>
              </a:rPr>
              <a:t>Union (2023) — استطلاع الطلب والدفع عبر الجوال، 1,000+ بالغ أمريكي</a:t>
            </a:r>
            <a:r>
              <a:rPr lang="ar-SA" altLang="en-US" sz="1400" dirty="0">
                <a:solidFill>
                  <a:schemeClr val="accent3"/>
                </a:solidFill>
              </a:rPr>
              <a:t>  —  10 دقائق انتظار · 22% يغادرون · 38% يقلّلون البقشيش</a:t>
            </a:r>
            <a:endParaRPr lang="ar-SA" sz="1400" dirty="0"/>
          </a:p>
        </p:txBody>
      </p:sp>
      <p:sp>
        <p:nvSpPr>
          <p:cNvPr id="7" name="ref-url-1"/>
          <p:cNvSpPr txBox="1"/>
          <p:nvPr/>
        </p:nvSpPr>
        <p:spPr>
          <a:xfrm>
            <a:off x="822960" y="2176272"/>
            <a:ext cx="10134295" cy="292608"/>
          </a:xfrm>
          <a:prstGeom prst="rect">
            <a:avLst/>
          </a:prstGeom>
          <a:noFill/>
          <a:ln/>
        </p:spPr>
        <p:txBody>
          <a:bodyPr wrap="square" lIns="0" tIns="0" rIns="0" bIns="0" rtlCol="0" anchor="ctr"/>
          <a:lstStyle/>
          <a:p>
            <a:pPr algn="r" indent="0" marL="0">
              <a:buNone/>
            </a:pPr>
            <a:r>
              <a:rPr lang="ar-SA" altLang="en-US" sz="1100" dirty="0">
                <a:solidFill>
                  <a:schemeClr val="accent4"/>
                </a:solidFill>
              </a:rPr>
              <a:t>prnewswire.com — New Consumer Survey Signals Mobile Ordering and Payment in Bars and Restaurants is Here to Stay</a:t>
            </a:r>
            <a:endParaRPr lang="ar-SA" sz="1100" dirty="0"/>
          </a:p>
        </p:txBody>
      </p:sp>
      <p:sp>
        <p:nvSpPr>
          <p:cNvPr id="8" name="ref-rule-2"/>
          <p:cNvSpPr/>
          <p:nvPr/>
        </p:nvSpPr>
        <p:spPr>
          <a:xfrm>
            <a:off x="777240" y="2523744"/>
            <a:ext cx="10637215" cy="0"/>
          </a:xfrm>
          <a:prstGeom prst="line">
            <a:avLst/>
          </a:prstGeom>
          <a:noFill/>
          <a:ln w="9525">
            <a:solidFill>
              <a:schemeClr val="accent6"/>
            </a:solidFill>
            <a:prstDash val="solid"/>
          </a:ln>
        </p:spPr>
      </p:sp>
      <p:sp>
        <p:nvSpPr>
          <p:cNvPr id="9" name="ref-num-2"/>
          <p:cNvSpPr txBox="1"/>
          <p:nvPr/>
        </p:nvSpPr>
        <p:spPr>
          <a:xfrm>
            <a:off x="11048695" y="2542032"/>
            <a:ext cx="320040" cy="384048"/>
          </a:xfrm>
          <a:prstGeom prst="rect">
            <a:avLst/>
          </a:prstGeom>
          <a:noFill/>
          <a:ln/>
        </p:spPr>
        <p:txBody>
          <a:bodyPr wrap="square" lIns="0" tIns="0" rIns="0" bIns="0" rtlCol="0" anchor="ctr"/>
          <a:lstStyle/>
          <a:p>
            <a:pPr algn="ctr" indent="0" marL="0">
              <a:buNone/>
            </a:pPr>
            <a:r>
              <a:rPr lang="en-US" sz="1600" b="1" dirty="0">
                <a:solidFill>
                  <a:schemeClr val="accent3"/>
                </a:solidFill>
              </a:rPr>
              <a:t>‎2</a:t>
            </a:r>
            <a:endParaRPr lang="en-US" sz="1600" dirty="0"/>
          </a:p>
        </p:txBody>
      </p:sp>
      <p:sp>
        <p:nvSpPr>
          <p:cNvPr id="10" name="ref-title-2"/>
          <p:cNvSpPr txBox="1"/>
          <p:nvPr/>
        </p:nvSpPr>
        <p:spPr>
          <a:xfrm>
            <a:off x="822960" y="2542032"/>
            <a:ext cx="10134295" cy="384048"/>
          </a:xfrm>
          <a:prstGeom prst="rect">
            <a:avLst/>
          </a:prstGeom>
          <a:noFill/>
          <a:ln/>
        </p:spPr>
        <p:txBody>
          <a:bodyPr wrap="square" lIns="0" tIns="0" rIns="0" bIns="0" rtlCol="0" anchor="ctr"/>
          <a:lstStyle/>
          <a:p>
            <a:pPr rtl="1" algn="r" indent="0" marL="0">
              <a:buNone/>
            </a:pPr>
            <a:r>
              <a:rPr lang="ar-SA" altLang="en-US" sz="1400" b="1" dirty="0">
                <a:solidFill>
                  <a:schemeClr val="tx1"/>
                </a:solidFill>
              </a:rPr>
              <a:t>Access Now (2023) — Palestine Unplugged</a:t>
            </a:r>
            <a:r>
              <a:rPr lang="ar-SA" altLang="en-US" sz="1400" dirty="0">
                <a:solidFill>
                  <a:schemeClr val="accent3"/>
                </a:solidFill>
              </a:rPr>
              <a:t>  —  36 ساعة انقطاع كامل للاتصالات في غزة</a:t>
            </a:r>
            <a:endParaRPr lang="ar-SA" sz="1400" dirty="0"/>
          </a:p>
        </p:txBody>
      </p:sp>
      <p:sp>
        <p:nvSpPr>
          <p:cNvPr id="11" name="ref-url-2"/>
          <p:cNvSpPr txBox="1"/>
          <p:nvPr/>
        </p:nvSpPr>
        <p:spPr>
          <a:xfrm>
            <a:off x="822960" y="2889504"/>
            <a:ext cx="10134295" cy="292608"/>
          </a:xfrm>
          <a:prstGeom prst="rect">
            <a:avLst/>
          </a:prstGeom>
          <a:noFill/>
          <a:ln/>
        </p:spPr>
        <p:txBody>
          <a:bodyPr wrap="square" lIns="0" tIns="0" rIns="0" bIns="0" rtlCol="0" anchor="ctr"/>
          <a:lstStyle/>
          <a:p>
            <a:pPr algn="r" indent="0" marL="0">
              <a:buNone/>
            </a:pPr>
            <a:r>
              <a:rPr lang="ar-SA" altLang="en-US" sz="1100" dirty="0">
                <a:solidFill>
                  <a:schemeClr val="accent4"/>
                </a:solidFill>
              </a:rPr>
              <a:t>accessnow.org/publication/palestine-unplugged</a:t>
            </a:r>
            <a:endParaRPr lang="ar-SA" sz="1100" dirty="0"/>
          </a:p>
        </p:txBody>
      </p:sp>
      <p:sp>
        <p:nvSpPr>
          <p:cNvPr id="12" name="ref-rule-3"/>
          <p:cNvSpPr/>
          <p:nvPr/>
        </p:nvSpPr>
        <p:spPr>
          <a:xfrm>
            <a:off x="777240" y="3236976"/>
            <a:ext cx="10637215" cy="0"/>
          </a:xfrm>
          <a:prstGeom prst="line">
            <a:avLst/>
          </a:prstGeom>
          <a:noFill/>
          <a:ln w="9525">
            <a:solidFill>
              <a:schemeClr val="accent6"/>
            </a:solidFill>
            <a:prstDash val="solid"/>
          </a:ln>
        </p:spPr>
      </p:sp>
      <p:sp>
        <p:nvSpPr>
          <p:cNvPr id="13" name="ref-num-3"/>
          <p:cNvSpPr txBox="1"/>
          <p:nvPr/>
        </p:nvSpPr>
        <p:spPr>
          <a:xfrm>
            <a:off x="11048695" y="3255264"/>
            <a:ext cx="320040" cy="384048"/>
          </a:xfrm>
          <a:prstGeom prst="rect">
            <a:avLst/>
          </a:prstGeom>
          <a:noFill/>
          <a:ln/>
        </p:spPr>
        <p:txBody>
          <a:bodyPr wrap="square" lIns="0" tIns="0" rIns="0" bIns="0" rtlCol="0" anchor="ctr"/>
          <a:lstStyle/>
          <a:p>
            <a:pPr algn="ctr" indent="0" marL="0">
              <a:buNone/>
            </a:pPr>
            <a:r>
              <a:rPr lang="en-US" sz="1600" b="1" dirty="0">
                <a:solidFill>
                  <a:schemeClr val="accent3"/>
                </a:solidFill>
              </a:rPr>
              <a:t>‎3</a:t>
            </a:r>
            <a:endParaRPr lang="en-US" sz="1600" dirty="0"/>
          </a:p>
        </p:txBody>
      </p:sp>
      <p:sp>
        <p:nvSpPr>
          <p:cNvPr id="14" name="ref-title-3"/>
          <p:cNvSpPr txBox="1"/>
          <p:nvPr/>
        </p:nvSpPr>
        <p:spPr>
          <a:xfrm>
            <a:off x="822960" y="3255264"/>
            <a:ext cx="10134295" cy="384048"/>
          </a:xfrm>
          <a:prstGeom prst="rect">
            <a:avLst/>
          </a:prstGeom>
          <a:noFill/>
          <a:ln/>
        </p:spPr>
        <p:txBody>
          <a:bodyPr wrap="square" lIns="0" tIns="0" rIns="0" bIns="0" rtlCol="0" anchor="ctr"/>
          <a:lstStyle/>
          <a:p>
            <a:pPr rtl="1" algn="r" indent="0" marL="0">
              <a:buNone/>
            </a:pPr>
            <a:r>
              <a:rPr lang="ar-SA" altLang="en-US" sz="1400" b="1" dirty="0">
                <a:solidFill>
                  <a:schemeClr val="tx1"/>
                </a:solidFill>
              </a:rPr>
              <a:t>الإحصاء الفلسطيني ووزارة السياحة والآثار (2024) — بيان يوم السياحة العالمي</a:t>
            </a:r>
            <a:r>
              <a:rPr lang="ar-SA" altLang="en-US" sz="1400" dirty="0">
                <a:solidFill>
                  <a:schemeClr val="accent3"/>
                </a:solidFill>
              </a:rPr>
              <a:t>  —  3,450 منشأة مطاعم وتقديم مشروبات دُمّرت في غزة</a:t>
            </a:r>
            <a:endParaRPr lang="ar-SA" sz="1400" dirty="0"/>
          </a:p>
        </p:txBody>
      </p:sp>
      <p:sp>
        <p:nvSpPr>
          <p:cNvPr id="15" name="ref-url-3"/>
          <p:cNvSpPr txBox="1"/>
          <p:nvPr/>
        </p:nvSpPr>
        <p:spPr>
          <a:xfrm>
            <a:off x="822960" y="3602736"/>
            <a:ext cx="10134295" cy="292608"/>
          </a:xfrm>
          <a:prstGeom prst="rect">
            <a:avLst/>
          </a:prstGeom>
          <a:noFill/>
          <a:ln/>
        </p:spPr>
        <p:txBody>
          <a:bodyPr wrap="square" lIns="0" tIns="0" rIns="0" bIns="0" rtlCol="0" anchor="ctr"/>
          <a:lstStyle/>
          <a:p>
            <a:pPr algn="r" indent="0" marL="0">
              <a:buNone/>
            </a:pPr>
            <a:r>
              <a:rPr lang="ar-SA" altLang="en-US" sz="1100" dirty="0">
                <a:solidFill>
                  <a:schemeClr val="accent4"/>
                </a:solidFill>
              </a:rPr>
              <a:t>pcbs.gov.ps — Press_Ar_WorldTourismDay2024A</a:t>
            </a:r>
            <a:endParaRPr lang="ar-SA" sz="1100" dirty="0"/>
          </a:p>
        </p:txBody>
      </p:sp>
      <p:sp>
        <p:nvSpPr>
          <p:cNvPr id="16" name="ref-rule-4"/>
          <p:cNvSpPr/>
          <p:nvPr/>
        </p:nvSpPr>
        <p:spPr>
          <a:xfrm>
            <a:off x="777240" y="3950208"/>
            <a:ext cx="10637215" cy="0"/>
          </a:xfrm>
          <a:prstGeom prst="line">
            <a:avLst/>
          </a:prstGeom>
          <a:noFill/>
          <a:ln w="9525">
            <a:solidFill>
              <a:schemeClr val="accent6"/>
            </a:solidFill>
            <a:prstDash val="solid"/>
          </a:ln>
        </p:spPr>
      </p:sp>
      <p:sp>
        <p:nvSpPr>
          <p:cNvPr id="17" name="ref-num-4"/>
          <p:cNvSpPr txBox="1"/>
          <p:nvPr/>
        </p:nvSpPr>
        <p:spPr>
          <a:xfrm>
            <a:off x="11048695" y="3968496"/>
            <a:ext cx="320040" cy="384048"/>
          </a:xfrm>
          <a:prstGeom prst="rect">
            <a:avLst/>
          </a:prstGeom>
          <a:noFill/>
          <a:ln/>
        </p:spPr>
        <p:txBody>
          <a:bodyPr wrap="square" lIns="0" tIns="0" rIns="0" bIns="0" rtlCol="0" anchor="ctr"/>
          <a:lstStyle/>
          <a:p>
            <a:pPr algn="ctr" indent="0" marL="0">
              <a:buNone/>
            </a:pPr>
            <a:r>
              <a:rPr lang="en-US" sz="1600" b="1" dirty="0">
                <a:solidFill>
                  <a:schemeClr val="accent3"/>
                </a:solidFill>
              </a:rPr>
              <a:t>‎4</a:t>
            </a:r>
            <a:endParaRPr lang="en-US" sz="1600" dirty="0"/>
          </a:p>
        </p:txBody>
      </p:sp>
      <p:sp>
        <p:nvSpPr>
          <p:cNvPr id="18" name="ref-title-4"/>
          <p:cNvSpPr txBox="1"/>
          <p:nvPr/>
        </p:nvSpPr>
        <p:spPr>
          <a:xfrm>
            <a:off x="822960" y="3968496"/>
            <a:ext cx="10134295" cy="384048"/>
          </a:xfrm>
          <a:prstGeom prst="rect">
            <a:avLst/>
          </a:prstGeom>
          <a:noFill/>
          <a:ln/>
        </p:spPr>
        <p:txBody>
          <a:bodyPr wrap="square" lIns="0" tIns="0" rIns="0" bIns="0" rtlCol="0" anchor="ctr"/>
          <a:lstStyle/>
          <a:p>
            <a:pPr rtl="1" algn="r" indent="0" marL="0">
              <a:buNone/>
            </a:pPr>
            <a:r>
              <a:rPr lang="ar-SA" altLang="en-US" sz="1400" b="1" dirty="0">
                <a:solidFill>
                  <a:schemeClr val="tx1"/>
                </a:solidFill>
              </a:rPr>
              <a:t>Technavio — Restaurant Management Software Market 2025–2030</a:t>
            </a:r>
            <a:r>
              <a:rPr lang="ar-SA" altLang="en-US" sz="1400" dirty="0">
                <a:solidFill>
                  <a:schemeClr val="accent3"/>
                </a:solidFill>
              </a:rPr>
              <a:t>  —  نمو 19.4% سنويًا</a:t>
            </a:r>
            <a:endParaRPr lang="ar-SA" sz="1400" dirty="0"/>
          </a:p>
        </p:txBody>
      </p:sp>
      <p:sp>
        <p:nvSpPr>
          <p:cNvPr id="19" name="ref-url-4"/>
          <p:cNvSpPr txBox="1"/>
          <p:nvPr/>
        </p:nvSpPr>
        <p:spPr>
          <a:xfrm>
            <a:off x="822960" y="4315968"/>
            <a:ext cx="10134295" cy="292608"/>
          </a:xfrm>
          <a:prstGeom prst="rect">
            <a:avLst/>
          </a:prstGeom>
          <a:noFill/>
          <a:ln/>
        </p:spPr>
        <p:txBody>
          <a:bodyPr wrap="square" lIns="0" tIns="0" rIns="0" bIns="0" rtlCol="0" anchor="ctr"/>
          <a:lstStyle/>
          <a:p>
            <a:pPr algn="r" indent="0" marL="0">
              <a:buNone/>
            </a:pPr>
            <a:r>
              <a:rPr lang="ar-SA" altLang="en-US" sz="1100" dirty="0">
                <a:solidFill>
                  <a:schemeClr val="accent4"/>
                </a:solidFill>
              </a:rPr>
              <a:t>technavio.com/report/restaurant-management-software-market-industry-analysis</a:t>
            </a:r>
            <a:endParaRPr lang="ar-SA" sz="1100" dirty="0"/>
          </a:p>
        </p:txBody>
      </p:sp>
      <p:sp>
        <p:nvSpPr>
          <p:cNvPr id="20" name="ref-rule-5"/>
          <p:cNvSpPr/>
          <p:nvPr/>
        </p:nvSpPr>
        <p:spPr>
          <a:xfrm>
            <a:off x="777240" y="4663440"/>
            <a:ext cx="10637215" cy="0"/>
          </a:xfrm>
          <a:prstGeom prst="line">
            <a:avLst/>
          </a:prstGeom>
          <a:noFill/>
          <a:ln w="9525">
            <a:solidFill>
              <a:schemeClr val="accent6"/>
            </a:solidFill>
            <a:prstDash val="solid"/>
          </a:ln>
        </p:spPr>
      </p:sp>
      <p:sp>
        <p:nvSpPr>
          <p:cNvPr id="21" name="ref-num-5"/>
          <p:cNvSpPr txBox="1"/>
          <p:nvPr/>
        </p:nvSpPr>
        <p:spPr>
          <a:xfrm>
            <a:off x="11048695" y="4681728"/>
            <a:ext cx="320040" cy="384048"/>
          </a:xfrm>
          <a:prstGeom prst="rect">
            <a:avLst/>
          </a:prstGeom>
          <a:noFill/>
          <a:ln/>
        </p:spPr>
        <p:txBody>
          <a:bodyPr wrap="square" lIns="0" tIns="0" rIns="0" bIns="0" rtlCol="0" anchor="ctr"/>
          <a:lstStyle/>
          <a:p>
            <a:pPr algn="ctr" indent="0" marL="0">
              <a:buNone/>
            </a:pPr>
            <a:r>
              <a:rPr lang="en-US" sz="1600" b="1" dirty="0">
                <a:solidFill>
                  <a:schemeClr val="accent3"/>
                </a:solidFill>
              </a:rPr>
              <a:t>‎5</a:t>
            </a:r>
            <a:endParaRPr lang="en-US" sz="1600" dirty="0"/>
          </a:p>
        </p:txBody>
      </p:sp>
      <p:sp>
        <p:nvSpPr>
          <p:cNvPr id="22" name="ref-title-5"/>
          <p:cNvSpPr txBox="1"/>
          <p:nvPr/>
        </p:nvSpPr>
        <p:spPr>
          <a:xfrm>
            <a:off x="822960" y="4681728"/>
            <a:ext cx="10134295" cy="384048"/>
          </a:xfrm>
          <a:prstGeom prst="rect">
            <a:avLst/>
          </a:prstGeom>
          <a:noFill/>
          <a:ln/>
        </p:spPr>
        <p:txBody>
          <a:bodyPr wrap="square" lIns="0" tIns="0" rIns="0" bIns="0" rtlCol="0" anchor="ctr"/>
          <a:lstStyle/>
          <a:p>
            <a:pPr rtl="1" algn="r" indent="0" marL="0">
              <a:buNone/>
            </a:pPr>
            <a:r>
              <a:rPr lang="ar-SA" altLang="en-US" sz="1400" b="1" dirty="0">
                <a:solidFill>
                  <a:schemeClr val="tx1"/>
                </a:solidFill>
              </a:rPr>
              <a:t>صفحات المنافسين: MENU TIGER · G2 · Menuviel</a:t>
            </a:r>
            <a:r>
              <a:rPr lang="ar-SA" altLang="en-US" sz="1400" dirty="0">
                <a:solidFill>
                  <a:schemeClr val="accent3"/>
                </a:solidFill>
              </a:rPr>
              <a:t>  —  الطلب عبر QR بتكاملات · ~199 درهمًا شهريًا · عمولة 15–30%</a:t>
            </a:r>
            <a:endParaRPr lang="ar-SA" sz="1400" dirty="0"/>
          </a:p>
        </p:txBody>
      </p:sp>
      <p:sp>
        <p:nvSpPr>
          <p:cNvPr id="23" name="ref-url-5"/>
          <p:cNvSpPr txBox="1"/>
          <p:nvPr/>
        </p:nvSpPr>
        <p:spPr>
          <a:xfrm>
            <a:off x="822960" y="5029200"/>
            <a:ext cx="10134295" cy="292608"/>
          </a:xfrm>
          <a:prstGeom prst="rect">
            <a:avLst/>
          </a:prstGeom>
          <a:noFill/>
          <a:ln/>
        </p:spPr>
        <p:txBody>
          <a:bodyPr wrap="square" lIns="0" tIns="0" rIns="0" bIns="0" rtlCol="0" anchor="ctr"/>
          <a:lstStyle/>
          <a:p>
            <a:pPr algn="r" indent="0" marL="0">
              <a:buNone/>
            </a:pPr>
            <a:r>
              <a:rPr lang="ar-SA" altLang="en-US" sz="1100" dirty="0">
                <a:solidFill>
                  <a:schemeClr val="accent4"/>
                </a:solidFill>
              </a:rPr>
              <a:t>menutiger.com/blog/loyverse-integration · g2.com/products/foodics/pricing · blog.menuviel.com</a:t>
            </a:r>
            <a:endParaRPr lang="ar-SA" sz="1100" dirty="0"/>
          </a:p>
        </p:txBody>
      </p:sp>
      <p:sp>
        <p:nvSpPr>
          <p:cNvPr id="24" name="ref-rule-6"/>
          <p:cNvSpPr/>
          <p:nvPr/>
        </p:nvSpPr>
        <p:spPr>
          <a:xfrm>
            <a:off x="777240" y="5376672"/>
            <a:ext cx="10637215" cy="0"/>
          </a:xfrm>
          <a:prstGeom prst="line">
            <a:avLst/>
          </a:prstGeom>
          <a:noFill/>
          <a:ln w="9525">
            <a:solidFill>
              <a:schemeClr val="accent6"/>
            </a:solidFill>
            <a:prstDash val="solid"/>
          </a:ln>
        </p:spPr>
      </p:sp>
      <p:sp>
        <p:nvSpPr>
          <p:cNvPr id="25" name="ref-num-6"/>
          <p:cNvSpPr txBox="1"/>
          <p:nvPr/>
        </p:nvSpPr>
        <p:spPr>
          <a:xfrm>
            <a:off x="11048695" y="5394960"/>
            <a:ext cx="320040" cy="384048"/>
          </a:xfrm>
          <a:prstGeom prst="rect">
            <a:avLst/>
          </a:prstGeom>
          <a:noFill/>
          <a:ln/>
        </p:spPr>
        <p:txBody>
          <a:bodyPr wrap="square" lIns="0" tIns="0" rIns="0" bIns="0" rtlCol="0" anchor="ctr"/>
          <a:lstStyle/>
          <a:p>
            <a:pPr algn="ctr" indent="0" marL="0">
              <a:buNone/>
            </a:pPr>
            <a:r>
              <a:rPr lang="en-US" sz="1600" b="1" dirty="0">
                <a:solidFill>
                  <a:schemeClr val="accent3"/>
                </a:solidFill>
              </a:rPr>
              <a:t>‎6</a:t>
            </a:r>
            <a:endParaRPr lang="en-US" sz="1600" dirty="0"/>
          </a:p>
        </p:txBody>
      </p:sp>
      <p:sp>
        <p:nvSpPr>
          <p:cNvPr id="26" name="ref-title-6"/>
          <p:cNvSpPr txBox="1"/>
          <p:nvPr/>
        </p:nvSpPr>
        <p:spPr>
          <a:xfrm>
            <a:off x="822960" y="5394960"/>
            <a:ext cx="10134295" cy="384048"/>
          </a:xfrm>
          <a:prstGeom prst="rect">
            <a:avLst/>
          </a:prstGeom>
          <a:noFill/>
          <a:ln/>
        </p:spPr>
        <p:txBody>
          <a:bodyPr wrap="square" lIns="0" tIns="0" rIns="0" bIns="0" rtlCol="0" anchor="ctr"/>
          <a:lstStyle/>
          <a:p>
            <a:pPr rtl="1" algn="r" indent="0" marL="0">
              <a:buNone/>
            </a:pPr>
            <a:r>
              <a:rPr lang="ar-SA" altLang="en-US" sz="1400" b="1" dirty="0">
                <a:solidFill>
                  <a:schemeClr val="tx1"/>
                </a:solidFill>
              </a:rPr>
              <a:t>مستودع menuPilot</a:t>
            </a:r>
            <a:r>
              <a:rPr lang="ar-SA" altLang="en-US" sz="1400" dirty="0">
                <a:solidFill>
                  <a:schemeClr val="accent3"/>
                </a:solidFill>
              </a:rPr>
              <a:t>  —  أكثر من 170 اختبارًا · أكثر من 110 نقطة API · الأسعار</a:t>
            </a:r>
            <a:endParaRPr lang="ar-SA" sz="1400" dirty="0"/>
          </a:p>
        </p:txBody>
      </p:sp>
      <p:sp>
        <p:nvSpPr>
          <p:cNvPr id="27" name="ref-url-6"/>
          <p:cNvSpPr txBox="1"/>
          <p:nvPr/>
        </p:nvSpPr>
        <p:spPr>
          <a:xfrm>
            <a:off x="822960" y="5742432"/>
            <a:ext cx="10134295" cy="292608"/>
          </a:xfrm>
          <a:prstGeom prst="rect">
            <a:avLst/>
          </a:prstGeom>
          <a:noFill/>
          <a:ln/>
        </p:spPr>
        <p:txBody>
          <a:bodyPr wrap="square" lIns="0" tIns="0" rIns="0" bIns="0" rtlCol="0" anchor="ctr"/>
          <a:lstStyle/>
          <a:p>
            <a:pPr algn="r" indent="0" marL="0">
              <a:buNone/>
            </a:pPr>
            <a:r>
              <a:rPr lang="ar-SA" altLang="en-US" sz="1100" dirty="0">
                <a:solidFill>
                  <a:schemeClr val="accent4"/>
                </a:solidFill>
              </a:rPr>
              <a:t>backend/tests · backend/routes/api.php · config/subscriptions</a:t>
            </a:r>
            <a:endParaRPr lang="ar-SA" sz="1100" dirty="0"/>
          </a:p>
        </p:txBody>
      </p:sp>
      <p:sp>
        <p:nvSpPr>
          <p:cNvPr id="25" name="Slide Number Placeholder 0"/>
          <p:cNvSpPr>
            <a:spLocks noGrp="1"/>
          </p:cNvSpPr>
          <p:nvPr>
            <p:ph type="sldNum" sz="quarter" idx="4294967295"/>
          </p:nvPr>
        </p:nvSpPr>
        <p:spPr>
          <a:xfrm>
            <a:off x="11183112" y="6391656"/>
            <a:ext cx="457200" cy="237744"/>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4"/>
                </a:solidFill>
              </a:defRPr>
            </a:lvl1pPr>
          </a:lstStyle>
          <a:p>
            <a:pPr algn="r"/>
            <a:fld id="{F7021451-1387-4CA6-816F-3879F97B5CBC}" type="slidenum">
              <a:rPr b="0" lang="en-US"/>
              <a:t>17</a:t>
            </a:fld>
            <a:endParaRPr lang="en-US"/>
          </a:p>
        </p:txBody>
      </p:sp>
    </p:spTree>
  </p:cSld>
  <p:clrMapOvr>
    <a:masterClrMapping/>
  </p:clrMapOvr>
</p:sld>
</file>

<file path=ppt/theme/theme1.xml><?xml version="1.0" encoding="utf-8"?>
<a:theme xmlns:a="http://schemas.openxmlformats.org/drawingml/2006/main" name="menuPilot">
  <a:themeElements>
    <a:clrScheme name="menuPilot">
      <a:dk1>
        <a:srgbClr val="172331"/>
      </a:dk1>
      <a:lt1>
        <a:srgbClr val="FFFDF9"/>
      </a:lt1>
      <a:dk2>
        <a:srgbClr val="1F2D3D"/>
      </a:dk2>
      <a:lt2>
        <a:srgbClr val="F4EFE6"/>
      </a:lt2>
      <a:accent1>
        <a:srgbClr val="E67E22"/>
      </a:accent1>
      <a:accent2>
        <a:srgbClr val="1C714B"/>
      </a:accent2>
      <a:accent3>
        <a:srgbClr val="A15818"/>
      </a:accent3>
      <a:accent4>
        <a:srgbClr val="5A6574"/>
      </a:accent4>
      <a:accent5>
        <a:srgbClr val="B94736"/>
      </a:accent5>
      <a:accent6>
        <a:srgbClr val="E3DCCF"/>
      </a:accent6>
      <a:hlink>
        <a:srgbClr val="33648C"/>
      </a:hlink>
      <a:folHlink>
        <a:srgbClr val="5A6574"/>
      </a:folHlink>
    </a:clrScheme>
    <a:fontScheme name="menuPilot">
      <a:majorFont>
        <a:latin typeface="Tajawal ExtraBold"/>
        <a:ea typeface=""/>
        <a:cs typeface="Tajawal ExtraBold"/>
        <a:font script="Jpan" typeface="游ゴシック Light"/>
        <a:font script="Hang" typeface="맑은 고딕"/>
        <a:font script="Hans" typeface="等线 Light"/>
        <a:font script="Hant" typeface="新細明體"/>
        <a:font script="Arab" typeface="Tajawal ExtraBold"/>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Tajawal"/>
        <a:ea typeface=""/>
        <a:cs typeface="Tajawal"/>
        <a:font script="Jpan" typeface="游ゴシック"/>
        <a:font script="Hang" typeface="맑은 고딕"/>
        <a:font script="Hans" typeface="等线"/>
        <a:font script="Hant" typeface="新細明體"/>
        <a:font script="Arab" typeface="Tajaw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17</Slides>
  <Notes>17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17</vt:i4>
      </vt:variant>
    </vt:vector>
  </HeadingPairs>
  <TitlesOfParts>
    <vt:vector size="20"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vector>
  </TitlesOfParts>
  <Company>menuPilot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menuPilot — عرض المشروع</dc:title>
  <dc:subject>عرض لجنة التحكيم</dc:subject>
  <dc:creator>فريق menuPilot</dc:creator>
  <cp:lastModifiedBy>فريق menuPilot</cp:lastModifiedBy>
  <cp:revision>1</cp:revision>
  <dcterms:created xsi:type="dcterms:W3CDTF">2026-10-06T11:43:42Z</dcterms:created>
  <dcterms:modified xsi:type="dcterms:W3CDTF">2026-10-06T11:43:42Z</dcterms:modified>
</cp:coreProperties>
</file>